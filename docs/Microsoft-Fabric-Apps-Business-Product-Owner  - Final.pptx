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57"/>
  </p:notesMasterIdLst>
  <p:sldIdLst>
    <p:sldId id="256" r:id="rId3"/>
    <p:sldId id="297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09" r:id="rId16"/>
    <p:sldId id="29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  <p:sldId id="294" r:id="rId55"/>
    <p:sldId id="295" r:id="rId5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7179" autoAdjust="0"/>
  </p:normalViewPr>
  <p:slideViewPr>
    <p:cSldViewPr snapToGrid="0" snapToObjects="1">
      <p:cViewPr varScale="1">
        <p:scale>
          <a:sx n="127" d="100"/>
          <a:sy n="127" d="100"/>
        </p:scale>
        <p:origin x="72" y="845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eric Gisbert" userId="dd7ea554-420a-4528-a72a-557109fe22ab" providerId="ADAL" clId="{EC191A4C-5CFA-4597-8D10-795B9F7392CA}"/>
    <pc:docChg chg="undo custSel modSld">
      <pc:chgData name="Frederic Gisbert" userId="dd7ea554-420a-4528-a72a-557109fe22ab" providerId="ADAL" clId="{EC191A4C-5CFA-4597-8D10-795B9F7392CA}" dt="2026-07-14T10:06:20.363" v="22" actId="478"/>
      <pc:docMkLst>
        <pc:docMk/>
      </pc:docMkLst>
      <pc:sldChg chg="delSp modSp mod">
        <pc:chgData name="Frederic Gisbert" userId="dd7ea554-420a-4528-a72a-557109fe22ab" providerId="ADAL" clId="{EC191A4C-5CFA-4597-8D10-795B9F7392CA}" dt="2026-07-14T10:05:14.499" v="2" actId="478"/>
        <pc:sldMkLst>
          <pc:docMk/>
          <pc:sldMk cId="0" sldId="256"/>
        </pc:sldMkLst>
        <pc:spChg chg="del">
          <ac:chgData name="Frederic Gisbert" userId="dd7ea554-420a-4528-a72a-557109fe22ab" providerId="ADAL" clId="{EC191A4C-5CFA-4597-8D10-795B9F7392CA}" dt="2026-07-14T10:05:11.258" v="0" actId="478"/>
          <ac:spMkLst>
            <pc:docMk/>
            <pc:sldMk cId="0" sldId="256"/>
            <ac:spMk id="8" creationId="{00000000-0000-0000-0000-000000000000}"/>
          </ac:spMkLst>
        </pc:spChg>
        <pc:spChg chg="del mod">
          <ac:chgData name="Frederic Gisbert" userId="dd7ea554-420a-4528-a72a-557109fe22ab" providerId="ADAL" clId="{EC191A4C-5CFA-4597-8D10-795B9F7392CA}" dt="2026-07-14T10:05:14.499" v="2" actId="478"/>
          <ac:spMkLst>
            <pc:docMk/>
            <pc:sldMk cId="0" sldId="256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19.338" v="3" actId="478"/>
        <pc:sldMkLst>
          <pc:docMk/>
          <pc:sldMk cId="0" sldId="257"/>
        </pc:sldMkLst>
        <pc:spChg chg="del">
          <ac:chgData name="Frederic Gisbert" userId="dd7ea554-420a-4528-a72a-557109fe22ab" providerId="ADAL" clId="{EC191A4C-5CFA-4597-8D10-795B9F7392CA}" dt="2026-07-14T10:05:19.338" v="3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19.338" v="3" actId="478"/>
          <ac:spMkLst>
            <pc:docMk/>
            <pc:sldMk cId="0" sldId="257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21.991" v="4" actId="478"/>
        <pc:sldMkLst>
          <pc:docMk/>
          <pc:sldMk cId="0" sldId="258"/>
        </pc:sldMkLst>
        <pc:spChg chg="del">
          <ac:chgData name="Frederic Gisbert" userId="dd7ea554-420a-4528-a72a-557109fe22ab" providerId="ADAL" clId="{EC191A4C-5CFA-4597-8D10-795B9F7392CA}" dt="2026-07-14T10:05:21.991" v="4" actId="478"/>
          <ac:spMkLst>
            <pc:docMk/>
            <pc:sldMk cId="0" sldId="258"/>
            <ac:spMk id="8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21.991" v="4" actId="478"/>
          <ac:spMkLst>
            <pc:docMk/>
            <pc:sldMk cId="0" sldId="258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24.754" v="5" actId="478"/>
        <pc:sldMkLst>
          <pc:docMk/>
          <pc:sldMk cId="0" sldId="259"/>
        </pc:sldMkLst>
        <pc:spChg chg="del">
          <ac:chgData name="Frederic Gisbert" userId="dd7ea554-420a-4528-a72a-557109fe22ab" providerId="ADAL" clId="{EC191A4C-5CFA-4597-8D10-795B9F7392CA}" dt="2026-07-14T10:05:24.754" v="5" actId="478"/>
          <ac:spMkLst>
            <pc:docMk/>
            <pc:sldMk cId="0" sldId="259"/>
            <ac:spMk id="8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24.754" v="5" actId="478"/>
          <ac:spMkLst>
            <pc:docMk/>
            <pc:sldMk cId="0" sldId="259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30.206" v="6" actId="478"/>
        <pc:sldMkLst>
          <pc:docMk/>
          <pc:sldMk cId="0" sldId="263"/>
        </pc:sldMkLst>
        <pc:spChg chg="del">
          <ac:chgData name="Frederic Gisbert" userId="dd7ea554-420a-4528-a72a-557109fe22ab" providerId="ADAL" clId="{EC191A4C-5CFA-4597-8D10-795B9F7392CA}" dt="2026-07-14T10:05:30.206" v="6" actId="478"/>
          <ac:spMkLst>
            <pc:docMk/>
            <pc:sldMk cId="0" sldId="263"/>
            <ac:spMk id="8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30.206" v="6" actId="478"/>
          <ac:spMkLst>
            <pc:docMk/>
            <pc:sldMk cId="0" sldId="263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33.690" v="7" actId="478"/>
        <pc:sldMkLst>
          <pc:docMk/>
          <pc:sldMk cId="0" sldId="264"/>
        </pc:sldMkLst>
        <pc:spChg chg="del">
          <ac:chgData name="Frederic Gisbert" userId="dd7ea554-420a-4528-a72a-557109fe22ab" providerId="ADAL" clId="{EC191A4C-5CFA-4597-8D10-795B9F7392CA}" dt="2026-07-14T10:05:33.690" v="7" actId="478"/>
          <ac:spMkLst>
            <pc:docMk/>
            <pc:sldMk cId="0" sldId="264"/>
            <ac:spMk id="8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33.690" v="7" actId="478"/>
          <ac:spMkLst>
            <pc:docMk/>
            <pc:sldMk cId="0" sldId="264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37.963" v="8" actId="478"/>
        <pc:sldMkLst>
          <pc:docMk/>
          <pc:sldMk cId="0" sldId="268"/>
        </pc:sldMkLst>
        <pc:spChg chg="del">
          <ac:chgData name="Frederic Gisbert" userId="dd7ea554-420a-4528-a72a-557109fe22ab" providerId="ADAL" clId="{EC191A4C-5CFA-4597-8D10-795B9F7392CA}" dt="2026-07-14T10:05:37.963" v="8" actId="478"/>
          <ac:spMkLst>
            <pc:docMk/>
            <pc:sldMk cId="0" sldId="268"/>
            <ac:spMk id="2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37.963" v="8" actId="478"/>
          <ac:spMkLst>
            <pc:docMk/>
            <pc:sldMk cId="0" sldId="268"/>
            <ac:spMk id="3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41.819" v="9" actId="478"/>
        <pc:sldMkLst>
          <pc:docMk/>
          <pc:sldMk cId="0" sldId="271"/>
        </pc:sldMkLst>
        <pc:spChg chg="del">
          <ac:chgData name="Frederic Gisbert" userId="dd7ea554-420a-4528-a72a-557109fe22ab" providerId="ADAL" clId="{EC191A4C-5CFA-4597-8D10-795B9F7392CA}" dt="2026-07-14T10:05:41.819" v="9" actId="478"/>
          <ac:spMkLst>
            <pc:docMk/>
            <pc:sldMk cId="0" sldId="271"/>
            <ac:spMk id="8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41.819" v="9" actId="478"/>
          <ac:spMkLst>
            <pc:docMk/>
            <pc:sldMk cId="0" sldId="271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49.530" v="10" actId="478"/>
        <pc:sldMkLst>
          <pc:docMk/>
          <pc:sldMk cId="0" sldId="282"/>
        </pc:sldMkLst>
        <pc:spChg chg="del">
          <ac:chgData name="Frederic Gisbert" userId="dd7ea554-420a-4528-a72a-557109fe22ab" providerId="ADAL" clId="{EC191A4C-5CFA-4597-8D10-795B9F7392CA}" dt="2026-07-14T10:05:49.530" v="10" actId="478"/>
          <ac:spMkLst>
            <pc:docMk/>
            <pc:sldMk cId="0" sldId="282"/>
            <ac:spMk id="8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49.530" v="10" actId="478"/>
          <ac:spMkLst>
            <pc:docMk/>
            <pc:sldMk cId="0" sldId="282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52.310" v="11" actId="478"/>
        <pc:sldMkLst>
          <pc:docMk/>
          <pc:sldMk cId="0" sldId="283"/>
        </pc:sldMkLst>
        <pc:spChg chg="del">
          <ac:chgData name="Frederic Gisbert" userId="dd7ea554-420a-4528-a72a-557109fe22ab" providerId="ADAL" clId="{EC191A4C-5CFA-4597-8D10-795B9F7392CA}" dt="2026-07-14T10:05:52.310" v="11" actId="478"/>
          <ac:spMkLst>
            <pc:docMk/>
            <pc:sldMk cId="0" sldId="283"/>
            <ac:spMk id="2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52.310" v="11" actId="478"/>
          <ac:spMkLst>
            <pc:docMk/>
            <pc:sldMk cId="0" sldId="283"/>
            <ac:spMk id="3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54.331" v="12" actId="478"/>
        <pc:sldMkLst>
          <pc:docMk/>
          <pc:sldMk cId="0" sldId="284"/>
        </pc:sldMkLst>
        <pc:spChg chg="del">
          <ac:chgData name="Frederic Gisbert" userId="dd7ea554-420a-4528-a72a-557109fe22ab" providerId="ADAL" clId="{EC191A4C-5CFA-4597-8D10-795B9F7392CA}" dt="2026-07-14T10:05:54.331" v="12" actId="478"/>
          <ac:spMkLst>
            <pc:docMk/>
            <pc:sldMk cId="0" sldId="284"/>
            <ac:spMk id="2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54.331" v="12" actId="478"/>
          <ac:spMkLst>
            <pc:docMk/>
            <pc:sldMk cId="0" sldId="284"/>
            <ac:spMk id="3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56.458" v="13" actId="478"/>
        <pc:sldMkLst>
          <pc:docMk/>
          <pc:sldMk cId="0" sldId="285"/>
        </pc:sldMkLst>
        <pc:spChg chg="del">
          <ac:chgData name="Frederic Gisbert" userId="dd7ea554-420a-4528-a72a-557109fe22ab" providerId="ADAL" clId="{EC191A4C-5CFA-4597-8D10-795B9F7392CA}" dt="2026-07-14T10:05:56.458" v="13" actId="478"/>
          <ac:spMkLst>
            <pc:docMk/>
            <pc:sldMk cId="0" sldId="285"/>
            <ac:spMk id="2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56.458" v="13" actId="478"/>
          <ac:spMkLst>
            <pc:docMk/>
            <pc:sldMk cId="0" sldId="285"/>
            <ac:spMk id="3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5:58.476" v="14" actId="478"/>
        <pc:sldMkLst>
          <pc:docMk/>
          <pc:sldMk cId="0" sldId="286"/>
        </pc:sldMkLst>
        <pc:spChg chg="del">
          <ac:chgData name="Frederic Gisbert" userId="dd7ea554-420a-4528-a72a-557109fe22ab" providerId="ADAL" clId="{EC191A4C-5CFA-4597-8D10-795B9F7392CA}" dt="2026-07-14T10:05:58.476" v="14" actId="478"/>
          <ac:spMkLst>
            <pc:docMk/>
            <pc:sldMk cId="0" sldId="286"/>
            <ac:spMk id="2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5:58.476" v="14" actId="478"/>
          <ac:spMkLst>
            <pc:docMk/>
            <pc:sldMk cId="0" sldId="286"/>
            <ac:spMk id="3" creationId="{00000000-0000-0000-0000-000000000000}"/>
          </ac:spMkLst>
        </pc:spChg>
      </pc:sldChg>
      <pc:sldChg chg="addSp delSp mod">
        <pc:chgData name="Frederic Gisbert" userId="dd7ea554-420a-4528-a72a-557109fe22ab" providerId="ADAL" clId="{EC191A4C-5CFA-4597-8D10-795B9F7392CA}" dt="2026-07-14T10:06:05.602" v="17" actId="478"/>
        <pc:sldMkLst>
          <pc:docMk/>
          <pc:sldMk cId="0" sldId="287"/>
        </pc:sldMkLst>
        <pc:spChg chg="add del">
          <ac:chgData name="Frederic Gisbert" userId="dd7ea554-420a-4528-a72a-557109fe22ab" providerId="ADAL" clId="{EC191A4C-5CFA-4597-8D10-795B9F7392CA}" dt="2026-07-14T10:06:02.605" v="16" actId="478"/>
          <ac:spMkLst>
            <pc:docMk/>
            <pc:sldMk cId="0" sldId="287"/>
            <ac:spMk id="4" creationId="{00000000-0000-0000-0000-000000000000}"/>
          </ac:spMkLst>
        </pc:spChg>
        <pc:spChg chg="add del">
          <ac:chgData name="Frederic Gisbert" userId="dd7ea554-420a-4528-a72a-557109fe22ab" providerId="ADAL" clId="{EC191A4C-5CFA-4597-8D10-795B9F7392CA}" dt="2026-07-14T10:06:02.605" v="16" actId="478"/>
          <ac:spMkLst>
            <pc:docMk/>
            <pc:sldMk cId="0" sldId="287"/>
            <ac:spMk id="6" creationId="{00000000-0000-0000-0000-000000000000}"/>
          </ac:spMkLst>
        </pc:spChg>
        <pc:spChg chg="add del">
          <ac:chgData name="Frederic Gisbert" userId="dd7ea554-420a-4528-a72a-557109fe22ab" providerId="ADAL" clId="{EC191A4C-5CFA-4597-8D10-795B9F7392CA}" dt="2026-07-14T10:06:05.602" v="17" actId="478"/>
          <ac:spMkLst>
            <pc:docMk/>
            <pc:sldMk cId="0" sldId="287"/>
            <ac:spMk id="8" creationId="{00000000-0000-0000-0000-000000000000}"/>
          </ac:spMkLst>
        </pc:spChg>
        <pc:spChg chg="add del">
          <ac:chgData name="Frederic Gisbert" userId="dd7ea554-420a-4528-a72a-557109fe22ab" providerId="ADAL" clId="{EC191A4C-5CFA-4597-8D10-795B9F7392CA}" dt="2026-07-14T10:06:05.602" v="17" actId="478"/>
          <ac:spMkLst>
            <pc:docMk/>
            <pc:sldMk cId="0" sldId="287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6:08.521" v="18" actId="478"/>
        <pc:sldMkLst>
          <pc:docMk/>
          <pc:sldMk cId="0" sldId="288"/>
        </pc:sldMkLst>
        <pc:spChg chg="del">
          <ac:chgData name="Frederic Gisbert" userId="dd7ea554-420a-4528-a72a-557109fe22ab" providerId="ADAL" clId="{EC191A4C-5CFA-4597-8D10-795B9F7392CA}" dt="2026-07-14T10:06:08.521" v="18" actId="478"/>
          <ac:spMkLst>
            <pc:docMk/>
            <pc:sldMk cId="0" sldId="288"/>
            <ac:spMk id="8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6:08.521" v="18" actId="478"/>
          <ac:spMkLst>
            <pc:docMk/>
            <pc:sldMk cId="0" sldId="288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6:12.741" v="19" actId="478"/>
        <pc:sldMkLst>
          <pc:docMk/>
          <pc:sldMk cId="0" sldId="292"/>
        </pc:sldMkLst>
        <pc:spChg chg="del">
          <ac:chgData name="Frederic Gisbert" userId="dd7ea554-420a-4528-a72a-557109fe22ab" providerId="ADAL" clId="{EC191A4C-5CFA-4597-8D10-795B9F7392CA}" dt="2026-07-14T10:06:12.741" v="19" actId="478"/>
          <ac:spMkLst>
            <pc:docMk/>
            <pc:sldMk cId="0" sldId="292"/>
            <ac:spMk id="2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6:12.741" v="19" actId="478"/>
          <ac:spMkLst>
            <pc:docMk/>
            <pc:sldMk cId="0" sldId="292"/>
            <ac:spMk id="3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6:14.732" v="20" actId="478"/>
        <pc:sldMkLst>
          <pc:docMk/>
          <pc:sldMk cId="0" sldId="293"/>
        </pc:sldMkLst>
        <pc:spChg chg="del">
          <ac:chgData name="Frederic Gisbert" userId="dd7ea554-420a-4528-a72a-557109fe22ab" providerId="ADAL" clId="{EC191A4C-5CFA-4597-8D10-795B9F7392CA}" dt="2026-07-14T10:06:14.732" v="20" actId="478"/>
          <ac:spMkLst>
            <pc:docMk/>
            <pc:sldMk cId="0" sldId="293"/>
            <ac:spMk id="2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6:14.732" v="20" actId="478"/>
          <ac:spMkLst>
            <pc:docMk/>
            <pc:sldMk cId="0" sldId="293"/>
            <ac:spMk id="3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6:17.614" v="21" actId="478"/>
        <pc:sldMkLst>
          <pc:docMk/>
          <pc:sldMk cId="0" sldId="294"/>
        </pc:sldMkLst>
        <pc:spChg chg="del">
          <ac:chgData name="Frederic Gisbert" userId="dd7ea554-420a-4528-a72a-557109fe22ab" providerId="ADAL" clId="{EC191A4C-5CFA-4597-8D10-795B9F7392CA}" dt="2026-07-14T10:06:17.614" v="21" actId="478"/>
          <ac:spMkLst>
            <pc:docMk/>
            <pc:sldMk cId="0" sldId="294"/>
            <ac:spMk id="8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6:17.614" v="21" actId="478"/>
          <ac:spMkLst>
            <pc:docMk/>
            <pc:sldMk cId="0" sldId="294"/>
            <ac:spMk id="9" creationId="{00000000-0000-0000-0000-000000000000}"/>
          </ac:spMkLst>
        </pc:spChg>
      </pc:sldChg>
      <pc:sldChg chg="delSp mod">
        <pc:chgData name="Frederic Gisbert" userId="dd7ea554-420a-4528-a72a-557109fe22ab" providerId="ADAL" clId="{EC191A4C-5CFA-4597-8D10-795B9F7392CA}" dt="2026-07-14T10:06:20.363" v="22" actId="478"/>
        <pc:sldMkLst>
          <pc:docMk/>
          <pc:sldMk cId="0" sldId="295"/>
        </pc:sldMkLst>
        <pc:spChg chg="del">
          <ac:chgData name="Frederic Gisbert" userId="dd7ea554-420a-4528-a72a-557109fe22ab" providerId="ADAL" clId="{EC191A4C-5CFA-4597-8D10-795B9F7392CA}" dt="2026-07-14T10:06:20.363" v="22" actId="478"/>
          <ac:spMkLst>
            <pc:docMk/>
            <pc:sldMk cId="0" sldId="295"/>
            <ac:spMk id="8" creationId="{00000000-0000-0000-0000-000000000000}"/>
          </ac:spMkLst>
        </pc:spChg>
        <pc:spChg chg="del">
          <ac:chgData name="Frederic Gisbert" userId="dd7ea554-420a-4528-a72a-557109fe22ab" providerId="ADAL" clId="{EC191A4C-5CFA-4597-8D10-795B9F7392CA}" dt="2026-07-14T10:06:20.363" v="22" actId="478"/>
          <ac:spMkLst>
            <pc:docMk/>
            <pc:sldMk cId="0" sldId="295"/>
            <ac:spMk id="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edgis/FY27FabricMotion/tree/main" TargetMode="External"/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Create a small, modern, and visually appealing application  on </a:t>
            </a:r>
            <a:r>
              <a:rPr lang="en-GB" dirty="0" err="1"/>
              <a:t>Rayfin</a:t>
            </a:r>
            <a:r>
              <a:rPr lang="en-GB" dirty="0"/>
              <a:t> to welcome the </a:t>
            </a:r>
            <a:r>
              <a:rPr lang="en-GB" b="1" dirty="0"/>
              <a:t>Creative Tech Team</a:t>
            </a:r>
            <a:r>
              <a:rPr lang="en-GB" dirty="0"/>
              <a:t> to the </a:t>
            </a:r>
            <a:r>
              <a:rPr lang="en-GB" b="1" dirty="0"/>
              <a:t>Microsoft </a:t>
            </a:r>
            <a:r>
              <a:rPr lang="en-GB" b="1" dirty="0" err="1"/>
              <a:t>MicroHack</a:t>
            </a:r>
            <a:r>
              <a:rPr lang="en-GB" b="1" dirty="0"/>
              <a:t> #1</a:t>
            </a:r>
            <a:r>
              <a:rPr lang="en-GB" dirty="0"/>
              <a:t>. The app should have a Microsoft/Fabric-inspired design with smooth animations, a hero section saying </a:t>
            </a:r>
            <a:r>
              <a:rPr lang="en-GB" b="1" dirty="0"/>
              <a:t>"Welcome Creative Tech!"</a:t>
            </a:r>
            <a:r>
              <a:rPr lang="en-GB" dirty="0"/>
              <a:t>, a short introduction to the event, and a prominent </a:t>
            </a:r>
            <a:r>
              <a:rPr lang="en-GB" b="1" dirty="0"/>
              <a:t>"Start </a:t>
            </a:r>
            <a:r>
              <a:rPr lang="en-GB" b="1" dirty="0" err="1"/>
              <a:t>MicroHack</a:t>
            </a:r>
            <a:r>
              <a:rPr lang="en-GB" b="1" dirty="0"/>
              <a:t> #1"</a:t>
            </a:r>
            <a:r>
              <a:rPr lang="en-GB" dirty="0"/>
              <a:t> button. Add a simple timeline (Welcome → Setup → Hands-on → Demo), a nice background with Microsoft Fabric </a:t>
            </a:r>
            <a:r>
              <a:rPr lang="en-GB" dirty="0" err="1"/>
              <a:t>colors</a:t>
            </a:r>
            <a:r>
              <a:rPr lang="en-GB" dirty="0"/>
              <a:t>, and a responsive layout. Use HTML, CSS, and JavaScript only (no backend). The content should be inspired by the </a:t>
            </a:r>
            <a:r>
              <a:rPr lang="en-GB" dirty="0" err="1"/>
              <a:t>MicroHack</a:t>
            </a:r>
            <a:r>
              <a:rPr lang="en-GB" dirty="0"/>
              <a:t> #1 available at </a:t>
            </a:r>
            <a:r>
              <a:rPr lang="en-GB" dirty="0">
                <a:hlinkClick r:id="rId3"/>
              </a:rPr>
              <a:t>https://github.com/fredgis/FY27FabricMotion/tree/main</a:t>
            </a:r>
            <a:r>
              <a:rPr lang="en-GB" dirty="0"/>
              <a:t>. The goal is to create a polished welcome page that can be built in less than 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2046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011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hyperlink" Target="https://aka.ms/Build-BRK225" TargetMode="External"/><Relationship Id="rId3" Type="http://schemas.openxmlformats.org/officeDocument/2006/relationships/image" Target="../media/image93.png"/><Relationship Id="rId7" Type="http://schemas.openxmlformats.org/officeDocument/2006/relationships/hyperlink" Target="https://aka.ms/rayfin/docs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icrosoft/rayfin" TargetMode="External"/><Relationship Id="rId5" Type="http://schemas.openxmlformats.org/officeDocument/2006/relationships/hyperlink" Target="https://azure.microsoft.com/en-us/blog/microsoft-build-2026-building-agentic-apps-with-microsoft-fabric-and-microsoft-databases/" TargetMode="External"/><Relationship Id="rId4" Type="http://schemas.openxmlformats.org/officeDocument/2006/relationships/hyperlink" Target="https://learn.microsoft.com/en-us/fabric/apps/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3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8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21792" y="594360"/>
            <a:ext cx="1901952" cy="310896"/>
          </a:xfrm>
          <a:prstGeom prst="roundRect">
            <a:avLst>
              <a:gd name="adj" fmla="val 23529"/>
            </a:avLst>
          </a:prstGeom>
          <a:solidFill>
            <a:srgbClr val="17243D"/>
          </a:solidFill>
          <a:ln w="8890">
            <a:solidFill>
              <a:srgbClr val="29466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21792" y="685800"/>
            <a:ext cx="1901952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kern="0" spc="90" dirty="0">
                <a:solidFill>
                  <a:srgbClr val="7DE0DA"/>
                </a:solidFill>
              </a:rPr>
              <a:t>BUSINESS PRODUCT OWNER BRIEFING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621792" y="1261872"/>
            <a:ext cx="6583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Microsoft Fabric Apps,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built with Rayfin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58368" y="2907792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C5CCDC"/>
                </a:solidFill>
              </a:rPr>
              <a:t>From prompt to governed business application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3685032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80" dirty="0">
                <a:solidFill>
                  <a:srgbClr val="929CB7"/>
                </a:solidFill>
              </a:rPr>
              <a:t>A product and business deep dive: why it matters, how Rayfin works, where it fits, and how to pilot it responsibly.</a:t>
            </a:r>
            <a:endParaRPr lang="en-US" sz="1380" dirty="0"/>
          </a:p>
        </p:txBody>
      </p:sp>
      <p:sp>
        <p:nvSpPr>
          <p:cNvPr id="15" name="Shape 13"/>
          <p:cNvSpPr/>
          <p:nvPr/>
        </p:nvSpPr>
        <p:spPr>
          <a:xfrm>
            <a:off x="7498080" y="1298448"/>
            <a:ext cx="3886200" cy="4315968"/>
          </a:xfrm>
          <a:prstGeom prst="roundRect">
            <a:avLst>
              <a:gd name="adj" fmla="val 3294"/>
            </a:avLst>
          </a:prstGeom>
          <a:solidFill>
            <a:srgbClr val="11182D"/>
          </a:solidFill>
          <a:ln w="10160">
            <a:solidFill>
              <a:srgbClr val="303A58"/>
            </a:solidFill>
            <a:prstDash val="solid"/>
          </a:ln>
          <a:effectLst>
            <a:outerShdw blurRad="38100" dist="25400" dir="27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16" name="Image 0" descr="Source app screensho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2" y="1517904"/>
            <a:ext cx="3465576" cy="194767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790688" y="3803904"/>
            <a:ext cx="1033272" cy="1417320"/>
          </a:xfrm>
          <a:prstGeom prst="roundRect">
            <a:avLst>
              <a:gd name="adj" fmla="val 7965"/>
            </a:avLst>
          </a:prstGeom>
          <a:solidFill>
            <a:srgbClr val="172038"/>
          </a:solidFill>
          <a:ln w="8890">
            <a:solidFill>
              <a:srgbClr val="303B5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8092440" y="4014216"/>
            <a:ext cx="438912" cy="438912"/>
          </a:xfrm>
          <a:prstGeom prst="ellipse">
            <a:avLst/>
          </a:prstGeom>
          <a:solidFill>
            <a:srgbClr val="173D44"/>
          </a:solidFill>
          <a:ln w="12700">
            <a:solidFill>
              <a:srgbClr val="173D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9001" y="4110777"/>
            <a:ext cx="245791" cy="245791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882128" y="4599432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FFFFF"/>
                </a:solidFill>
              </a:rPr>
              <a:t>Rayfin</a:t>
            </a:r>
            <a:endParaRPr lang="en-US" sz="1020" dirty="0"/>
          </a:p>
        </p:txBody>
      </p:sp>
      <p:sp>
        <p:nvSpPr>
          <p:cNvPr id="21" name="Text 17"/>
          <p:cNvSpPr/>
          <p:nvPr/>
        </p:nvSpPr>
        <p:spPr>
          <a:xfrm>
            <a:off x="7863840" y="4882896"/>
            <a:ext cx="886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A6AFC5"/>
                </a:solidFill>
              </a:rPr>
              <a:t>SDK + CLI</a:t>
            </a:r>
            <a:endParaRPr lang="en-US" sz="780" dirty="0"/>
          </a:p>
        </p:txBody>
      </p:sp>
      <p:sp>
        <p:nvSpPr>
          <p:cNvPr id="22" name="Shape 18"/>
          <p:cNvSpPr/>
          <p:nvPr/>
        </p:nvSpPr>
        <p:spPr>
          <a:xfrm>
            <a:off x="8988552" y="3803904"/>
            <a:ext cx="1033272" cy="1417320"/>
          </a:xfrm>
          <a:prstGeom prst="roundRect">
            <a:avLst>
              <a:gd name="adj" fmla="val 7965"/>
            </a:avLst>
          </a:prstGeom>
          <a:solidFill>
            <a:srgbClr val="172038"/>
          </a:solidFill>
          <a:ln w="8890">
            <a:solidFill>
              <a:srgbClr val="303B5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19"/>
          <p:cNvSpPr/>
          <p:nvPr/>
        </p:nvSpPr>
        <p:spPr>
          <a:xfrm>
            <a:off x="9290304" y="4014216"/>
            <a:ext cx="438912" cy="438912"/>
          </a:xfrm>
          <a:prstGeom prst="ellipse">
            <a:avLst/>
          </a:prstGeom>
          <a:solidFill>
            <a:srgbClr val="2A2455"/>
          </a:solidFill>
          <a:ln w="12700">
            <a:solidFill>
              <a:srgbClr val="2A24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6865" y="4110777"/>
            <a:ext cx="245791" cy="24579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079992" y="4599432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FFFFF"/>
                </a:solidFill>
              </a:rPr>
              <a:t>Fabric App</a:t>
            </a:r>
            <a:endParaRPr lang="en-US" sz="1020" dirty="0"/>
          </a:p>
        </p:txBody>
      </p:sp>
      <p:sp>
        <p:nvSpPr>
          <p:cNvPr id="26" name="Text 21"/>
          <p:cNvSpPr/>
          <p:nvPr/>
        </p:nvSpPr>
        <p:spPr>
          <a:xfrm>
            <a:off x="9061704" y="4882896"/>
            <a:ext cx="886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A6AFC5"/>
                </a:solidFill>
              </a:rPr>
              <a:t>Managed product</a:t>
            </a:r>
            <a:endParaRPr lang="en-US" sz="780" dirty="0"/>
          </a:p>
        </p:txBody>
      </p:sp>
      <p:sp>
        <p:nvSpPr>
          <p:cNvPr id="27" name="Shape 22"/>
          <p:cNvSpPr/>
          <p:nvPr/>
        </p:nvSpPr>
        <p:spPr>
          <a:xfrm>
            <a:off x="10186416" y="3803904"/>
            <a:ext cx="1033272" cy="1417320"/>
          </a:xfrm>
          <a:prstGeom prst="roundRect">
            <a:avLst>
              <a:gd name="adj" fmla="val 7965"/>
            </a:avLst>
          </a:prstGeom>
          <a:solidFill>
            <a:srgbClr val="172038"/>
          </a:solidFill>
          <a:ln w="8890">
            <a:solidFill>
              <a:srgbClr val="303B5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3"/>
          <p:cNvSpPr/>
          <p:nvPr/>
        </p:nvSpPr>
        <p:spPr>
          <a:xfrm>
            <a:off x="10488168" y="4014216"/>
            <a:ext cx="438912" cy="438912"/>
          </a:xfrm>
          <a:prstGeom prst="ellipse">
            <a:avLst/>
          </a:prstGeom>
          <a:solidFill>
            <a:srgbClr val="4A203B"/>
          </a:solidFill>
          <a:ln w="12700">
            <a:solidFill>
              <a:srgbClr val="4A20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84729" y="4110777"/>
            <a:ext cx="245791" cy="245791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277856" y="4599432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FFFFF"/>
                </a:solidFill>
              </a:rPr>
              <a:t>Fabric</a:t>
            </a:r>
            <a:endParaRPr lang="en-US" sz="1020" dirty="0"/>
          </a:p>
        </p:txBody>
      </p:sp>
      <p:sp>
        <p:nvSpPr>
          <p:cNvPr id="31" name="Text 25"/>
          <p:cNvSpPr/>
          <p:nvPr/>
        </p:nvSpPr>
        <p:spPr>
          <a:xfrm>
            <a:off x="10259568" y="4882896"/>
            <a:ext cx="886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A6AFC5"/>
                </a:solidFill>
              </a:rPr>
              <a:t>Platform</a:t>
            </a:r>
            <a:endParaRPr lang="en-US" sz="780" dirty="0"/>
          </a:p>
        </p:txBody>
      </p:sp>
      <p:sp>
        <p:nvSpPr>
          <p:cNvPr id="32" name="Shape 26"/>
          <p:cNvSpPr/>
          <p:nvPr/>
        </p:nvSpPr>
        <p:spPr>
          <a:xfrm>
            <a:off x="8833104" y="4498848"/>
            <a:ext cx="109728" cy="0"/>
          </a:xfrm>
          <a:prstGeom prst="line">
            <a:avLst/>
          </a:prstGeom>
          <a:noFill/>
          <a:ln w="25400">
            <a:solidFill>
              <a:srgbClr val="697590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27"/>
          <p:cNvSpPr/>
          <p:nvPr/>
        </p:nvSpPr>
        <p:spPr>
          <a:xfrm>
            <a:off x="10030968" y="4498848"/>
            <a:ext cx="109728" cy="0"/>
          </a:xfrm>
          <a:prstGeom prst="line">
            <a:avLst/>
          </a:prstGeom>
          <a:noFill/>
          <a:ln w="25400">
            <a:solidFill>
              <a:srgbClr val="697590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pic>
        <p:nvPicPr>
          <p:cNvPr id="34" name="Image 4" descr="Rayfin 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230368"/>
            <a:ext cx="1691640" cy="60350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2560320" y="54132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9BA5BE"/>
                </a:solidFill>
              </a:rPr>
              <a:t>Rayfin is the toolkit. Fabric Apps is the product running in Microsoft Fabric.</a:t>
            </a:r>
            <a:endParaRPr lang="en-US" sz="980" dirty="0"/>
          </a:p>
        </p:txBody>
      </p:sp>
      <p:sp>
        <p:nvSpPr>
          <p:cNvPr id="36" name="Shape 29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30395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0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A4ADC3"/>
                </a:solidFill>
              </a:rPr>
              <a:t>Sources: BRK225 Build 2026, Fabric Apps Insiders, Microsoft Learn, WorkIQ synthesis — July 2026</a:t>
            </a:r>
            <a:endParaRPr lang="en-US" sz="770" dirty="0"/>
          </a:p>
        </p:txBody>
      </p:sp>
      <p:sp>
        <p:nvSpPr>
          <p:cNvPr id="38" name="Text 31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929BB7"/>
                </a:solidFill>
              </a:rPr>
              <a:t>1</a:t>
            </a:r>
            <a:endParaRPr lang="en-US" sz="7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is a schedule for a one-day hack event featuring sessions on Microsoft Fabric Apps Motion for EMEA, including a welcome, lunch, multiple hack sprints, team demos, and a wrap-up.&#10;&#10;AI-generated content may be incorrect.">
            <a:extLst>
              <a:ext uri="{FF2B5EF4-FFF2-40B4-BE49-F238E27FC236}">
                <a16:creationId xmlns:a16="http://schemas.microsoft.com/office/drawing/2014/main" id="{46F3746D-A50C-05A8-6306-643DE83E9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110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4548" y="77724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35444" y="77724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446340" y="77724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4548" y="1143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 · PARTNER SOLUTION ARCHITECTURE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8828" y="214884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 Fabric</a:t>
            </a:r>
            <a:endParaRPr lang="en-US" sz="6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4548" y="3337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L'essentiel avant votre hackathon Rayfin</a:t>
            </a:r>
            <a:endParaRPr lang="en-US" sz="2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4548" y="4069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i="1" dirty="0">
                <a:solidFill>
                  <a:srgbClr val="BFD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Comprendre, en 10 minutes, pourquoi vous allez travailler dans Fabric.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42836" y="5532120"/>
            <a:ext cx="310896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4548" y="64008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35444" y="64008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446340" y="64008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4548" y="1005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COMMENÇONS PAR LES CHIFFRES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8828" y="13258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 Fabric, en quelques chiffres</a:t>
            </a:r>
            <a:endParaRPr lang="en-US" sz="3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41668" y="2331720"/>
            <a:ext cx="2466594" cy="3246120"/>
          </a:xfrm>
          <a:prstGeom prst="roundRect">
            <a:avLst>
              <a:gd name="adj" fmla="val 3707"/>
            </a:avLst>
          </a:prstGeom>
          <a:solidFill>
            <a:srgbClr val="12494A"/>
          </a:solidFill>
          <a:ln w="12700">
            <a:solidFill>
              <a:srgbClr val="1C5B5C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486345" y="2697480"/>
            <a:ext cx="777240" cy="7772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655" y="2891790"/>
            <a:ext cx="388620" cy="3886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1668" y="3566160"/>
            <a:ext cx="24665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21 000+</a:t>
            </a:r>
            <a:endParaRPr lang="en-US" sz="4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42836" y="4480560"/>
            <a:ext cx="2064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350" dirty="0">
                <a:solidFill>
                  <a:srgbClr val="CDE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utilisent déjà Fabric dans le monde</a:t>
            </a:r>
            <a:endParaRPr lang="en-US" sz="13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455734" y="2331720"/>
            <a:ext cx="2466594" cy="3246120"/>
          </a:xfrm>
          <a:prstGeom prst="roundRect">
            <a:avLst>
              <a:gd name="adj" fmla="val 3707"/>
            </a:avLst>
          </a:prstGeom>
          <a:solidFill>
            <a:srgbClr val="12494A"/>
          </a:solidFill>
          <a:ln w="12700">
            <a:solidFill>
              <a:srgbClr val="1C5B5C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300411" y="2697480"/>
            <a:ext cx="777240" cy="7772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4721" y="2891790"/>
            <a:ext cx="388620" cy="3886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55734" y="3566160"/>
            <a:ext cx="24665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70 %</a:t>
            </a:r>
            <a:endParaRPr lang="en-US" sz="4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3656902" y="4480560"/>
            <a:ext cx="2064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350" dirty="0">
                <a:solidFill>
                  <a:srgbClr val="CDE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entreprises du Fortune 500 sont sur Fabric</a:t>
            </a:r>
            <a:endParaRPr lang="en-US" sz="13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269800" y="2331720"/>
            <a:ext cx="2466594" cy="3246120"/>
          </a:xfrm>
          <a:prstGeom prst="roundRect">
            <a:avLst>
              <a:gd name="adj" fmla="val 3707"/>
            </a:avLst>
          </a:prstGeom>
          <a:solidFill>
            <a:srgbClr val="12494A"/>
          </a:solidFill>
          <a:ln w="12700">
            <a:solidFill>
              <a:srgbClr val="1C5B5C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7114477" y="2697480"/>
            <a:ext cx="777240" cy="7772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787" y="2891790"/>
            <a:ext cx="388620" cy="3886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9800" y="3566160"/>
            <a:ext cx="24665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4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6470968" y="4480560"/>
            <a:ext cx="2064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350" dirty="0">
                <a:solidFill>
                  <a:srgbClr val="CDE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 copie de vos données, aux formats ouverts</a:t>
            </a:r>
            <a:endParaRPr lang="en-US" sz="13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9083866" y="2331720"/>
            <a:ext cx="2466594" cy="3246120"/>
          </a:xfrm>
          <a:prstGeom prst="roundRect">
            <a:avLst>
              <a:gd name="adj" fmla="val 3707"/>
            </a:avLst>
          </a:prstGeom>
          <a:solidFill>
            <a:srgbClr val="12494A"/>
          </a:solidFill>
          <a:ln w="12700">
            <a:solidFill>
              <a:srgbClr val="1C5B5C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9928543" y="2697480"/>
            <a:ext cx="777240" cy="77724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2853" y="2891790"/>
            <a:ext cx="388620" cy="3886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083866" y="3566160"/>
            <a:ext cx="24665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4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9285034" y="4480560"/>
            <a:ext cx="2064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350" dirty="0">
                <a:solidFill>
                  <a:srgbClr val="CDE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expériences data &amp; IA réunies en une plateforme</a:t>
            </a:r>
            <a:endParaRPr lang="en-US" sz="13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824548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i="1" dirty="0">
                <a:solidFill>
                  <a:srgbClr val="8FB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Microsoft, Build 2025 — plateforme d'analytique unifiée bâtie sur OneLake.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4548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FABRIC EXISTE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8828" y="960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3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Avant Fabric : des données éclatées</a:t>
            </a:r>
            <a:endParaRPr lang="en-US" sz="3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70268" y="1965960"/>
            <a:ext cx="603504" cy="603504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144" y="2116836"/>
            <a:ext cx="301752" cy="301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7508" y="18745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silos partout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outil par besoin, une équipe par outil, des technologies qui ne se parlent pas.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870268" y="2990088"/>
            <a:ext cx="603504" cy="603504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144" y="3140964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47508" y="2898648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copies multiples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outil recopie la donnée dans son coin — versions divergentes et incohérences.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870268" y="4014216"/>
            <a:ext cx="603504" cy="603504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144" y="4165092"/>
            <a:ext cx="301752" cy="30175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47508" y="3922776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pipelines coûteux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Déplacer et transformer la donnée d'un système à l'autre coûte du temps et de l'argent.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870268" y="5038344"/>
            <a:ext cx="603504" cy="603504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144" y="5189220"/>
            <a:ext cx="301752" cy="30175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47508" y="4946904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valeur qui traîne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Monter un cas d'usage prend des semaines de plomberie avant le premier résultat métier.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8185468" y="1965960"/>
            <a:ext cx="3246120" cy="3977640"/>
          </a:xfrm>
          <a:prstGeom prst="roundRect">
            <a:avLst>
              <a:gd name="adj" fmla="val 3380"/>
            </a:avLst>
          </a:prstGeom>
          <a:solidFill>
            <a:srgbClr val="0B3B3C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505508" y="22860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coût caché</a:t>
            </a:r>
            <a:endParaRPr lang="en-US" sz="1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8505508" y="306324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sources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BFD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 pipelines à construire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BFD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 copies à maintenir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BFD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 fois le risque d'erreur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8505508" y="489204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donnée passe plus de temps à voyager qu'à créer de la valeur.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4548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RÉPONSE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8828" y="960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3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Alors, qu'est-ce que Microsoft Fabric ?</a:t>
            </a:r>
            <a:endParaRPr lang="en-US" sz="3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4548" y="1874520"/>
            <a:ext cx="10561320" cy="1371600"/>
          </a:xfrm>
          <a:prstGeom prst="roundRect">
            <a:avLst>
              <a:gd name="adj" fmla="val 6667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4588" y="1874520"/>
            <a:ext cx="9921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SaaS unique </a:t>
            </a:r>
            <a:r>
              <a:rPr lang="en-US" sz="2000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réunit toute l'analytique de données — de la donnée brute jusqu'à la décision et l'IA, au même endroit.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4548" y="3611880"/>
            <a:ext cx="2395728" cy="2514600"/>
          </a:xfrm>
          <a:prstGeom prst="roundRect">
            <a:avLst>
              <a:gd name="adj" fmla="val 3817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17156" y="3904488"/>
            <a:ext cx="658368" cy="6583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48" y="4069080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7156" y="4663440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SaaS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17156" y="5074920"/>
            <a:ext cx="18470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à installer ni à administrer. Vous ouvrez un navigateur et vous travaillez.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540316" y="3611880"/>
            <a:ext cx="2395728" cy="2514600"/>
          </a:xfrm>
          <a:prstGeom prst="roundRect">
            <a:avLst>
              <a:gd name="adj" fmla="val 3817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832924" y="3904488"/>
            <a:ext cx="658368" cy="6583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7516" y="406908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832924" y="4663440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Unifié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3832924" y="5074920"/>
            <a:ext cx="18470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produit à la place d'une dizaine d'outils assemblés à la main.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256084" y="3611880"/>
            <a:ext cx="2395728" cy="2514600"/>
          </a:xfrm>
          <a:prstGeom prst="roundRect">
            <a:avLst>
              <a:gd name="adj" fmla="val 3817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548692" y="3904488"/>
            <a:ext cx="658368" cy="6583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84" y="4069080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548692" y="4663440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Ouvert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548692" y="5074920"/>
            <a:ext cx="18470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standard (Delta Parquet, Iceberg). Pas de verrouillage propriétaire.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8971852" y="3611880"/>
            <a:ext cx="2395728" cy="2514600"/>
          </a:xfrm>
          <a:prstGeom prst="roundRect">
            <a:avLst>
              <a:gd name="adj" fmla="val 3817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9264460" y="3904488"/>
            <a:ext cx="658368" cy="6583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052" y="406908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264460" y="4663440"/>
            <a:ext cx="1847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IA-native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9264460" y="5074920"/>
            <a:ext cx="18470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et agents intégrés dans chaque expérience de la plateforme.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4548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VOUS ÊTES DÉJÀ CHEZ VOUS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8828" y="960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Bonne nouvelle : c'est l'expérience Power BI</a:t>
            </a:r>
            <a:endParaRPr lang="en-US" sz="3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4548" y="1874520"/>
            <a:ext cx="10561320" cy="1371600"/>
          </a:xfrm>
          <a:prstGeom prst="roundRect">
            <a:avLst>
              <a:gd name="adj" fmla="val 6667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4588" y="1874520"/>
            <a:ext cx="9921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est bâti sur la plateforme SaaS de Power BI</a:t>
            </a:r>
            <a:r>
              <a:rPr lang="en-US" sz="1900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même portail, mêmes workspaces, même logique. Si vous connaissez Power BI, vous savez déjà vous repérer dans Fabric.</a:t>
            </a:r>
            <a:endParaRPr lang="en-US" sz="19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4548" y="3566160"/>
            <a:ext cx="3270504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17156" y="3858768"/>
            <a:ext cx="658368" cy="6583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48" y="4023360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7156" y="464515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Même portail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17156" y="5065776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portail Power BI que vous connaissez est aussi celui de Fabric : mêmes workspaces, même navigation.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460812" y="3566160"/>
            <a:ext cx="3270504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53420" y="3858768"/>
            <a:ext cx="658368" cy="6583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8012" y="402336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53420" y="464515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BI = la décision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4753420" y="5065776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rapports et tableaux de bord restent le point d'arrivée — désormais alimentés directement par OneLake.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8097076" y="3566160"/>
            <a:ext cx="3270504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8389684" y="3858768"/>
            <a:ext cx="658368" cy="6583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4276" y="4023360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89684" y="4645152"/>
            <a:ext cx="2721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Étendu à toute la donnée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8389684" y="5065776"/>
            <a:ext cx="27218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prolonge cette expérience à toute la donnée : ingestion, préparation, temps réel, IA. Rien de nouveau à apprendre.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4548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CŒUR DE FABRIC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8828" y="960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3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OneLake : le « OneDrive » de vos données</a:t>
            </a:r>
            <a:endParaRPr lang="en-US" sz="3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70268" y="214884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2" y="2157984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3188" y="2020824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50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lac de données pour toute l'organisation — inclus automatiquement dans chaque tenant Fabric.</a:t>
            </a:r>
            <a:endParaRPr lang="en-US" sz="14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870268" y="3081528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2" y="3090672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3188" y="295351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50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copie de la donnée, réutilisée par tous les moteurs, sans duplication.</a:t>
            </a:r>
            <a:endParaRPr lang="en-US" sz="14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870268" y="4014216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2" y="4023360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3188" y="38862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50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ouverts (Delta Parquet, Iceberg) : vos données restent lisibles par n'importe quel outil.</a:t>
            </a:r>
            <a:endParaRPr lang="en-US" sz="14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870268" y="4946904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2" y="4956048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3188" y="481888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50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Raccourcis (« shortcuts ») : connectez une source sans la déplacer, en deux clics.</a:t>
            </a:r>
            <a:endParaRPr lang="en-US" sz="14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6905308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kern="0" spc="200" dirty="0">
                <a:solidFill>
                  <a:srgbClr val="5B71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TOUS LES MOTEURS</a:t>
            </a:r>
            <a:endParaRPr lang="en-US" sz="1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1"/>
          <p:cNvSpPr/>
          <p:nvPr/>
        </p:nvSpPr>
        <p:spPr>
          <a:xfrm>
            <a:off x="6905308" y="233172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6905308" y="23317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8094028" y="233172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8094028" y="23317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5"/>
          <p:cNvSpPr/>
          <p:nvPr/>
        </p:nvSpPr>
        <p:spPr>
          <a:xfrm>
            <a:off x="9282748" y="233172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9282748" y="23317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10471468" y="233172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10471468" y="23317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7408228" y="2926080"/>
            <a:ext cx="0" cy="5029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8596948" y="2926080"/>
            <a:ext cx="0" cy="5029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1"/>
          <p:cNvSpPr/>
          <p:nvPr/>
        </p:nvSpPr>
        <p:spPr>
          <a:xfrm>
            <a:off x="9785668" y="2926080"/>
            <a:ext cx="0" cy="5029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2"/>
          <p:cNvSpPr/>
          <p:nvPr/>
        </p:nvSpPr>
        <p:spPr>
          <a:xfrm>
            <a:off x="10974388" y="2926080"/>
            <a:ext cx="0" cy="5029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tail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6905308" y="3566160"/>
            <a:ext cx="4572000" cy="1051560"/>
          </a:xfrm>
          <a:prstGeom prst="roundRect">
            <a:avLst>
              <a:gd name="adj" fmla="val 8696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4"/>
          <p:cNvSpPr/>
          <p:nvPr/>
        </p:nvSpPr>
        <p:spPr>
          <a:xfrm>
            <a:off x="6905308" y="35661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OneLake</a:t>
            </a:r>
            <a:endParaRPr lang="en-US" sz="2200" dirty="0">
              <a:solidFill>
                <a:prstClr val="black"/>
              </a:solidFill>
              <a:latin typeface="Calibri" panose="020F0502020204030204"/>
            </a:endParaRPr>
          </a:p>
          <a:p>
            <a:pPr algn="ctr"/>
            <a:r>
              <a:rPr lang="en-US" sz="1300" dirty="0">
                <a:solidFill>
                  <a:srgbClr val="E7FB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 seule copie de la donnée</a:t>
            </a:r>
            <a:endParaRPr lang="en-US" sz="2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6905308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50" i="1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Parquet · Iceberg — formats ouverts, aucune recopie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6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4548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SUPER-POUVOIR DE FABRIC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8828" y="960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3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Fabric rassemble toutes vos données</a:t>
            </a:r>
            <a:endParaRPr lang="en-US" sz="3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4548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d'être une plateforme d'analytique, Fabric est un </a:t>
            </a:r>
            <a:r>
              <a:rPr lang="en-US" sz="16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d'intégration</a:t>
            </a:r>
            <a:r>
              <a:rPr lang="en-US" sz="16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il fait venir toute la donnée de l'entreprise dans OneLake, de trois façons.</a:t>
            </a:r>
            <a:endParaRPr lang="en-US" sz="16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4548" y="2377440"/>
            <a:ext cx="3270504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117156" y="2670048"/>
            <a:ext cx="658368" cy="658368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48" y="283464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1828" y="2688336"/>
            <a:ext cx="1990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Connecteurs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  <a:p>
            <a:r>
              <a:rPr lang="en-US" sz="115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Factory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1117156" y="3493008"/>
            <a:ext cx="2703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centaines de connecteurs prêts à l'emploi : SaaS (Salesforce, SAP, Dynamics…), bases de données, fichiers, on-prem, cloud.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460812" y="2377440"/>
            <a:ext cx="3270504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753420" y="2670048"/>
            <a:ext cx="658368" cy="658368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8012" y="283464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58092" y="2688336"/>
            <a:ext cx="1990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Mirroring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  <a:p>
            <a:r>
              <a:rPr lang="en-US" sz="115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Quasi temps réel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4753420" y="3493008"/>
            <a:ext cx="2703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Réplique vos bases opérationnelles (SQL, Cosmos DB, Snowflake, PostgreSQL) dans OneLake — sans ETL à construire.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8097076" y="2377440"/>
            <a:ext cx="3270504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8389684" y="2670048"/>
            <a:ext cx="658368" cy="658368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4276" y="283464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194356" y="2688336"/>
            <a:ext cx="1990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Shortcuts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  <a:p>
            <a:r>
              <a:rPr lang="en-US" sz="115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Zéro copie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8389684" y="3493008"/>
            <a:ext cx="2703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2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Virtualise des données stockées ailleurs (ADLS, Amazon S3, Google) sans les déplacer ni les dupliquer.</a:t>
            </a:r>
            <a:endParaRPr lang="en-US" sz="1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824548" y="5120640"/>
            <a:ext cx="10561320" cy="1188720"/>
          </a:xfrm>
          <a:prstGeom prst="roundRect">
            <a:avLst>
              <a:gd name="adj" fmla="val 9231"/>
            </a:avLst>
          </a:prstGeom>
          <a:solidFill>
            <a:srgbClr val="0B3B3C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1190308" y="5120640"/>
            <a:ext cx="9829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r>
              <a:rPr lang="en-US" sz="16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la donnée de l'entreprise, réunie et gouvernée dans OneLake. Une app construite dans Fabric y accède 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</a:t>
            </a:r>
            <a:r>
              <a:rPr lang="en-US" sz="1600" dirty="0">
                <a:solidFill>
                  <a:srgbClr val="E7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sans recâbler un seul connecteur.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4548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L'AUTRE FONDATION UNIFIÉE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8828" y="960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3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 seule capacité pour tous les moteurs</a:t>
            </a:r>
            <a:endParaRPr lang="en-US" sz="3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4548" y="16642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unifie le stockage.  </a:t>
            </a:r>
            <a:r>
              <a:rPr lang="en-US" sz="17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Capacity Units (CU) unifient le calcul.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70268" y="246888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2" y="247802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3188" y="2322576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00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capacité Fabric, en Capacity Units (CU), alimente tous les moteurs : Data Factory, Spark, entrepôt SQL, Power BI, temps réel.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70268" y="338328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2" y="3392424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3188" y="3236976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00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capacité partagée : le calcul va là où le besoin est, au lieu d'un service — et d'une facture — par outil.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870268" y="429768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2" y="4306824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3188" y="4151376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00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pics de charge sont lissés dans le temps : pas besoin de sur-dimensionner « au cas où ».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870268" y="521208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12" y="5221224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73188" y="5065776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00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 pause en un clic. Vous payez la capacité, pas chaque moteur.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1"/>
          <p:cNvSpPr/>
          <p:nvPr/>
        </p:nvSpPr>
        <p:spPr>
          <a:xfrm>
            <a:off x="6951028" y="2377440"/>
            <a:ext cx="822960" cy="868680"/>
          </a:xfrm>
          <a:prstGeom prst="roundRect">
            <a:avLst>
              <a:gd name="adj" fmla="val 8889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6896164" y="2377440"/>
            <a:ext cx="93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</a:pPr>
            <a:r>
              <a:rPr lang="en-US" sz="10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Factory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7876858" y="2377440"/>
            <a:ext cx="822960" cy="868680"/>
          </a:xfrm>
          <a:prstGeom prst="roundRect">
            <a:avLst>
              <a:gd name="adj" fmla="val 8889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7821994" y="2377440"/>
            <a:ext cx="93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</a:pPr>
            <a:r>
              <a:rPr lang="en-US" sz="10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5"/>
          <p:cNvSpPr/>
          <p:nvPr/>
        </p:nvSpPr>
        <p:spPr>
          <a:xfrm>
            <a:off x="8802688" y="2377440"/>
            <a:ext cx="822960" cy="868680"/>
          </a:xfrm>
          <a:prstGeom prst="roundRect">
            <a:avLst>
              <a:gd name="adj" fmla="val 8889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8747824" y="2377440"/>
            <a:ext cx="93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</a:pPr>
            <a:r>
              <a:rPr lang="en-US" sz="10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9728518" y="2377440"/>
            <a:ext cx="822960" cy="868680"/>
          </a:xfrm>
          <a:prstGeom prst="roundRect">
            <a:avLst>
              <a:gd name="adj" fmla="val 8889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9673654" y="2377440"/>
            <a:ext cx="93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</a:pPr>
            <a:r>
              <a:rPr lang="en-US" sz="10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10654348" y="2377440"/>
            <a:ext cx="822960" cy="868680"/>
          </a:xfrm>
          <a:prstGeom prst="roundRect">
            <a:avLst>
              <a:gd name="adj" fmla="val 8889"/>
            </a:avLst>
          </a:prstGeom>
          <a:solidFill>
            <a:srgbClr val="F1F6F5"/>
          </a:solidFill>
          <a:ln w="12700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10599484" y="2377440"/>
            <a:ext cx="9326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5000"/>
              </a:lnSpc>
            </a:pPr>
            <a:r>
              <a:rPr lang="en-US" sz="10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1"/>
          <p:cNvSpPr/>
          <p:nvPr/>
        </p:nvSpPr>
        <p:spPr>
          <a:xfrm>
            <a:off x="7362508" y="3337560"/>
            <a:ext cx="0" cy="566928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head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2"/>
          <p:cNvSpPr/>
          <p:nvPr/>
        </p:nvSpPr>
        <p:spPr>
          <a:xfrm>
            <a:off x="8288338" y="3337560"/>
            <a:ext cx="0" cy="566928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head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9214168" y="3337560"/>
            <a:ext cx="0" cy="566928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head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10139998" y="3337560"/>
            <a:ext cx="0" cy="566928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head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11065828" y="3337560"/>
            <a:ext cx="0" cy="566928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  <a:head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6951028" y="4023360"/>
            <a:ext cx="4526280" cy="1188720"/>
          </a:xfrm>
          <a:prstGeom prst="roundRect">
            <a:avLst>
              <a:gd name="adj" fmla="val 7692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27"/>
          <p:cNvSpPr/>
          <p:nvPr/>
        </p:nvSpPr>
        <p:spPr>
          <a:xfrm>
            <a:off x="6951028" y="402336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capacité Fabric</a:t>
            </a:r>
            <a:endParaRPr lang="en-US" sz="2200" dirty="0">
              <a:solidFill>
                <a:prstClr val="black"/>
              </a:solidFill>
              <a:latin typeface="Calibri" panose="020F0502020204030204"/>
            </a:endParaRPr>
          </a:p>
          <a:p>
            <a:pPr algn="ctr"/>
            <a:r>
              <a:rPr lang="en-US" sz="1300" dirty="0">
                <a:solidFill>
                  <a:srgbClr val="E7FB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mesurée en Capacity Units (CU)</a:t>
            </a:r>
            <a:endParaRPr lang="en-US" sz="2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8"/>
          <p:cNvSpPr/>
          <p:nvPr/>
        </p:nvSpPr>
        <p:spPr>
          <a:xfrm>
            <a:off x="6951028" y="534924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lang="en-US" sz="1200" i="1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pool de calcul, réparti entre tous les moteurs — pics lissés, facturation unique.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4548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QU'IL Y A DANS LA BOÎTE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8828" y="960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3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 expériences, une seule plateforme</a:t>
            </a:r>
            <a:endParaRPr lang="en-US" sz="3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1668" y="1874520"/>
            <a:ext cx="2521458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97700" y="2130552"/>
            <a:ext cx="621792" cy="62179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148" y="228600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7700" y="2862072"/>
            <a:ext cx="2064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Factory</a:t>
            </a:r>
            <a:endParaRPr lang="en-US" sz="15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897700" y="3319272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&amp; préparer la donnée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437446" y="1874520"/>
            <a:ext cx="2521458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693478" y="2130552"/>
            <a:ext cx="621792" cy="62179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8926" y="2286000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93478" y="2862072"/>
            <a:ext cx="2064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Engineering</a:t>
            </a:r>
            <a:endParaRPr lang="en-US" sz="15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693478" y="3319272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 &amp; Spark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233224" y="1874520"/>
            <a:ext cx="2521458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6489256" y="2130552"/>
            <a:ext cx="621792" cy="62179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704" y="2286000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89256" y="2862072"/>
            <a:ext cx="2064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Warehouse</a:t>
            </a:r>
            <a:endParaRPr lang="en-US" sz="15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489256" y="3319272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analytique à l'échelle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9029002" y="1874520"/>
            <a:ext cx="2521458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9285034" y="2130552"/>
            <a:ext cx="621792" cy="62179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0482" y="2286000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85034" y="2862072"/>
            <a:ext cx="2064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Science</a:t>
            </a:r>
            <a:endParaRPr lang="en-US" sz="15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9285034" y="3319272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&amp; modèles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641668" y="4270248"/>
            <a:ext cx="2521458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897700" y="4526280"/>
            <a:ext cx="621792" cy="62179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148" y="4681728"/>
            <a:ext cx="310896" cy="31089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97700" y="5257800"/>
            <a:ext cx="2064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Intelligence</a:t>
            </a:r>
            <a:endParaRPr lang="en-US" sz="15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897700" y="5715000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en temps réel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2"/>
          <p:cNvSpPr/>
          <p:nvPr/>
        </p:nvSpPr>
        <p:spPr>
          <a:xfrm>
            <a:off x="3437446" y="4270248"/>
            <a:ext cx="2521458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5875">
            <a:solidFill>
              <a:srgbClr val="D8E4E2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3"/>
          <p:cNvSpPr/>
          <p:nvPr/>
        </p:nvSpPr>
        <p:spPr>
          <a:xfrm>
            <a:off x="3693478" y="4526280"/>
            <a:ext cx="621792" cy="621792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8926" y="4681728"/>
            <a:ext cx="310896" cy="31089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693478" y="5257800"/>
            <a:ext cx="2064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BI</a:t>
            </a:r>
            <a:endParaRPr lang="en-US" sz="15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25"/>
          <p:cNvSpPr/>
          <p:nvPr/>
        </p:nvSpPr>
        <p:spPr>
          <a:xfrm>
            <a:off x="3693478" y="5715000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&amp; décision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6233224" y="4270248"/>
            <a:ext cx="2521458" cy="2103120"/>
          </a:xfrm>
          <a:prstGeom prst="roundRect">
            <a:avLst>
              <a:gd name="adj" fmla="val 3913"/>
            </a:avLst>
          </a:prstGeom>
          <a:solidFill>
            <a:srgbClr val="0B3B3C"/>
          </a:solidFill>
          <a:ln w="15875">
            <a:solidFill>
              <a:srgbClr val="0B3B3C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6489256" y="4526280"/>
            <a:ext cx="621792" cy="62179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44704" y="4681728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489256" y="5257800"/>
            <a:ext cx="2064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Databases</a:t>
            </a:r>
            <a:endParaRPr lang="en-US" sz="15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29"/>
          <p:cNvSpPr/>
          <p:nvPr/>
        </p:nvSpPr>
        <p:spPr>
          <a:xfrm>
            <a:off x="6489256" y="5715000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BFD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données &amp; apps (Rayfin)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Shape 30"/>
          <p:cNvSpPr/>
          <p:nvPr/>
        </p:nvSpPr>
        <p:spPr>
          <a:xfrm>
            <a:off x="9029002" y="4270248"/>
            <a:ext cx="2521458" cy="2103120"/>
          </a:xfrm>
          <a:prstGeom prst="roundRect">
            <a:avLst>
              <a:gd name="adj" fmla="val 3913"/>
            </a:avLst>
          </a:prstGeom>
          <a:solidFill>
            <a:srgbClr val="0B3B3C"/>
          </a:solidFill>
          <a:ln w="15875">
            <a:solidFill>
              <a:srgbClr val="0B3B3C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/>
          <p:cNvSpPr/>
          <p:nvPr/>
        </p:nvSpPr>
        <p:spPr>
          <a:xfrm>
            <a:off x="9285034" y="4526280"/>
            <a:ext cx="621792" cy="62179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40482" y="4681728"/>
            <a:ext cx="310896" cy="31089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285034" y="5257800"/>
            <a:ext cx="2064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Copilot</a:t>
            </a:r>
            <a:endParaRPr lang="en-US" sz="15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33"/>
          <p:cNvSpPr/>
          <p:nvPr/>
        </p:nvSpPr>
        <p:spPr>
          <a:xfrm>
            <a:off x="9285034" y="5715000"/>
            <a:ext cx="2064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BFD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dans chaque expérience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Text 34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4548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POINT DE VUE MÉTIER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8828" y="96012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ça change pour un(e) business ou product owner</a:t>
            </a:r>
            <a:endParaRPr lang="en-US" sz="3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70268" y="1874520"/>
            <a:ext cx="566928" cy="566928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000" y="2016252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7508" y="180136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Time-to-value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cas d'usage à la valeur en jours, pas en mois — la plomberie est déjà là.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870268" y="2807208"/>
            <a:ext cx="566928" cy="566928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000" y="2948940"/>
            <a:ext cx="283464" cy="2834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47508" y="2734056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coûts &amp; de complexité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plateforme facturée à la capacité, au lieu d'une dizaine d'outils à intégrer.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870268" y="3739896"/>
            <a:ext cx="566928" cy="566928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000" y="3881628"/>
            <a:ext cx="283464" cy="28346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47508" y="3666744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&amp; sécurité par défaut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définies une fois, appliquées partout — jusqu'à la ligne et la colonne.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870268" y="4672584"/>
            <a:ext cx="566928" cy="566928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000" y="4814316"/>
            <a:ext cx="283464" cy="28346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47508" y="459943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pour l'IA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et agents accélèrent l'analyse et la construction d'applications.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870268" y="5605272"/>
            <a:ext cx="566928" cy="566928"/>
          </a:xfrm>
          <a:prstGeom prst="ellipse">
            <a:avLst/>
          </a:prstGeom>
          <a:solidFill>
            <a:srgbClr val="F1F6F5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2000" y="5747004"/>
            <a:ext cx="283464" cy="28346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647508" y="5532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0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Focalisé sur la valeur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pensez cas d'usage et expérience — plus infrastructure et tuyauterie.</a:t>
            </a:r>
            <a:endParaRPr lang="en-US" sz="17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2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4548" y="64008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135444" y="64008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446340" y="64008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2DD4BF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4548" y="9601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VOTRE HACKATHON DANS TOUT ÇA ?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8828" y="12801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Fabric + Rayfin : du data hub à l'app métier</a:t>
            </a:r>
            <a:endParaRPr lang="en-US" sz="31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4548" y="20116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2000"/>
              </a:lnSpc>
            </a:pPr>
            <a:r>
              <a:rPr lang="en-US" sz="1600" dirty="0">
                <a:solidFill>
                  <a:srgbClr val="D6EA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Vibe-codez une application métier directement dans Fabric. Comme avec un Lovable — mais l'app se branche </a:t>
            </a: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 sur OneLake</a:t>
            </a:r>
            <a:r>
              <a:rPr lang="en-US" sz="1600" dirty="0">
                <a:solidFill>
                  <a:srgbClr val="D6EA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données déjà intégrées, gouvernées, à jour. Pas de connecteurs à recâbler.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70268" y="3063240"/>
            <a:ext cx="566928" cy="5669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000" y="3204972"/>
            <a:ext cx="283464" cy="2834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1788" y="2990088"/>
            <a:ext cx="9784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3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app au même endroit   </a:t>
            </a:r>
            <a:r>
              <a:rPr lang="en-US" sz="1300" dirty="0">
                <a:solidFill>
                  <a:srgbClr val="BFD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 se nourrit de OneLake — toute la donnée de l'entreprise déjà intégrée, sans recâbler un connecteur.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870268" y="3904488"/>
            <a:ext cx="566928" cy="5669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000" y="4046220"/>
            <a:ext cx="283464" cy="2834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01788" y="3831336"/>
            <a:ext cx="9784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3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Vibe-code avec des agents IA   </a:t>
            </a:r>
            <a:r>
              <a:rPr lang="en-US" sz="1300" dirty="0">
                <a:solidFill>
                  <a:srgbClr val="BFD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Construisez en langage naturel, sur un backend prêt pour la production.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70268" y="4745736"/>
            <a:ext cx="566928" cy="5669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000" y="4887468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1788" y="4672584"/>
            <a:ext cx="9784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3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récent   </a:t>
            </a:r>
            <a:r>
              <a:rPr lang="en-US" sz="1300" dirty="0">
                <a:solidFill>
                  <a:srgbClr val="BFD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Public Preview, annoncé à Microsoft Build 2026 — vous êtes sur la vague.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1158304" y="5806440"/>
            <a:ext cx="3017520" cy="658368"/>
          </a:xfrm>
          <a:prstGeom prst="roundRect">
            <a:avLst>
              <a:gd name="adj" fmla="val 13889"/>
            </a:avLst>
          </a:prstGeom>
          <a:solidFill>
            <a:srgbClr val="12494A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158304" y="580644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— données intégrées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230688" y="6135624"/>
            <a:ext cx="301752" cy="0"/>
          </a:xfrm>
          <a:prstGeom prst="line">
            <a:avLst/>
          </a:prstGeom>
          <a:noFill/>
          <a:ln w="31750">
            <a:solidFill>
              <a:srgbClr val="2DD4BF"/>
            </a:solidFill>
            <a:prstDash val="solid"/>
            <a:tail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4587304" y="5806440"/>
            <a:ext cx="3017520" cy="658368"/>
          </a:xfrm>
          <a:prstGeom prst="roundRect">
            <a:avLst>
              <a:gd name="adj" fmla="val 13889"/>
            </a:avLst>
          </a:prstGeom>
          <a:solidFill>
            <a:srgbClr val="12494A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4587304" y="580644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Rayfin — vibe-code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7659688" y="6135624"/>
            <a:ext cx="301752" cy="0"/>
          </a:xfrm>
          <a:prstGeom prst="line">
            <a:avLst/>
          </a:prstGeom>
          <a:noFill/>
          <a:ln w="31750">
            <a:solidFill>
              <a:srgbClr val="2DD4BF"/>
            </a:solidFill>
            <a:prstDash val="solid"/>
            <a:tailEnd type="triangle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8016304" y="5806440"/>
            <a:ext cx="3017520" cy="658368"/>
          </a:xfrm>
          <a:prstGeom prst="roundRect">
            <a:avLst>
              <a:gd name="adj" fmla="val 13889"/>
            </a:avLst>
          </a:prstGeom>
          <a:solidFill>
            <a:srgbClr val="12494A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8016304" y="580644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métier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4548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kern="0" spc="30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PRATIQUE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8828" y="960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300" b="1" dirty="0">
                <a:solidFill>
                  <a:srgbClr val="162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Votre rôle pendant le hackathon</a:t>
            </a:r>
            <a:endParaRPr lang="en-US" sz="3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70268" y="1965960"/>
            <a:ext cx="603504" cy="6035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870268" y="19659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1693228" y="18745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5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Travaillez directement dans Fabric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workspace, OneLake, vos données : tout se passe dans le navigateur.</a:t>
            </a:r>
            <a:endParaRPr lang="en-US" sz="17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70268" y="2898648"/>
            <a:ext cx="603504" cy="6035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870268" y="28986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1693228" y="2807208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5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Cadrez la valeur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Définissez le cas d'usage, la valeur métier et l'expérience utilisateur cible.</a:t>
            </a:r>
            <a:endParaRPr lang="en-US" sz="17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70268" y="3831336"/>
            <a:ext cx="603504" cy="603504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70268" y="3831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693228" y="3739896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750" b="1" dirty="0">
                <a:solidFill>
                  <a:srgbClr val="16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 Fabric &amp; Rayfin gérer la plomberie   </a:t>
            </a:r>
            <a:r>
              <a:rPr lang="en-US" sz="135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Concentrez votre énergie sur le produit, pas sur l'infrastructure data.</a:t>
            </a:r>
            <a:endParaRPr lang="en-US" sz="17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24548" y="5074920"/>
            <a:ext cx="10561320" cy="1234440"/>
          </a:xfrm>
          <a:prstGeom prst="roundRect">
            <a:avLst>
              <a:gd name="adj" fmla="val 8889"/>
            </a:avLst>
          </a:prstGeom>
          <a:solidFill>
            <a:srgbClr val="0B3B3C"/>
          </a:solidFill>
          <a:ln/>
        </p:spPr>
        <p:txBody>
          <a:bodyPr/>
          <a:lstStyle/>
          <a:p>
            <a:endParaRPr lang="en-GB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4588" y="5074920"/>
            <a:ext cx="9921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la donnée à l'application — en une seule plateforme.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  <a:p>
            <a:pPr>
              <a:lnSpc>
                <a:spcPct val="120000"/>
              </a:lnSpc>
            </a:pPr>
            <a:r>
              <a:rPr lang="en-US" sz="130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Bon hackathon !  ·  Florent Thibault — Microsoft France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47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dirty="0">
                <a:solidFill>
                  <a:srgbClr val="5B7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abric-apps-emea-hero.png">
            <a:extLst>
              <a:ext uri="{FF2B5EF4-FFF2-40B4-BE49-F238E27FC236}">
                <a16:creationId xmlns:a16="http://schemas.microsoft.com/office/drawing/2014/main" id="{DA0C171D-1B56-0E24-250F-BBA43DE96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7485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2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0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EXECUTIVE SUMMARY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Rayfin closes the gap between AI-generated prototypes and enterprise-ready applications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For Product Owners, the opportunity is not faster code alone — it is a faster path to a governed, measurable business outcome.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94944" y="1938528"/>
            <a:ext cx="2286000" cy="3401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C9F3F0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41832" y="2240280"/>
            <a:ext cx="566928" cy="566928"/>
          </a:xfrm>
          <a:prstGeom prst="ellipse">
            <a:avLst/>
          </a:prstGeom>
          <a:solidFill>
            <a:srgbClr val="C9F3F0"/>
          </a:solidFill>
          <a:ln w="12700">
            <a:solidFill>
              <a:srgbClr val="C9F3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556" y="2365004"/>
            <a:ext cx="317480" cy="3174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941832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1162A"/>
                </a:solidFill>
              </a:rPr>
              <a:t>Rayfin</a:t>
            </a:r>
            <a:endParaRPr lang="en-US" sz="1750" dirty="0"/>
          </a:p>
        </p:txBody>
      </p:sp>
      <p:sp>
        <p:nvSpPr>
          <p:cNvPr id="17" name="Text 14"/>
          <p:cNvSpPr/>
          <p:nvPr/>
        </p:nvSpPr>
        <p:spPr>
          <a:xfrm>
            <a:off x="941832" y="3657600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667085"/>
                </a:solidFill>
              </a:rPr>
              <a:t>Open-source SDK + CLI to define data models, access policies, backend services and deployment in code.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3538728" y="1938528"/>
            <a:ext cx="2286000" cy="3401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8E3FF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3785616" y="2240280"/>
            <a:ext cx="566928" cy="566928"/>
          </a:xfrm>
          <a:prstGeom prst="ellipse">
            <a:avLst/>
          </a:prstGeom>
          <a:solidFill>
            <a:srgbClr val="E8E3FF"/>
          </a:solidFill>
          <a:ln w="12700">
            <a:solidFill>
              <a:srgbClr val="E8E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0340" y="2365004"/>
            <a:ext cx="317480" cy="31748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85616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1162A"/>
                </a:solidFill>
              </a:rPr>
              <a:t>Fabric Apps</a:t>
            </a:r>
            <a:endParaRPr lang="en-US" sz="1750" dirty="0"/>
          </a:p>
        </p:txBody>
      </p:sp>
      <p:sp>
        <p:nvSpPr>
          <p:cNvPr id="22" name="Text 18"/>
          <p:cNvSpPr/>
          <p:nvPr/>
        </p:nvSpPr>
        <p:spPr>
          <a:xfrm>
            <a:off x="3785616" y="3657600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667085"/>
                </a:solidFill>
              </a:rPr>
              <a:t>The managed Fabric product: application backend, identity, APIs, hosting and Fabric integration.</a:t>
            </a:r>
            <a:endParaRPr lang="en-US" sz="1120" dirty="0"/>
          </a:p>
        </p:txBody>
      </p:sp>
      <p:sp>
        <p:nvSpPr>
          <p:cNvPr id="23" name="Shape 19"/>
          <p:cNvSpPr/>
          <p:nvPr/>
        </p:nvSpPr>
        <p:spPr>
          <a:xfrm>
            <a:off x="6382512" y="1938528"/>
            <a:ext cx="2286000" cy="3401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F8DDEB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0"/>
          <p:cNvSpPr/>
          <p:nvPr/>
        </p:nvSpPr>
        <p:spPr>
          <a:xfrm>
            <a:off x="6629400" y="2240280"/>
            <a:ext cx="566928" cy="566928"/>
          </a:xfrm>
          <a:prstGeom prst="ellipse">
            <a:avLst/>
          </a:prstGeom>
          <a:solidFill>
            <a:srgbClr val="F8DDEB"/>
          </a:solidFill>
          <a:ln w="12700">
            <a:solidFill>
              <a:srgbClr val="F8DD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124" y="2365004"/>
            <a:ext cx="317480" cy="31748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629400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1162A"/>
                </a:solidFill>
              </a:rPr>
              <a:t>Business outcome</a:t>
            </a:r>
            <a:endParaRPr lang="en-US" sz="1750" dirty="0"/>
          </a:p>
        </p:txBody>
      </p:sp>
      <p:sp>
        <p:nvSpPr>
          <p:cNvPr id="27" name="Text 22"/>
          <p:cNvSpPr/>
          <p:nvPr/>
        </p:nvSpPr>
        <p:spPr>
          <a:xfrm>
            <a:off x="6629400" y="3657600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667085"/>
                </a:solidFill>
              </a:rPr>
              <a:t>Move beyond dashboards into workflows where users can understand, decide, act and write back.</a:t>
            </a:r>
            <a:endParaRPr lang="en-US" sz="1120" dirty="0"/>
          </a:p>
        </p:txBody>
      </p:sp>
      <p:sp>
        <p:nvSpPr>
          <p:cNvPr id="28" name="Shape 23"/>
          <p:cNvSpPr/>
          <p:nvPr/>
        </p:nvSpPr>
        <p:spPr>
          <a:xfrm>
            <a:off x="9226296" y="1938528"/>
            <a:ext cx="2286000" cy="3401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AF5DA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9" name="Shape 24"/>
          <p:cNvSpPr/>
          <p:nvPr/>
        </p:nvSpPr>
        <p:spPr>
          <a:xfrm>
            <a:off x="9473184" y="2240280"/>
            <a:ext cx="566928" cy="566928"/>
          </a:xfrm>
          <a:prstGeom prst="ellipse">
            <a:avLst/>
          </a:prstGeom>
          <a:solidFill>
            <a:srgbClr val="EAF5DA"/>
          </a:solidFill>
          <a:ln w="12700">
            <a:solidFill>
              <a:srgbClr val="EAF5D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7908" y="2365004"/>
            <a:ext cx="317480" cy="31748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473184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11162A"/>
                </a:solidFill>
              </a:rPr>
              <a:t>Responsible preview</a:t>
            </a:r>
            <a:endParaRPr lang="en-US" sz="1750" dirty="0"/>
          </a:p>
        </p:txBody>
      </p:sp>
      <p:sp>
        <p:nvSpPr>
          <p:cNvPr id="32" name="Text 26"/>
          <p:cNvSpPr/>
          <p:nvPr/>
        </p:nvSpPr>
        <p:spPr>
          <a:xfrm>
            <a:off x="9473184" y="3657600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667085"/>
                </a:solidFill>
              </a:rPr>
              <a:t>Start with bounded internal use cases; validate region, capacity, permissions and current feature availability.</a:t>
            </a:r>
            <a:endParaRPr lang="en-US" sz="1120" dirty="0"/>
          </a:p>
        </p:txBody>
      </p:sp>
      <p:sp>
        <p:nvSpPr>
          <p:cNvPr id="33" name="Shape 27"/>
          <p:cNvSpPr/>
          <p:nvPr/>
        </p:nvSpPr>
        <p:spPr>
          <a:xfrm>
            <a:off x="1060704" y="5650992"/>
            <a:ext cx="10040112" cy="493776"/>
          </a:xfrm>
          <a:prstGeom prst="roundRect">
            <a:avLst>
              <a:gd name="adj" fmla="val 14815"/>
            </a:avLst>
          </a:prstGeom>
          <a:solidFill>
            <a:srgbClr val="080D1D"/>
          </a:solidFill>
          <a:ln w="12700">
            <a:solidFill>
              <a:srgbClr val="080D1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28"/>
          <p:cNvSpPr/>
          <p:nvPr/>
        </p:nvSpPr>
        <p:spPr>
          <a:xfrm>
            <a:off x="1353312" y="5806440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kern="0" spc="90" dirty="0">
                <a:solidFill>
                  <a:srgbClr val="7DE0DA"/>
                </a:solidFill>
              </a:rPr>
              <a:t>Product Owner question</a:t>
            </a:r>
            <a:endParaRPr lang="en-US" sz="880" dirty="0"/>
          </a:p>
        </p:txBody>
      </p:sp>
      <p:sp>
        <p:nvSpPr>
          <p:cNvPr id="35" name="Text 29"/>
          <p:cNvSpPr/>
          <p:nvPr/>
        </p:nvSpPr>
        <p:spPr>
          <a:xfrm>
            <a:off x="2962656" y="5751576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FFFFFF"/>
                </a:solidFill>
              </a:rPr>
              <a:t>Which high-friction workflow deserves an application — not another report?</a:t>
            </a:r>
            <a:endParaRPr lang="en-US" sz="1420" dirty="0"/>
          </a:p>
        </p:txBody>
      </p:sp>
      <p:sp>
        <p:nvSpPr>
          <p:cNvPr id="36" name="Shape 30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1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Public positioning validated against Microsoft Learn and the Microsoft Build 2026 Rayfin announcement.</a:t>
            </a:r>
            <a:endParaRPr lang="en-US" sz="710" dirty="0"/>
          </a:p>
        </p:txBody>
      </p:sp>
      <p:sp>
        <p:nvSpPr>
          <p:cNvPr id="38" name="Text 32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2</a:t>
            </a:r>
            <a:endParaRPr lang="en-US" sz="7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2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0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SESSION MAP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Five acts — from market shift to a responsible product pilot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Designed for a 35–45 minute business and product conversation.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7512" y="1965960"/>
            <a:ext cx="2048256" cy="332841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0160">
            <a:solidFill>
              <a:srgbClr val="C9F3F0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96112" y="2240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</a:rPr>
              <a:t>01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96112" y="2798064"/>
            <a:ext cx="1554480" cy="7315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96112" y="320040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11162A"/>
                </a:solidFill>
              </a:rPr>
              <a:t>WHY NOW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896112" y="404164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667085"/>
                </a:solidFill>
              </a:rPr>
              <a:t>The prototype-to-production gap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2770632" y="3639312"/>
            <a:ext cx="128016" cy="0"/>
          </a:xfrm>
          <a:prstGeom prst="line">
            <a:avLst/>
          </a:prstGeom>
          <a:noFill/>
          <a:ln w="25400">
            <a:solidFill>
              <a:srgbClr val="B6BEC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962656" y="1965960"/>
            <a:ext cx="2048256" cy="332841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0160">
            <a:solidFill>
              <a:srgbClr val="E8E3FF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191256" y="2240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4EFF"/>
                </a:solidFill>
              </a:rPr>
              <a:t>02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191256" y="2798064"/>
            <a:ext cx="1554480" cy="73152"/>
          </a:xfrm>
          <a:prstGeom prst="rect">
            <a:avLst/>
          </a:prstGeom>
          <a:solidFill>
            <a:srgbClr val="6B4EFF"/>
          </a:solidFill>
          <a:ln w="12700">
            <a:solidFill>
              <a:srgbClr val="6B4E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191256" y="320040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11162A"/>
                </a:solidFill>
              </a:rPr>
              <a:t>RAYFIN + FABRIC APPS</a:t>
            </a:r>
            <a:endParaRPr lang="en-US" sz="1420" dirty="0"/>
          </a:p>
        </p:txBody>
      </p:sp>
      <p:sp>
        <p:nvSpPr>
          <p:cNvPr id="23" name="Text 21"/>
          <p:cNvSpPr/>
          <p:nvPr/>
        </p:nvSpPr>
        <p:spPr>
          <a:xfrm>
            <a:off x="3191256" y="404164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667085"/>
                </a:solidFill>
              </a:rPr>
              <a:t>Product model and managed backend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5065776" y="3639312"/>
            <a:ext cx="128016" cy="0"/>
          </a:xfrm>
          <a:prstGeom prst="line">
            <a:avLst/>
          </a:prstGeom>
          <a:noFill/>
          <a:ln w="25400">
            <a:solidFill>
              <a:srgbClr val="B6BEC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257800" y="1965960"/>
            <a:ext cx="2048256" cy="332841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0160">
            <a:solidFill>
              <a:srgbClr val="F8DDEB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5486400" y="2240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83B8C"/>
                </a:solidFill>
              </a:rPr>
              <a:t>03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486400" y="2798064"/>
            <a:ext cx="1554480" cy="73152"/>
          </a:xfrm>
          <a:prstGeom prst="rect">
            <a:avLst/>
          </a:prstGeom>
          <a:solidFill>
            <a:srgbClr val="D83B8C"/>
          </a:solidFill>
          <a:ln w="12700">
            <a:solidFill>
              <a:srgbClr val="D83B8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486400" y="320040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11162A"/>
                </a:solidFill>
              </a:rPr>
              <a:t>HOW IT WORKS</a:t>
            </a:r>
            <a:endParaRPr lang="en-US" sz="1420" dirty="0"/>
          </a:p>
        </p:txBody>
      </p:sp>
      <p:sp>
        <p:nvSpPr>
          <p:cNvPr id="29" name="Text 27"/>
          <p:cNvSpPr/>
          <p:nvPr/>
        </p:nvSpPr>
        <p:spPr>
          <a:xfrm>
            <a:off x="5486400" y="404164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667085"/>
                </a:solidFill>
              </a:rPr>
              <a:t>Builder journey, APIs, identity and lifecycle</a:t>
            </a:r>
            <a:endParaRPr lang="en-US" sz="1070" dirty="0"/>
          </a:p>
        </p:txBody>
      </p:sp>
      <p:sp>
        <p:nvSpPr>
          <p:cNvPr id="30" name="Shape 28"/>
          <p:cNvSpPr/>
          <p:nvPr/>
        </p:nvSpPr>
        <p:spPr>
          <a:xfrm>
            <a:off x="7360920" y="3639312"/>
            <a:ext cx="128016" cy="0"/>
          </a:xfrm>
          <a:prstGeom prst="line">
            <a:avLst/>
          </a:prstGeom>
          <a:noFill/>
          <a:ln w="25400">
            <a:solidFill>
              <a:srgbClr val="B6BEC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552944" y="1965960"/>
            <a:ext cx="2048256" cy="332841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0160">
            <a:solidFill>
              <a:srgbClr val="EAF5DA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7781544" y="2240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5C441"/>
                </a:solidFill>
              </a:rPr>
              <a:t>04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781544" y="2798064"/>
            <a:ext cx="1554480" cy="73152"/>
          </a:xfrm>
          <a:prstGeom prst="rect">
            <a:avLst/>
          </a:prstGeom>
          <a:solidFill>
            <a:srgbClr val="85C441"/>
          </a:solidFill>
          <a:ln w="12700">
            <a:solidFill>
              <a:srgbClr val="85C44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7781544" y="320040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11162A"/>
                </a:solidFill>
              </a:rPr>
              <a:t>BUSINESS PRODUCT</a:t>
            </a:r>
            <a:endParaRPr lang="en-US" sz="1420" dirty="0"/>
          </a:p>
        </p:txBody>
      </p:sp>
      <p:sp>
        <p:nvSpPr>
          <p:cNvPr id="35" name="Text 33"/>
          <p:cNvSpPr/>
          <p:nvPr/>
        </p:nvSpPr>
        <p:spPr>
          <a:xfrm>
            <a:off x="7781544" y="404164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667085"/>
                </a:solidFill>
              </a:rPr>
              <a:t>Use cases, fit, economics and PO decisions</a:t>
            </a:r>
            <a:endParaRPr lang="en-US" sz="1070" dirty="0"/>
          </a:p>
        </p:txBody>
      </p:sp>
      <p:sp>
        <p:nvSpPr>
          <p:cNvPr id="36" name="Shape 34"/>
          <p:cNvSpPr/>
          <p:nvPr/>
        </p:nvSpPr>
        <p:spPr>
          <a:xfrm>
            <a:off x="9656064" y="3639312"/>
            <a:ext cx="128016" cy="0"/>
          </a:xfrm>
          <a:prstGeom prst="line">
            <a:avLst/>
          </a:prstGeom>
          <a:noFill/>
          <a:ln w="25400">
            <a:solidFill>
              <a:srgbClr val="B6BECE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848088" y="1965960"/>
            <a:ext cx="2048256" cy="332841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0160">
            <a:solidFill>
              <a:srgbClr val="FFF0D5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10076688" y="2240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</a:rPr>
              <a:t>05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0076688" y="2798064"/>
            <a:ext cx="155448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10076688" y="3200400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11162A"/>
                </a:solidFill>
              </a:rPr>
              <a:t>READINESS &amp; SCALE</a:t>
            </a:r>
            <a:endParaRPr lang="en-US" sz="1420" dirty="0"/>
          </a:p>
        </p:txBody>
      </p:sp>
      <p:sp>
        <p:nvSpPr>
          <p:cNvPr id="41" name="Text 39"/>
          <p:cNvSpPr/>
          <p:nvPr/>
        </p:nvSpPr>
        <p:spPr>
          <a:xfrm>
            <a:off x="10076688" y="404164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667085"/>
                </a:solidFill>
              </a:rPr>
              <a:t>Governance, preview guardrails and 90-day plan</a:t>
            </a:r>
            <a:endParaRPr lang="en-US" sz="1070" dirty="0"/>
          </a:p>
        </p:txBody>
      </p:sp>
      <p:sp>
        <p:nvSpPr>
          <p:cNvPr id="42" name="Shape 40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The source decks contain detailed technical material; this version keeps that depth and adds a Product Owner narrative.</a:t>
            </a:r>
            <a:endParaRPr lang="en-US" sz="710" dirty="0"/>
          </a:p>
        </p:txBody>
      </p:sp>
      <p:sp>
        <p:nvSpPr>
          <p:cNvPr id="44" name="Text 42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3</a:t>
            </a:r>
            <a:endParaRPr lang="en-US" sz="7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3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8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58368" y="69494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DE0DA"/>
                </a:solidFill>
              </a:rPr>
              <a:t>ACT 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8368" y="14173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</a:rPr>
              <a:t>Why now</a:t>
            </a:r>
            <a:endParaRPr lang="en-US" sz="3500" dirty="0"/>
          </a:p>
        </p:txBody>
      </p:sp>
      <p:sp>
        <p:nvSpPr>
          <p:cNvPr id="12" name="Text 10"/>
          <p:cNvSpPr/>
          <p:nvPr/>
        </p:nvSpPr>
        <p:spPr>
          <a:xfrm>
            <a:off x="676656" y="274320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AAB3C9"/>
                </a:solidFill>
              </a:rPr>
              <a:t>Coding agents make application creation faster. Enterprise production is still constrained by data, identity, compliance and operations.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522208" y="1874520"/>
            <a:ext cx="2148840" cy="2148840"/>
          </a:xfrm>
          <a:prstGeom prst="ellipse">
            <a:avLst/>
          </a:prstGeom>
          <a:solidFill>
            <a:srgbClr val="00A6A6">
              <a:alpha val="22000"/>
            </a:srgbClr>
          </a:solidFill>
          <a:ln w="15240">
            <a:solidFill>
              <a:srgbClr val="00A6A6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8" y="2514600"/>
            <a:ext cx="868680" cy="8686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266176" y="44439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kern="0" spc="110" dirty="0">
                <a:solidFill>
                  <a:srgbClr val="00A6A6"/>
                </a:solidFill>
              </a:rPr>
              <a:t>MICROSOFT FABRIC APPS</a:t>
            </a:r>
            <a:endParaRPr lang="en-US" sz="940" dirty="0"/>
          </a:p>
        </p:txBody>
      </p:sp>
      <p:pic>
        <p:nvPicPr>
          <p:cNvPr id="16" name="Image 1" descr="Rayfin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4892040"/>
            <a:ext cx="1920240" cy="685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30395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A4ADC3"/>
                </a:solidFill>
              </a:rPr>
              <a:t>Fabric Apps is the managed product. Rayfin is the open-source SDK and CLI used to build it.</a:t>
            </a:r>
            <a:endParaRPr lang="en-US" sz="770" dirty="0"/>
          </a:p>
        </p:txBody>
      </p:sp>
      <p:sp>
        <p:nvSpPr>
          <p:cNvPr id="19" name="Text 15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929BB7"/>
                </a:solidFill>
              </a:rPr>
              <a:t>4</a:t>
            </a:r>
            <a:endParaRPr lang="en-US" sz="7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K225 — Build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BRK225 — BUILD 2026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Coding agents can produce compelling application experiences in minutes.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5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K225 — Build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BRK225 — BUILD 2026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The difficult step is no longer the demo — it is the move from vibe to production.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6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K225 — Build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BRK225 — BUILD 2026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Enterprise applications must satisfy developers, IT administrators, security and auditors.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7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658368" y="2980944"/>
            <a:ext cx="2587752" cy="43891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68096" y="309981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FFFFFF"/>
                </a:solidFill>
              </a:rPr>
              <a:t>Stand up a database</a:t>
            </a:r>
            <a:endParaRPr lang="en-US" sz="153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2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0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PRODUCT OWNER LENS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The shift is from funding application plumbing to managing a product outcome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Rayfin reduces backend assembly. It does not remove product ownership, risk ownership or operational accountability.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94944" y="1993392"/>
            <a:ext cx="3182112" cy="3438144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10160">
            <a:solidFill>
              <a:srgbClr val="C9F3F0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78408" y="2322576"/>
            <a:ext cx="548640" cy="548640"/>
          </a:xfrm>
          <a:prstGeom prst="ellipse">
            <a:avLst/>
          </a:prstGeom>
          <a:solidFill>
            <a:srgbClr val="C9F3F0"/>
          </a:solidFill>
          <a:ln w="12700">
            <a:solidFill>
              <a:srgbClr val="C9F3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09" y="2443277"/>
            <a:ext cx="307238" cy="30723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682496" y="2459736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A6A6"/>
                </a:solidFill>
              </a:rPr>
              <a:t>DEFINE</a:t>
            </a:r>
            <a:endParaRPr lang="en-US" sz="135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3246120"/>
            <a:ext cx="164592" cy="16459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316736" y="32004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Outcome and user journey</a:t>
            </a:r>
            <a:endParaRPr lang="en-US" sz="11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3776472"/>
            <a:ext cx="164592" cy="16459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16736" y="37307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Decision and action model</a:t>
            </a:r>
            <a:endParaRPr lang="en-US" sz="11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06824"/>
            <a:ext cx="164592" cy="16459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1673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Success metrics and baseline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142232" y="1993392"/>
            <a:ext cx="3182112" cy="3438144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10160">
            <a:solidFill>
              <a:srgbClr val="E8E3FF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18"/>
          <p:cNvSpPr/>
          <p:nvPr/>
        </p:nvSpPr>
        <p:spPr>
          <a:xfrm>
            <a:off x="4425696" y="2322576"/>
            <a:ext cx="548640" cy="548640"/>
          </a:xfrm>
          <a:prstGeom prst="ellipse">
            <a:avLst/>
          </a:prstGeom>
          <a:solidFill>
            <a:srgbClr val="E8E3FF"/>
          </a:solidFill>
          <a:ln w="12700">
            <a:solidFill>
              <a:srgbClr val="E8E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397" y="2443277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129784" y="2459736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4EFF"/>
                </a:solidFill>
              </a:rPr>
              <a:t>PROVE</a:t>
            </a:r>
            <a:endParaRPr lang="en-US" sz="135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3246120"/>
            <a:ext cx="164592" cy="16459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764024" y="32004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Real users and real Fabric data</a:t>
            </a:r>
            <a:endParaRPr lang="en-US" sz="11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3776472"/>
            <a:ext cx="164592" cy="164592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764024" y="37307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Permission and performance tests</a:t>
            </a:r>
            <a:endParaRPr lang="en-US" sz="11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4306824"/>
            <a:ext cx="164592" cy="164592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476402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Measured workflow improvement</a:t>
            </a:r>
            <a:endParaRPr lang="en-US" sz="1100" dirty="0"/>
          </a:p>
        </p:txBody>
      </p:sp>
      <p:sp>
        <p:nvSpPr>
          <p:cNvPr id="33" name="Shape 23"/>
          <p:cNvSpPr/>
          <p:nvPr/>
        </p:nvSpPr>
        <p:spPr>
          <a:xfrm>
            <a:off x="7589520" y="1993392"/>
            <a:ext cx="3182112" cy="3438144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10160">
            <a:solidFill>
              <a:srgbClr val="F8DDEB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4" name="Shape 24"/>
          <p:cNvSpPr/>
          <p:nvPr/>
        </p:nvSpPr>
        <p:spPr>
          <a:xfrm>
            <a:off x="7872984" y="2322576"/>
            <a:ext cx="548640" cy="548640"/>
          </a:xfrm>
          <a:prstGeom prst="ellipse">
            <a:avLst/>
          </a:prstGeom>
          <a:solidFill>
            <a:srgbClr val="F8DDEB"/>
          </a:solidFill>
          <a:ln w="12700">
            <a:solidFill>
              <a:srgbClr val="F8DD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3685" y="2443277"/>
            <a:ext cx="307238" cy="307238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8577072" y="2459736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83B8C"/>
                </a:solidFill>
              </a:rPr>
              <a:t>OPERATE</a:t>
            </a:r>
            <a:endParaRPr lang="en-US" sz="1350" dirty="0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9560" y="3246120"/>
            <a:ext cx="164592" cy="164592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8211312" y="32004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Owner, support and runbook</a:t>
            </a:r>
            <a:endParaRPr lang="en-US" sz="1100" dirty="0"/>
          </a:p>
        </p:txBody>
      </p:sp>
      <p:pic>
        <p:nvPicPr>
          <p:cNvPr id="39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9560" y="3776472"/>
            <a:ext cx="164592" cy="164592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8211312" y="37307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Capacity and usage monitoring</a:t>
            </a:r>
            <a:endParaRPr lang="en-US" sz="1100" dirty="0"/>
          </a:p>
        </p:txBody>
      </p:sp>
      <p:pic>
        <p:nvPicPr>
          <p:cNvPr id="4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9560" y="4306824"/>
            <a:ext cx="164592" cy="164592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8211312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Compliance and lifecycle decisions</a:t>
            </a:r>
            <a:endParaRPr lang="en-US" sz="1100" dirty="0"/>
          </a:p>
        </p:txBody>
      </p:sp>
      <p:sp>
        <p:nvSpPr>
          <p:cNvPr id="43" name="Shape 29"/>
          <p:cNvSpPr/>
          <p:nvPr/>
        </p:nvSpPr>
        <p:spPr>
          <a:xfrm>
            <a:off x="1874520" y="5833872"/>
            <a:ext cx="8412480" cy="274320"/>
          </a:xfrm>
          <a:prstGeom prst="roundRect">
            <a:avLst>
              <a:gd name="adj" fmla="val 26667"/>
            </a:avLst>
          </a:prstGeom>
          <a:solidFill>
            <a:srgbClr val="C43D4B"/>
          </a:solidFill>
          <a:ln w="12700">
            <a:solidFill>
              <a:srgbClr val="C43D4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30"/>
          <p:cNvSpPr/>
          <p:nvPr/>
        </p:nvSpPr>
        <p:spPr>
          <a:xfrm>
            <a:off x="1874520" y="5902452"/>
            <a:ext cx="8412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The Product Owner remains accountable for what the application enables users to see and do.</a:t>
            </a:r>
            <a:endParaRPr lang="en-US" sz="850" dirty="0"/>
          </a:p>
        </p:txBody>
      </p:sp>
      <p:sp>
        <p:nvSpPr>
          <p:cNvPr id="45" name="Shape 31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32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Rayfin automates infrastructure patterns; the product team still owns value, quality, safety and adoption.</a:t>
            </a:r>
            <a:endParaRPr lang="en-US" sz="710" dirty="0"/>
          </a:p>
        </p:txBody>
      </p:sp>
      <p:sp>
        <p:nvSpPr>
          <p:cNvPr id="47" name="Text 33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8</a:t>
            </a:r>
            <a:endParaRPr lang="en-US" sz="7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3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8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58368" y="69494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DE0DA"/>
                </a:solidFill>
              </a:rPr>
              <a:t>ACT 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8368" y="14173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</a:rPr>
              <a:t>Rayfin and Fabric Apps</a:t>
            </a:r>
            <a:endParaRPr lang="en-US" sz="3500" dirty="0"/>
          </a:p>
        </p:txBody>
      </p:sp>
      <p:sp>
        <p:nvSpPr>
          <p:cNvPr id="12" name="Text 10"/>
          <p:cNvSpPr/>
          <p:nvPr/>
        </p:nvSpPr>
        <p:spPr>
          <a:xfrm>
            <a:off x="676656" y="274320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AAB3C9"/>
                </a:solidFill>
              </a:rPr>
              <a:t>Rayfin is the open-source toolkit. Fabric Apps is the managed product deployed and shared inside Microsoft Fabric.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522208" y="1874520"/>
            <a:ext cx="2148840" cy="2148840"/>
          </a:xfrm>
          <a:prstGeom prst="ellipse">
            <a:avLst/>
          </a:prstGeom>
          <a:solidFill>
            <a:srgbClr val="6B4EFF">
              <a:alpha val="22000"/>
            </a:srgbClr>
          </a:solidFill>
          <a:ln w="15240">
            <a:solidFill>
              <a:srgbClr val="6B4E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8" y="2514600"/>
            <a:ext cx="868680" cy="8686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266176" y="44439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kern="0" spc="110" dirty="0">
                <a:solidFill>
                  <a:srgbClr val="6B4EFF"/>
                </a:solidFill>
              </a:rPr>
              <a:t>MICROSOFT FABRIC APPS</a:t>
            </a:r>
            <a:endParaRPr lang="en-US" sz="940" dirty="0"/>
          </a:p>
        </p:txBody>
      </p:sp>
      <p:pic>
        <p:nvPicPr>
          <p:cNvPr id="16" name="Image 1" descr="Rayfin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4892040"/>
            <a:ext cx="1920240" cy="685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30395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A4ADC3"/>
                </a:solidFill>
              </a:rPr>
              <a:t>Fabric Apps is the managed product. Rayfin is the open-source SDK and CLI used to build it.</a:t>
            </a:r>
            <a:endParaRPr lang="en-US" sz="770" dirty="0"/>
          </a:p>
        </p:txBody>
      </p:sp>
      <p:sp>
        <p:nvSpPr>
          <p:cNvPr id="19" name="Text 15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929BB7"/>
                </a:solidFill>
              </a:rPr>
              <a:t>9</a:t>
            </a:r>
            <a:endParaRPr lang="en-US" sz="7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K225 — Build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BRK225 — BUILD 2026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An agent authors the backend through the Rayfin CDK and CLI, then deploys it to Microsoft Fabric.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Use Rayfin to build a Fabric App: toolkit versus managed product.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11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Managed backend, existing or app-owned data, one-command deployment and Fabric sharing.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12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RAYFIN IN ONE SENTENCE</a:t>
            </a:r>
            <a:endParaRPr lang="en-US" sz="930" dirty="0"/>
          </a:p>
        </p:txBody>
      </p:sp>
      <p:sp>
        <p:nvSpPr>
          <p:cNvPr id="5" name="Text 3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Describe the backend in code. Deploy the application backend directly to Fabric.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The product model is intentionally simple: code and configuration are the source of truth; Fabric runs the managed services.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" y="1947672"/>
            <a:ext cx="3063240" cy="3438144"/>
          </a:xfrm>
          <a:prstGeom prst="roundRect">
            <a:avLst>
              <a:gd name="adj" fmla="val 2985"/>
            </a:avLst>
          </a:prstGeom>
          <a:solidFill>
            <a:srgbClr val="F6FFFD"/>
          </a:solidFill>
          <a:ln w="10160">
            <a:solidFill>
              <a:srgbClr val="C9F3F0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87552" y="2267712"/>
            <a:ext cx="585216" cy="585216"/>
          </a:xfrm>
          <a:prstGeom prst="ellipse">
            <a:avLst/>
          </a:prstGeom>
          <a:solidFill>
            <a:srgbClr val="C9F3F0"/>
          </a:solidFill>
          <a:ln w="12700">
            <a:solidFill>
              <a:srgbClr val="C9F3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0" y="2396460"/>
            <a:ext cx="327721" cy="32772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37360" y="244144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6A6"/>
                </a:solidFill>
              </a:rPr>
              <a:t>RAYFIN TOOLKIT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87552" y="3154680"/>
            <a:ext cx="224028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B334B"/>
                </a:solidFill>
              </a:rPr>
              <a:t>TypeScript models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334B"/>
                </a:solidFill>
              </a:rPr>
              <a:t>Access policies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334B"/>
                </a:solidFill>
              </a:rPr>
              <a:t>rayfin.yml configuration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334B"/>
                </a:solidFill>
              </a:rPr>
              <a:t>CLI deployment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87552" y="47548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create @microsoft/rayfin@latest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959352" y="3621024"/>
            <a:ext cx="594360" cy="0"/>
          </a:xfrm>
          <a:prstGeom prst="line">
            <a:avLst/>
          </a:prstGeom>
          <a:noFill/>
          <a:ln w="25400">
            <a:solidFill>
              <a:srgbClr val="6B4EFF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4736592" y="1947672"/>
            <a:ext cx="3063240" cy="3438144"/>
          </a:xfrm>
          <a:prstGeom prst="roundRect">
            <a:avLst>
              <a:gd name="adj" fmla="val 2985"/>
            </a:avLst>
          </a:prstGeom>
          <a:solidFill>
            <a:srgbClr val="F8F6FF"/>
          </a:solidFill>
          <a:ln w="10160">
            <a:solidFill>
              <a:srgbClr val="E8E3FF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5029200" y="2267712"/>
            <a:ext cx="585216" cy="585216"/>
          </a:xfrm>
          <a:prstGeom prst="ellipse">
            <a:avLst/>
          </a:prstGeom>
          <a:solidFill>
            <a:srgbClr val="E8E3FF"/>
          </a:solidFill>
          <a:ln w="12700">
            <a:solidFill>
              <a:srgbClr val="E8E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948" y="2396460"/>
            <a:ext cx="327721" cy="32772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779008" y="2441448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4EFF"/>
                </a:solidFill>
              </a:rPr>
              <a:t>FABRIC APP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029200" y="3154680"/>
            <a:ext cx="224028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B334B"/>
                </a:solidFill>
              </a:rPr>
              <a:t>Managed SQL database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334B"/>
                </a:solidFill>
              </a:rPr>
              <a:t>Generated GraphQL APIs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334B"/>
                </a:solidFill>
              </a:rPr>
              <a:t>Authentication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334B"/>
                </a:solidFill>
              </a:rPr>
              <a:t>Static hosting and endpoint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0" y="47548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4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rayfin up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8001000" y="3621024"/>
            <a:ext cx="594360" cy="0"/>
          </a:xfrm>
          <a:prstGeom prst="line">
            <a:avLst/>
          </a:prstGeom>
          <a:noFill/>
          <a:ln w="25400">
            <a:solidFill>
              <a:srgbClr val="D83B8C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7"/>
          <p:cNvSpPr/>
          <p:nvPr/>
        </p:nvSpPr>
        <p:spPr>
          <a:xfrm>
            <a:off x="8778240" y="1947672"/>
            <a:ext cx="2724912" cy="3438144"/>
          </a:xfrm>
          <a:prstGeom prst="roundRect">
            <a:avLst>
              <a:gd name="adj" fmla="val 3356"/>
            </a:avLst>
          </a:prstGeom>
          <a:solidFill>
            <a:srgbClr val="FFF8FB"/>
          </a:solidFill>
          <a:ln w="10160">
            <a:solidFill>
              <a:srgbClr val="F8DDEB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18"/>
          <p:cNvSpPr/>
          <p:nvPr/>
        </p:nvSpPr>
        <p:spPr>
          <a:xfrm>
            <a:off x="9070848" y="2267712"/>
            <a:ext cx="585216" cy="585216"/>
          </a:xfrm>
          <a:prstGeom prst="ellipse">
            <a:avLst/>
          </a:prstGeom>
          <a:solidFill>
            <a:srgbClr val="F8DDEB"/>
          </a:solidFill>
          <a:ln w="12700">
            <a:solidFill>
              <a:srgbClr val="F8DD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9596" y="2396460"/>
            <a:ext cx="327721" cy="32772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9820656" y="2441448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83B8C"/>
                </a:solidFill>
              </a:rPr>
              <a:t>FABRIC PLATFORM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9070848" y="3154680"/>
            <a:ext cx="2057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B334B"/>
                </a:solidFill>
              </a:rPr>
              <a:t>Fabric capacity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B334B"/>
                </a:solidFill>
              </a:rPr>
              <a:t>Microsoft Entra identity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B334B"/>
                </a:solidFill>
              </a:rPr>
              <a:t>Workspace and item permissions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2B334B"/>
                </a:solidFill>
              </a:rPr>
              <a:t>Governance and OneLake context</a:t>
            </a:r>
            <a:endParaRPr lang="en-US" sz="1220" dirty="0"/>
          </a:p>
        </p:txBody>
      </p:sp>
      <p:sp>
        <p:nvSpPr>
          <p:cNvPr id="26" name="Text 21"/>
          <p:cNvSpPr/>
          <p:nvPr/>
        </p:nvSpPr>
        <p:spPr>
          <a:xfrm>
            <a:off x="9070848" y="475488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83B8C"/>
                </a:solidFill>
              </a:rPr>
              <a:t>Managed in the customer tenant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3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Sources: Microsoft Learn Fabric Apps overview; GitHub microsoft/rayfin.</a:t>
            </a:r>
            <a:endParaRPr lang="en-US" sz="710" dirty="0"/>
          </a:p>
        </p:txBody>
      </p:sp>
      <p:sp>
        <p:nvSpPr>
          <p:cNvPr id="29" name="Text 24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13</a:t>
            </a:r>
            <a:endParaRPr lang="en-US" sz="71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5A3600">
              <a:alpha val="96000"/>
            </a:srgbClr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FFD691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Every Fabric App combines managed services: data, identity, hosting, storage, functions and control plane.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14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Fabric Apps is the managed middle layer between builders, Fabric services and business data.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15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3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8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58368" y="69494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DE0DA"/>
                </a:solidFill>
              </a:rPr>
              <a:t>ACT 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8368" y="14173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</a:rPr>
              <a:t>How builders use Rayfin</a:t>
            </a:r>
            <a:endParaRPr lang="en-US" sz="3500" dirty="0"/>
          </a:p>
        </p:txBody>
      </p:sp>
      <p:sp>
        <p:nvSpPr>
          <p:cNvPr id="12" name="Text 10"/>
          <p:cNvSpPr/>
          <p:nvPr/>
        </p:nvSpPr>
        <p:spPr>
          <a:xfrm>
            <a:off x="676656" y="274320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AAB3C9"/>
                </a:solidFill>
              </a:rPr>
              <a:t>A guided path from data and intent to a deployed Fabric application — with generated APIs, explicit identity and code-driven lifecycle.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522208" y="1874520"/>
            <a:ext cx="2148840" cy="2148840"/>
          </a:xfrm>
          <a:prstGeom prst="ellipse">
            <a:avLst/>
          </a:prstGeom>
          <a:solidFill>
            <a:srgbClr val="D83B8C">
              <a:alpha val="22000"/>
            </a:srgbClr>
          </a:solidFill>
          <a:ln w="15240">
            <a:solidFill>
              <a:srgbClr val="D83B8C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8" y="2514600"/>
            <a:ext cx="868680" cy="8686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266176" y="44439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kern="0" spc="110" dirty="0">
                <a:solidFill>
                  <a:srgbClr val="D83B8C"/>
                </a:solidFill>
              </a:rPr>
              <a:t>MICROSOFT FABRIC APPS</a:t>
            </a:r>
            <a:endParaRPr lang="en-US" sz="940" dirty="0"/>
          </a:p>
        </p:txBody>
      </p:sp>
      <p:pic>
        <p:nvPicPr>
          <p:cNvPr id="16" name="Image 1" descr="Rayfin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4892040"/>
            <a:ext cx="1920240" cy="685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30395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A4ADC3"/>
                </a:solidFill>
              </a:rPr>
              <a:t>Fabric Apps is the managed product. Rayfin is the open-source SDK and CLI used to build it.</a:t>
            </a:r>
            <a:endParaRPr lang="en-US" sz="770" dirty="0"/>
          </a:p>
        </p:txBody>
      </p:sp>
      <p:sp>
        <p:nvSpPr>
          <p:cNvPr id="19" name="Text 15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929BB7"/>
                </a:solidFill>
              </a:rPr>
              <a:t>16</a:t>
            </a:r>
            <a:endParaRPr lang="en-US" sz="71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One application can combine existing Fabric data with new application-owned data.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17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The builder journey is agent-assisted: scaffold, describe, validate, deploy and share.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18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A semantic model can ground the application experience while preserving Fabric governance.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19</a:t>
            </a:r>
            <a:endParaRPr lang="en-US" sz="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K225 — Build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BRK225 — BUILD 2026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Templates, agent guidance, MCP servers and libraries accelerate repeatable application creation.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20</a:t>
            </a:r>
            <a:endParaRPr lang="en-US" sz="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K225 — Build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BRK225 — BUILD 2026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Data schema, access policies and backend services are declared in code.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21</a:t>
            </a:r>
            <a:endParaRPr lang="en-US" sz="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Data API Builder generates schemas, GraphQL endpoints, authorization rules and typed clients.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22</a:t>
            </a:r>
            <a:endParaRPr lang="en-US" sz="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Keep user sign-in and backend artifact identities distinct when designing permissions.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23</a:t>
            </a:r>
            <a:endParaRPr lang="en-US" sz="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5A3600">
              <a:alpha val="96000"/>
            </a:srgbClr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FFD691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Connectors bring existing Fabric data into the application without rebuilding the source system.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24</a:t>
            </a:r>
            <a:endParaRPr lang="en-US" sz="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5A3600">
              <a:alpha val="96000"/>
            </a:srgbClr>
          </a:solidFill>
          <a:ln w="12700">
            <a:solidFill>
              <a:srgbClr val="F5A62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FFD691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Functions are the custom-logic escape hatch; validate current preview availability before commitment.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25</a:t>
            </a:r>
            <a:endParaRPr lang="en-US" sz="7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Code and rayfin.yml are the source of truth; rayfin up applies the desired state to Fabric.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26</a:t>
            </a:r>
            <a:endParaRPr lang="en-US" sz="7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3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8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58368" y="69494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DE0DA"/>
                </a:solidFill>
              </a:rPr>
              <a:t>ACT 4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8368" y="14173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</a:rPr>
              <a:t>Business product decisions</a:t>
            </a:r>
            <a:endParaRPr lang="en-US" sz="3500" dirty="0"/>
          </a:p>
        </p:txBody>
      </p:sp>
      <p:sp>
        <p:nvSpPr>
          <p:cNvPr id="12" name="Text 10"/>
          <p:cNvSpPr/>
          <p:nvPr/>
        </p:nvSpPr>
        <p:spPr>
          <a:xfrm>
            <a:off x="676656" y="274320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AAB3C9"/>
                </a:solidFill>
              </a:rPr>
              <a:t>The technology matters only when it changes a measurable workflow. Product Owners define the outcome, fit, economics and adoption model.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522208" y="1874520"/>
            <a:ext cx="2148840" cy="2148840"/>
          </a:xfrm>
          <a:prstGeom prst="ellipse">
            <a:avLst/>
          </a:prstGeom>
          <a:solidFill>
            <a:srgbClr val="85C441">
              <a:alpha val="22000"/>
            </a:srgbClr>
          </a:solidFill>
          <a:ln w="15240">
            <a:solidFill>
              <a:srgbClr val="85C44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8" y="2514600"/>
            <a:ext cx="868680" cy="8686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266176" y="44439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kern="0" spc="110" dirty="0">
                <a:solidFill>
                  <a:srgbClr val="85C441"/>
                </a:solidFill>
              </a:rPr>
              <a:t>MICROSOFT FABRIC APPS</a:t>
            </a:r>
            <a:endParaRPr lang="en-US" sz="940" dirty="0"/>
          </a:p>
        </p:txBody>
      </p:sp>
      <p:pic>
        <p:nvPicPr>
          <p:cNvPr id="16" name="Image 1" descr="Rayfin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4892040"/>
            <a:ext cx="1920240" cy="685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30395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A4ADC3"/>
                </a:solidFill>
              </a:rPr>
              <a:t>Fabric Apps is the managed product. Rayfin is the open-source SDK and CLI used to build it.</a:t>
            </a:r>
            <a:endParaRPr lang="en-US" sz="770" dirty="0"/>
          </a:p>
        </p:txBody>
      </p:sp>
      <p:sp>
        <p:nvSpPr>
          <p:cNvPr id="19" name="Text 15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929BB7"/>
                </a:solidFill>
              </a:rPr>
              <a:t>27</a:t>
            </a:r>
            <a:endParaRPr lang="en-US" sz="71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BEYOND THE DASHBOARD</a:t>
            </a:r>
            <a:endParaRPr lang="en-US" sz="930" dirty="0"/>
          </a:p>
        </p:txBody>
      </p:sp>
      <p:sp>
        <p:nvSpPr>
          <p:cNvPr id="5" name="Text 3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Fabric Apps turns an insight into a complete business decision loop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The strongest fit is where users must understand context, make a decision, take action and persist state.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49808" y="2249424"/>
            <a:ext cx="1152144" cy="1152144"/>
          </a:xfrm>
          <a:prstGeom prst="ellipse">
            <a:avLst/>
          </a:prstGeom>
          <a:solidFill>
            <a:srgbClr val="C9F3F0"/>
          </a:solidFill>
          <a:ln w="1524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2606040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1208" y="365760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00A6A6"/>
                </a:solidFill>
              </a:rPr>
              <a:t>DATA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530352" y="400507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2B334B"/>
                </a:solidFill>
              </a:rPr>
              <a:t>Semantic models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2B334B"/>
                </a:solidFill>
              </a:rPr>
              <a:t>and app data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2112264" y="2816352"/>
            <a:ext cx="704088" cy="0"/>
          </a:xfrm>
          <a:prstGeom prst="line">
            <a:avLst/>
          </a:prstGeom>
          <a:noFill/>
          <a:ln w="25400">
            <a:solidFill>
              <a:srgbClr val="AEB6C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3127248" y="2249424"/>
            <a:ext cx="1152144" cy="1152144"/>
          </a:xfrm>
          <a:prstGeom prst="ellipse">
            <a:avLst/>
          </a:prstGeom>
          <a:solidFill>
            <a:srgbClr val="DDEBFA"/>
          </a:solidFill>
          <a:ln w="15240">
            <a:solidFill>
              <a:srgbClr val="2474D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3864" y="2606040"/>
            <a:ext cx="438912" cy="4389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98648" y="365760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2474D2"/>
                </a:solidFill>
              </a:rPr>
              <a:t>UNDERSTAND</a:t>
            </a:r>
            <a:endParaRPr lang="en-US" sz="1020" dirty="0"/>
          </a:p>
        </p:txBody>
      </p:sp>
      <p:sp>
        <p:nvSpPr>
          <p:cNvPr id="15" name="Text 11"/>
          <p:cNvSpPr/>
          <p:nvPr/>
        </p:nvSpPr>
        <p:spPr>
          <a:xfrm>
            <a:off x="2907792" y="400507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2B334B"/>
                </a:solidFill>
              </a:rPr>
              <a:t>Context and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2B334B"/>
                </a:solidFill>
              </a:rPr>
              <a:t>visualization</a:t>
            </a:r>
            <a:endParaRPr lang="en-US" sz="1020" dirty="0"/>
          </a:p>
        </p:txBody>
      </p:sp>
      <p:sp>
        <p:nvSpPr>
          <p:cNvPr id="16" name="Shape 12"/>
          <p:cNvSpPr/>
          <p:nvPr/>
        </p:nvSpPr>
        <p:spPr>
          <a:xfrm>
            <a:off x="4489704" y="2816352"/>
            <a:ext cx="704088" cy="0"/>
          </a:xfrm>
          <a:prstGeom prst="line">
            <a:avLst/>
          </a:prstGeom>
          <a:noFill/>
          <a:ln w="25400">
            <a:solidFill>
              <a:srgbClr val="AEB6C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3"/>
          <p:cNvSpPr/>
          <p:nvPr/>
        </p:nvSpPr>
        <p:spPr>
          <a:xfrm>
            <a:off x="5504688" y="2249424"/>
            <a:ext cx="1152144" cy="1152144"/>
          </a:xfrm>
          <a:prstGeom prst="ellipse">
            <a:avLst/>
          </a:prstGeom>
          <a:solidFill>
            <a:srgbClr val="E8E3FF"/>
          </a:solidFill>
          <a:ln w="15240">
            <a:solidFill>
              <a:srgbClr val="6B4E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04" y="2606040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276088" y="365760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6B4EFF"/>
                </a:solidFill>
              </a:rPr>
              <a:t>DECIDE</a:t>
            </a:r>
            <a:endParaRPr lang="en-US" sz="1020" dirty="0"/>
          </a:p>
        </p:txBody>
      </p:sp>
      <p:sp>
        <p:nvSpPr>
          <p:cNvPr id="20" name="Text 15"/>
          <p:cNvSpPr/>
          <p:nvPr/>
        </p:nvSpPr>
        <p:spPr>
          <a:xfrm>
            <a:off x="5285232" y="400507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2B334B"/>
                </a:solidFill>
              </a:rPr>
              <a:t>Rules, priority,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2B334B"/>
                </a:solidFill>
              </a:rPr>
              <a:t>recommendation</a:t>
            </a:r>
            <a:endParaRPr lang="en-US" sz="1020" dirty="0"/>
          </a:p>
        </p:txBody>
      </p:sp>
      <p:sp>
        <p:nvSpPr>
          <p:cNvPr id="21" name="Shape 16"/>
          <p:cNvSpPr/>
          <p:nvPr/>
        </p:nvSpPr>
        <p:spPr>
          <a:xfrm>
            <a:off x="6867144" y="2816352"/>
            <a:ext cx="704088" cy="0"/>
          </a:xfrm>
          <a:prstGeom prst="line">
            <a:avLst/>
          </a:prstGeom>
          <a:noFill/>
          <a:ln w="25400">
            <a:solidFill>
              <a:srgbClr val="AEB6C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7"/>
          <p:cNvSpPr/>
          <p:nvPr/>
        </p:nvSpPr>
        <p:spPr>
          <a:xfrm>
            <a:off x="7882128" y="2249424"/>
            <a:ext cx="1152144" cy="1152144"/>
          </a:xfrm>
          <a:prstGeom prst="ellipse">
            <a:avLst/>
          </a:prstGeom>
          <a:solidFill>
            <a:srgbClr val="F8DDEB"/>
          </a:solidFill>
          <a:ln w="15240">
            <a:solidFill>
              <a:srgbClr val="D83B8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2606040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653528" y="365760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D83B8C"/>
                </a:solidFill>
              </a:rPr>
              <a:t>ACT</a:t>
            </a:r>
            <a:endParaRPr lang="en-US" sz="1020" dirty="0"/>
          </a:p>
        </p:txBody>
      </p:sp>
      <p:sp>
        <p:nvSpPr>
          <p:cNvPr id="25" name="Text 19"/>
          <p:cNvSpPr/>
          <p:nvPr/>
        </p:nvSpPr>
        <p:spPr>
          <a:xfrm>
            <a:off x="7662672" y="400507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2B334B"/>
                </a:solidFill>
              </a:rPr>
              <a:t>Write, approve,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2B334B"/>
                </a:solidFill>
              </a:rPr>
              <a:t>trigger</a:t>
            </a:r>
            <a:endParaRPr lang="en-US" sz="1020" dirty="0"/>
          </a:p>
        </p:txBody>
      </p:sp>
      <p:sp>
        <p:nvSpPr>
          <p:cNvPr id="26" name="Shape 20"/>
          <p:cNvSpPr/>
          <p:nvPr/>
        </p:nvSpPr>
        <p:spPr>
          <a:xfrm>
            <a:off x="9244584" y="2816352"/>
            <a:ext cx="704088" cy="0"/>
          </a:xfrm>
          <a:prstGeom prst="line">
            <a:avLst/>
          </a:prstGeom>
          <a:noFill/>
          <a:ln w="25400">
            <a:solidFill>
              <a:srgbClr val="AEB6C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1"/>
          <p:cNvSpPr/>
          <p:nvPr/>
        </p:nvSpPr>
        <p:spPr>
          <a:xfrm>
            <a:off x="10259568" y="2249424"/>
            <a:ext cx="1152144" cy="1152144"/>
          </a:xfrm>
          <a:prstGeom prst="ellipse">
            <a:avLst/>
          </a:prstGeom>
          <a:solidFill>
            <a:srgbClr val="EAF5DA"/>
          </a:solidFill>
          <a:ln w="15240">
            <a:solidFill>
              <a:srgbClr val="85C44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6184" y="2606040"/>
            <a:ext cx="438912" cy="43891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030968" y="365760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85C441"/>
                </a:solidFill>
              </a:rPr>
              <a:t>LEARN</a:t>
            </a:r>
            <a:endParaRPr lang="en-US" sz="1020" dirty="0"/>
          </a:p>
        </p:txBody>
      </p:sp>
      <p:sp>
        <p:nvSpPr>
          <p:cNvPr id="30" name="Text 23"/>
          <p:cNvSpPr/>
          <p:nvPr/>
        </p:nvSpPr>
        <p:spPr>
          <a:xfrm>
            <a:off x="10040112" y="4005072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2B334B"/>
                </a:solidFill>
              </a:rPr>
              <a:t>Measure and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2B334B"/>
                </a:solidFill>
              </a:rPr>
              <a:t>enrich</a:t>
            </a:r>
            <a:endParaRPr lang="en-US" sz="1020" dirty="0"/>
          </a:p>
        </p:txBody>
      </p:sp>
      <p:sp>
        <p:nvSpPr>
          <p:cNvPr id="31" name="Shape 24"/>
          <p:cNvSpPr/>
          <p:nvPr/>
        </p:nvSpPr>
        <p:spPr>
          <a:xfrm>
            <a:off x="1572768" y="5010912"/>
            <a:ext cx="9052560" cy="841248"/>
          </a:xfrm>
          <a:prstGeom prst="roundRect">
            <a:avLst>
              <a:gd name="adj" fmla="val 10870"/>
            </a:avLst>
          </a:prstGeom>
          <a:solidFill>
            <a:srgbClr val="080D1D"/>
          </a:solidFill>
          <a:ln w="10160">
            <a:solidFill>
              <a:srgbClr val="080D1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5"/>
          <p:cNvSpPr/>
          <p:nvPr/>
        </p:nvSpPr>
        <p:spPr>
          <a:xfrm>
            <a:off x="1901952" y="52852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90" dirty="0">
                <a:solidFill>
                  <a:srgbClr val="7DE0DA"/>
                </a:solidFill>
              </a:rPr>
              <a:t>Product shift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3063240" y="5193792"/>
            <a:ext cx="6995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Move from publishing an insight to designing a measurable decision and action loop.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28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Business framing synthesized from BRK225, Fabric Apps Insiders and Rayfin Office Hours.</a:t>
            </a:r>
            <a:endParaRPr lang="en-US" sz="710" dirty="0"/>
          </a:p>
        </p:txBody>
      </p:sp>
      <p:sp>
        <p:nvSpPr>
          <p:cNvPr id="36" name="Text 29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28</a:t>
            </a:r>
            <a:endParaRPr lang="en-US" sz="71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USE-CASE PORTFOLIO</a:t>
            </a:r>
            <a:endParaRPr lang="en-US" sz="930" dirty="0"/>
          </a:p>
        </p:txBody>
      </p:sp>
      <p:sp>
        <p:nvSpPr>
          <p:cNvPr id="5" name="Text 3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Four high-value starting points for a Fabric App pilot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Choose a bounded internal workflow with identifiable users, clear actions and a measurable baseline.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938528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C9F3F0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85800" y="1938528"/>
            <a:ext cx="82296" cy="1645920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50976" y="2194560"/>
            <a:ext cx="512064" cy="512064"/>
          </a:xfrm>
          <a:prstGeom prst="ellipse">
            <a:avLst/>
          </a:prstGeom>
          <a:solidFill>
            <a:srgbClr val="C9F3F0"/>
          </a:solidFill>
          <a:ln w="12700">
            <a:solidFill>
              <a:srgbClr val="C9F3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630" y="2307214"/>
            <a:ext cx="286756" cy="2867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18488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1162A"/>
                </a:solidFill>
              </a:rPr>
              <a:t>Field operations</a:t>
            </a:r>
            <a:endParaRPr lang="en-US" sz="1540" dirty="0"/>
          </a:p>
        </p:txBody>
      </p:sp>
      <p:sp>
        <p:nvSpPr>
          <p:cNvPr id="12" name="Text 9"/>
          <p:cNvSpPr/>
          <p:nvPr/>
        </p:nvSpPr>
        <p:spPr>
          <a:xfrm>
            <a:off x="978408" y="2761488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667085"/>
                </a:solidFill>
              </a:rPr>
              <a:t>Prioritize work, capture status, reduce re-entry and reconnect frontline execution to governed data.</a:t>
            </a:r>
            <a:endParaRPr lang="en-US" sz="1060" dirty="0"/>
          </a:p>
        </p:txBody>
      </p:sp>
      <p:sp>
        <p:nvSpPr>
          <p:cNvPr id="13" name="Shape 10"/>
          <p:cNvSpPr/>
          <p:nvPr/>
        </p:nvSpPr>
        <p:spPr>
          <a:xfrm>
            <a:off x="978408" y="3246120"/>
            <a:ext cx="4754880" cy="274320"/>
          </a:xfrm>
          <a:prstGeom prst="roundRect">
            <a:avLst>
              <a:gd name="adj" fmla="val 26667"/>
            </a:avLst>
          </a:prstGeom>
          <a:solidFill>
            <a:srgbClr val="C9F3F0"/>
          </a:solidFill>
          <a:ln w="12700">
            <a:solidFill>
              <a:srgbClr val="C9F3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978408" y="3314700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A6A6"/>
                </a:solidFill>
              </a:rPr>
              <a:t>KPI: Cycle time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72200" y="1938528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E8E3FF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6172200" y="1938528"/>
            <a:ext cx="82296" cy="1645920"/>
          </a:xfrm>
          <a:prstGeom prst="rect">
            <a:avLst/>
          </a:prstGeom>
          <a:solidFill>
            <a:srgbClr val="6B4EFF"/>
          </a:solidFill>
          <a:ln w="12700">
            <a:solidFill>
              <a:srgbClr val="6B4E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6437376" y="2194560"/>
            <a:ext cx="512064" cy="512064"/>
          </a:xfrm>
          <a:prstGeom prst="ellipse">
            <a:avLst/>
          </a:prstGeom>
          <a:solidFill>
            <a:srgbClr val="E8E3FF"/>
          </a:solidFill>
          <a:ln w="12700">
            <a:solidFill>
              <a:srgbClr val="E8E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030" y="2307214"/>
            <a:ext cx="286756" cy="2867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104888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1162A"/>
                </a:solidFill>
              </a:rPr>
              <a:t>Exceptions &amp; approvals</a:t>
            </a:r>
            <a:endParaRPr lang="en-US" sz="1540" dirty="0"/>
          </a:p>
        </p:txBody>
      </p:sp>
      <p:sp>
        <p:nvSpPr>
          <p:cNvPr id="20" name="Text 16"/>
          <p:cNvSpPr/>
          <p:nvPr/>
        </p:nvSpPr>
        <p:spPr>
          <a:xfrm>
            <a:off x="6464808" y="2761488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667085"/>
                </a:solidFill>
              </a:rPr>
              <a:t>Bring anomaly context, decision guidance and write-back into one experience.</a:t>
            </a:r>
            <a:endParaRPr lang="en-US" sz="1060" dirty="0"/>
          </a:p>
        </p:txBody>
      </p:sp>
      <p:sp>
        <p:nvSpPr>
          <p:cNvPr id="21" name="Shape 17"/>
          <p:cNvSpPr/>
          <p:nvPr/>
        </p:nvSpPr>
        <p:spPr>
          <a:xfrm>
            <a:off x="6464808" y="3246120"/>
            <a:ext cx="4754880" cy="274320"/>
          </a:xfrm>
          <a:prstGeom prst="roundRect">
            <a:avLst>
              <a:gd name="adj" fmla="val 26667"/>
            </a:avLst>
          </a:prstGeom>
          <a:solidFill>
            <a:srgbClr val="E8E3FF"/>
          </a:solidFill>
          <a:ln w="12700">
            <a:solidFill>
              <a:srgbClr val="E8E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8"/>
          <p:cNvSpPr/>
          <p:nvPr/>
        </p:nvSpPr>
        <p:spPr>
          <a:xfrm>
            <a:off x="6464808" y="3314700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4EFF"/>
                </a:solidFill>
              </a:rPr>
              <a:t>KPI: Resolution rate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685800" y="384048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F8DDEB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0"/>
          <p:cNvSpPr/>
          <p:nvPr/>
        </p:nvSpPr>
        <p:spPr>
          <a:xfrm>
            <a:off x="685800" y="3840480"/>
            <a:ext cx="82296" cy="1645920"/>
          </a:xfrm>
          <a:prstGeom prst="rect">
            <a:avLst/>
          </a:prstGeom>
          <a:solidFill>
            <a:srgbClr val="D83B8C"/>
          </a:solidFill>
          <a:ln w="12700">
            <a:solidFill>
              <a:srgbClr val="D83B8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1"/>
          <p:cNvSpPr/>
          <p:nvPr/>
        </p:nvSpPr>
        <p:spPr>
          <a:xfrm>
            <a:off x="950976" y="4096512"/>
            <a:ext cx="512064" cy="512064"/>
          </a:xfrm>
          <a:prstGeom prst="ellipse">
            <a:avLst/>
          </a:prstGeom>
          <a:solidFill>
            <a:srgbClr val="F8DDEB"/>
          </a:solidFill>
          <a:ln w="12700">
            <a:solidFill>
              <a:srgbClr val="F8DD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630" y="4209166"/>
            <a:ext cx="286756" cy="28675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618488" y="41056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1162A"/>
                </a:solidFill>
              </a:rPr>
              <a:t>Governance operations</a:t>
            </a:r>
            <a:endParaRPr lang="en-US" sz="1540" dirty="0"/>
          </a:p>
        </p:txBody>
      </p:sp>
      <p:sp>
        <p:nvSpPr>
          <p:cNvPr id="28" name="Text 23"/>
          <p:cNvSpPr/>
          <p:nvPr/>
        </p:nvSpPr>
        <p:spPr>
          <a:xfrm>
            <a:off x="978408" y="4663440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667085"/>
                </a:solidFill>
              </a:rPr>
              <a:t>Create tailored observability for inventory, permissions, labels, compliance and remediation.</a:t>
            </a:r>
            <a:endParaRPr lang="en-US" sz="1060" dirty="0"/>
          </a:p>
        </p:txBody>
      </p:sp>
      <p:sp>
        <p:nvSpPr>
          <p:cNvPr id="29" name="Shape 24"/>
          <p:cNvSpPr/>
          <p:nvPr/>
        </p:nvSpPr>
        <p:spPr>
          <a:xfrm>
            <a:off x="978408" y="5148072"/>
            <a:ext cx="4754880" cy="274320"/>
          </a:xfrm>
          <a:prstGeom prst="roundRect">
            <a:avLst>
              <a:gd name="adj" fmla="val 26667"/>
            </a:avLst>
          </a:prstGeom>
          <a:solidFill>
            <a:srgbClr val="F8DDEB"/>
          </a:solidFill>
          <a:ln w="12700">
            <a:solidFill>
              <a:srgbClr val="F8DD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5"/>
          <p:cNvSpPr/>
          <p:nvPr/>
        </p:nvSpPr>
        <p:spPr>
          <a:xfrm>
            <a:off x="978408" y="5216652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83B8C"/>
                </a:solidFill>
              </a:rPr>
              <a:t>KPI: Audit effort / risk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172200" y="384048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EAF5DA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2" name="Shape 27"/>
          <p:cNvSpPr/>
          <p:nvPr/>
        </p:nvSpPr>
        <p:spPr>
          <a:xfrm>
            <a:off x="6172200" y="3840480"/>
            <a:ext cx="82296" cy="1645920"/>
          </a:xfrm>
          <a:prstGeom prst="rect">
            <a:avLst/>
          </a:prstGeom>
          <a:solidFill>
            <a:srgbClr val="85C441"/>
          </a:solidFill>
          <a:ln w="12700">
            <a:solidFill>
              <a:srgbClr val="85C44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28"/>
          <p:cNvSpPr/>
          <p:nvPr/>
        </p:nvSpPr>
        <p:spPr>
          <a:xfrm>
            <a:off x="6437376" y="4096512"/>
            <a:ext cx="512064" cy="512064"/>
          </a:xfrm>
          <a:prstGeom prst="ellipse">
            <a:avLst/>
          </a:prstGeom>
          <a:solidFill>
            <a:srgbClr val="EAF5DA"/>
          </a:solidFill>
          <a:ln w="12700">
            <a:solidFill>
              <a:srgbClr val="EAF5D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0030" y="4209166"/>
            <a:ext cx="286756" cy="286756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7104888" y="41056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40" b="1" dirty="0">
                <a:solidFill>
                  <a:srgbClr val="11162A"/>
                </a:solidFill>
              </a:rPr>
              <a:t>Stateful agent applications</a:t>
            </a:r>
            <a:endParaRPr lang="en-US" sz="1540" dirty="0"/>
          </a:p>
        </p:txBody>
      </p:sp>
      <p:sp>
        <p:nvSpPr>
          <p:cNvPr id="36" name="Text 30"/>
          <p:cNvSpPr/>
          <p:nvPr/>
        </p:nvSpPr>
        <p:spPr>
          <a:xfrm>
            <a:off x="6464808" y="4663440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667085"/>
                </a:solidFill>
              </a:rPr>
              <a:t>Give an agent structured context, persistent application state and controlled actions.</a:t>
            </a:r>
            <a:endParaRPr lang="en-US" sz="1060" dirty="0"/>
          </a:p>
        </p:txBody>
      </p:sp>
      <p:sp>
        <p:nvSpPr>
          <p:cNvPr id="37" name="Shape 31"/>
          <p:cNvSpPr/>
          <p:nvPr/>
        </p:nvSpPr>
        <p:spPr>
          <a:xfrm>
            <a:off x="6464808" y="5148072"/>
            <a:ext cx="4754880" cy="274320"/>
          </a:xfrm>
          <a:prstGeom prst="roundRect">
            <a:avLst>
              <a:gd name="adj" fmla="val 26667"/>
            </a:avLst>
          </a:prstGeom>
          <a:solidFill>
            <a:srgbClr val="EAF5DA"/>
          </a:solidFill>
          <a:ln w="12700">
            <a:solidFill>
              <a:srgbClr val="EAF5D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2"/>
          <p:cNvSpPr/>
          <p:nvPr/>
        </p:nvSpPr>
        <p:spPr>
          <a:xfrm>
            <a:off x="6464808" y="5216652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C441"/>
                </a:solidFill>
              </a:rPr>
              <a:t>KPI: Delegated-task success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4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Examples informed by WorkIQ: field-service app, Fabric Atlas governance app, actionable data apps and agent workflows.</a:t>
            </a:r>
            <a:endParaRPr lang="en-US" sz="710" dirty="0"/>
          </a:p>
        </p:txBody>
      </p:sp>
      <p:sp>
        <p:nvSpPr>
          <p:cNvPr id="41" name="Text 35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29</a:t>
            </a:r>
            <a:endParaRPr lang="en-US" sz="71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PRODUCT FIT</a:t>
            </a:r>
            <a:endParaRPr lang="en-US" sz="930" dirty="0"/>
          </a:p>
        </p:txBody>
      </p:sp>
      <p:sp>
        <p:nvSpPr>
          <p:cNvPr id="5" name="Text 3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Power BI, Fabric Apps or a custom Azure application?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Choose the platform according to the dominant product need — not the tool the team already knows.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" y="1847088"/>
            <a:ext cx="2139696" cy="493776"/>
          </a:xfrm>
          <a:prstGeom prst="roundRect">
            <a:avLst>
              <a:gd name="adj" fmla="val 11111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713232" y="2002536"/>
            <a:ext cx="19568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1162A"/>
                </a:solidFill>
              </a:rPr>
              <a:t>QUESTION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2761488" y="1847088"/>
            <a:ext cx="2697480" cy="493776"/>
          </a:xfrm>
          <a:prstGeom prst="roundRect">
            <a:avLst>
              <a:gd name="adj" fmla="val 11111"/>
            </a:avLst>
          </a:prstGeom>
          <a:solidFill>
            <a:srgbClr val="FFF0D5"/>
          </a:solidFill>
          <a:ln w="12700">
            <a:solidFill>
              <a:srgbClr val="FFF0D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852928" y="2002536"/>
            <a:ext cx="2514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976000"/>
                </a:solidFill>
              </a:rPr>
              <a:t>POWER BI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458968" y="1847088"/>
            <a:ext cx="2761488" cy="493776"/>
          </a:xfrm>
          <a:prstGeom prst="roundRect">
            <a:avLst>
              <a:gd name="adj" fmla="val 11111"/>
            </a:avLst>
          </a:prstGeom>
          <a:solidFill>
            <a:srgbClr val="E8E3FF"/>
          </a:solidFill>
          <a:ln w="12700">
            <a:solidFill>
              <a:srgbClr val="E8E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550408" y="2002536"/>
            <a:ext cx="25786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6B4EFF"/>
                </a:solidFill>
              </a:rPr>
              <a:t>FABRIC APPS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8220456" y="1847088"/>
            <a:ext cx="3355848" cy="493776"/>
          </a:xfrm>
          <a:prstGeom prst="roundRect">
            <a:avLst>
              <a:gd name="adj" fmla="val 11111"/>
            </a:avLst>
          </a:prstGeom>
          <a:solidFill>
            <a:srgbClr val="C9F3F0"/>
          </a:solidFill>
          <a:ln w="12700">
            <a:solidFill>
              <a:srgbClr val="C9F3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311896" y="2002536"/>
            <a:ext cx="317296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087A7A"/>
                </a:solidFill>
              </a:rPr>
              <a:t>CUSTOM AZURE APP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21792" y="2487168"/>
            <a:ext cx="2139696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61488" y="2487168"/>
            <a:ext cx="2697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5458968" y="2487168"/>
            <a:ext cx="276148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220456" y="2487168"/>
            <a:ext cx="335584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31520" y="264261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1162A"/>
                </a:solidFill>
              </a:rPr>
              <a:t>Primary need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2871216" y="2642616"/>
            <a:ext cx="2478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Analyze &amp; communicate</a:t>
            </a:r>
            <a:endParaRPr lang="en-US" sz="1010" dirty="0"/>
          </a:p>
        </p:txBody>
      </p:sp>
      <p:sp>
        <p:nvSpPr>
          <p:cNvPr id="21" name="Text 19"/>
          <p:cNvSpPr/>
          <p:nvPr/>
        </p:nvSpPr>
        <p:spPr>
          <a:xfrm>
            <a:off x="5568696" y="2642616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Decide &amp; act</a:t>
            </a:r>
            <a:endParaRPr lang="en-US" sz="1010" dirty="0"/>
          </a:p>
        </p:txBody>
      </p:sp>
      <p:sp>
        <p:nvSpPr>
          <p:cNvPr id="22" name="Text 20"/>
          <p:cNvSpPr/>
          <p:nvPr/>
        </p:nvSpPr>
        <p:spPr>
          <a:xfrm>
            <a:off x="8330184" y="2642616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Complex differentiation</a:t>
            </a:r>
            <a:endParaRPr lang="en-US" sz="1010" dirty="0"/>
          </a:p>
        </p:txBody>
      </p:sp>
      <p:sp>
        <p:nvSpPr>
          <p:cNvPr id="23" name="Shape 21"/>
          <p:cNvSpPr/>
          <p:nvPr/>
        </p:nvSpPr>
        <p:spPr>
          <a:xfrm>
            <a:off x="621792" y="3017520"/>
            <a:ext cx="2139696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761488" y="3017520"/>
            <a:ext cx="269748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5458968" y="3017520"/>
            <a:ext cx="2761488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220456" y="3017520"/>
            <a:ext cx="3355848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731520" y="317296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1162A"/>
                </a:solidFill>
              </a:rPr>
              <a:t>Experience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2871216" y="3172968"/>
            <a:ext cx="2478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Report / dashboard</a:t>
            </a:r>
            <a:endParaRPr lang="en-US" sz="1010" dirty="0"/>
          </a:p>
        </p:txBody>
      </p:sp>
      <p:sp>
        <p:nvSpPr>
          <p:cNvPr id="29" name="Text 27"/>
          <p:cNvSpPr/>
          <p:nvPr/>
        </p:nvSpPr>
        <p:spPr>
          <a:xfrm>
            <a:off x="5568696" y="31729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Custom business UX</a:t>
            </a:r>
            <a:endParaRPr lang="en-US" sz="1010" dirty="0"/>
          </a:p>
        </p:txBody>
      </p:sp>
      <p:sp>
        <p:nvSpPr>
          <p:cNvPr id="30" name="Text 28"/>
          <p:cNvSpPr/>
          <p:nvPr/>
        </p:nvSpPr>
        <p:spPr>
          <a:xfrm>
            <a:off x="8330184" y="317296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Fully unconstrained UX</a:t>
            </a:r>
            <a:endParaRPr lang="en-US" sz="1010" dirty="0"/>
          </a:p>
        </p:txBody>
      </p:sp>
      <p:sp>
        <p:nvSpPr>
          <p:cNvPr id="31" name="Shape 29"/>
          <p:cNvSpPr/>
          <p:nvPr/>
        </p:nvSpPr>
        <p:spPr>
          <a:xfrm>
            <a:off x="621792" y="3547872"/>
            <a:ext cx="2139696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2761488" y="3547872"/>
            <a:ext cx="2697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458968" y="3547872"/>
            <a:ext cx="276148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8220456" y="3547872"/>
            <a:ext cx="335584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31520" y="3703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1162A"/>
                </a:solidFill>
              </a:rPr>
              <a:t>Write-back / workflow</a:t>
            </a:r>
            <a:endParaRPr lang="en-US" sz="960" dirty="0"/>
          </a:p>
        </p:txBody>
      </p:sp>
      <p:sp>
        <p:nvSpPr>
          <p:cNvPr id="36" name="Text 34"/>
          <p:cNvSpPr/>
          <p:nvPr/>
        </p:nvSpPr>
        <p:spPr>
          <a:xfrm>
            <a:off x="2871216" y="3703320"/>
            <a:ext cx="2478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Limited / indirect</a:t>
            </a:r>
            <a:endParaRPr lang="en-US" sz="1010" dirty="0"/>
          </a:p>
        </p:txBody>
      </p:sp>
      <p:sp>
        <p:nvSpPr>
          <p:cNvPr id="37" name="Text 35"/>
          <p:cNvSpPr/>
          <p:nvPr/>
        </p:nvSpPr>
        <p:spPr>
          <a:xfrm>
            <a:off x="5568696" y="3703320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Native to the use case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330184" y="3703320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Platform-unlimited</a:t>
            </a:r>
            <a:endParaRPr lang="en-US" sz="1010" dirty="0"/>
          </a:p>
        </p:txBody>
      </p:sp>
      <p:sp>
        <p:nvSpPr>
          <p:cNvPr id="39" name="Shape 37"/>
          <p:cNvSpPr/>
          <p:nvPr/>
        </p:nvSpPr>
        <p:spPr>
          <a:xfrm>
            <a:off x="621792" y="4078224"/>
            <a:ext cx="2139696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2761488" y="4078224"/>
            <a:ext cx="269748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5458968" y="4078224"/>
            <a:ext cx="2761488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8220456" y="4078224"/>
            <a:ext cx="3355848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731520" y="42336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1162A"/>
                </a:solidFill>
              </a:rPr>
              <a:t>Time-to-value</a:t>
            </a:r>
            <a:endParaRPr lang="en-US" sz="960" dirty="0"/>
          </a:p>
        </p:txBody>
      </p:sp>
      <p:sp>
        <p:nvSpPr>
          <p:cNvPr id="44" name="Text 42"/>
          <p:cNvSpPr/>
          <p:nvPr/>
        </p:nvSpPr>
        <p:spPr>
          <a:xfrm>
            <a:off x="2871216" y="4233672"/>
            <a:ext cx="2478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Very fast</a:t>
            </a:r>
            <a:endParaRPr lang="en-US" sz="1010" dirty="0"/>
          </a:p>
        </p:txBody>
      </p:sp>
      <p:sp>
        <p:nvSpPr>
          <p:cNvPr id="45" name="Text 43"/>
          <p:cNvSpPr/>
          <p:nvPr/>
        </p:nvSpPr>
        <p:spPr>
          <a:xfrm>
            <a:off x="5568696" y="4233672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Fast</a:t>
            </a:r>
            <a:endParaRPr lang="en-US" sz="1010" dirty="0"/>
          </a:p>
        </p:txBody>
      </p:sp>
      <p:sp>
        <p:nvSpPr>
          <p:cNvPr id="46" name="Text 44"/>
          <p:cNvSpPr/>
          <p:nvPr/>
        </p:nvSpPr>
        <p:spPr>
          <a:xfrm>
            <a:off x="8330184" y="4233672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Longer</a:t>
            </a:r>
            <a:endParaRPr lang="en-US" sz="1010" dirty="0"/>
          </a:p>
        </p:txBody>
      </p:sp>
      <p:sp>
        <p:nvSpPr>
          <p:cNvPr id="47" name="Shape 45"/>
          <p:cNvSpPr/>
          <p:nvPr/>
        </p:nvSpPr>
        <p:spPr>
          <a:xfrm>
            <a:off x="621792" y="4608576"/>
            <a:ext cx="2139696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2761488" y="4608576"/>
            <a:ext cx="2697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458968" y="4608576"/>
            <a:ext cx="276148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8220456" y="4608576"/>
            <a:ext cx="335584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731520" y="47640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1162A"/>
                </a:solidFill>
              </a:rPr>
              <a:t>Deployed identity</a:t>
            </a:r>
            <a:endParaRPr lang="en-US" sz="960" dirty="0"/>
          </a:p>
        </p:txBody>
      </p:sp>
      <p:sp>
        <p:nvSpPr>
          <p:cNvPr id="52" name="Text 50"/>
          <p:cNvSpPr/>
          <p:nvPr/>
        </p:nvSpPr>
        <p:spPr>
          <a:xfrm>
            <a:off x="2871216" y="4764024"/>
            <a:ext cx="2478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Fabric / Entra</a:t>
            </a:r>
            <a:endParaRPr lang="en-US" sz="1010" dirty="0"/>
          </a:p>
        </p:txBody>
      </p:sp>
      <p:sp>
        <p:nvSpPr>
          <p:cNvPr id="53" name="Text 51"/>
          <p:cNvSpPr/>
          <p:nvPr/>
        </p:nvSpPr>
        <p:spPr>
          <a:xfrm>
            <a:off x="5568696" y="4764024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Fabric SSO / Entra</a:t>
            </a:r>
            <a:endParaRPr lang="en-US" sz="1010" dirty="0"/>
          </a:p>
        </p:txBody>
      </p:sp>
      <p:sp>
        <p:nvSpPr>
          <p:cNvPr id="54" name="Text 52"/>
          <p:cNvSpPr/>
          <p:nvPr/>
        </p:nvSpPr>
        <p:spPr>
          <a:xfrm>
            <a:off x="8330184" y="4764024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Full choice</a:t>
            </a:r>
            <a:endParaRPr lang="en-US" sz="1010" dirty="0"/>
          </a:p>
        </p:txBody>
      </p:sp>
      <p:sp>
        <p:nvSpPr>
          <p:cNvPr id="55" name="Shape 53"/>
          <p:cNvSpPr/>
          <p:nvPr/>
        </p:nvSpPr>
        <p:spPr>
          <a:xfrm>
            <a:off x="621792" y="5138928"/>
            <a:ext cx="2139696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2761488" y="5138928"/>
            <a:ext cx="2697480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5458968" y="5138928"/>
            <a:ext cx="2761488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8220456" y="5138928"/>
            <a:ext cx="3355848" cy="530352"/>
          </a:xfrm>
          <a:prstGeom prst="rect">
            <a:avLst/>
          </a:prstGeom>
          <a:solidFill>
            <a:srgbClr val="F4F6FA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731520" y="52943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1162A"/>
                </a:solidFill>
              </a:rPr>
              <a:t>Transactional complexity</a:t>
            </a:r>
            <a:endParaRPr lang="en-US" sz="960" dirty="0"/>
          </a:p>
        </p:txBody>
      </p:sp>
      <p:sp>
        <p:nvSpPr>
          <p:cNvPr id="60" name="Text 58"/>
          <p:cNvSpPr/>
          <p:nvPr/>
        </p:nvSpPr>
        <p:spPr>
          <a:xfrm>
            <a:off x="2871216" y="5294376"/>
            <a:ext cx="2478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Low</a:t>
            </a:r>
            <a:endParaRPr lang="en-US" sz="1010" dirty="0"/>
          </a:p>
        </p:txBody>
      </p:sp>
      <p:sp>
        <p:nvSpPr>
          <p:cNvPr id="61" name="Text 59"/>
          <p:cNvSpPr/>
          <p:nvPr/>
        </p:nvSpPr>
        <p:spPr>
          <a:xfrm>
            <a:off x="5568696" y="5294376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Low to moderate</a:t>
            </a:r>
            <a:endParaRPr lang="en-US" sz="1010" dirty="0"/>
          </a:p>
        </p:txBody>
      </p:sp>
      <p:sp>
        <p:nvSpPr>
          <p:cNvPr id="62" name="Text 60"/>
          <p:cNvSpPr/>
          <p:nvPr/>
        </p:nvSpPr>
        <p:spPr>
          <a:xfrm>
            <a:off x="8330184" y="5294376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B334B"/>
                </a:solidFill>
              </a:rPr>
              <a:t>High / specialized</a:t>
            </a:r>
            <a:endParaRPr lang="en-US" sz="1010" dirty="0"/>
          </a:p>
        </p:txBody>
      </p:sp>
      <p:sp>
        <p:nvSpPr>
          <p:cNvPr id="63" name="Shape 61"/>
          <p:cNvSpPr/>
          <p:nvPr/>
        </p:nvSpPr>
        <p:spPr>
          <a:xfrm>
            <a:off x="621792" y="5669280"/>
            <a:ext cx="2139696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2761488" y="5669280"/>
            <a:ext cx="26974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5458968" y="5669280"/>
            <a:ext cx="276148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8220456" y="5669280"/>
            <a:ext cx="335584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CE1E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731520" y="582472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11162A"/>
                </a:solidFill>
              </a:rPr>
              <a:t>Sweet spot</a:t>
            </a:r>
            <a:endParaRPr lang="en-US" sz="960" dirty="0"/>
          </a:p>
        </p:txBody>
      </p:sp>
      <p:sp>
        <p:nvSpPr>
          <p:cNvPr id="68" name="Text 66"/>
          <p:cNvSpPr/>
          <p:nvPr/>
        </p:nvSpPr>
        <p:spPr>
          <a:xfrm>
            <a:off x="2871216" y="5824728"/>
            <a:ext cx="2478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2B334B"/>
                </a:solidFill>
              </a:rPr>
              <a:t>Insight</a:t>
            </a:r>
            <a:endParaRPr lang="en-US" sz="1010" dirty="0"/>
          </a:p>
        </p:txBody>
      </p:sp>
      <p:sp>
        <p:nvSpPr>
          <p:cNvPr id="69" name="Text 67"/>
          <p:cNvSpPr/>
          <p:nvPr/>
        </p:nvSpPr>
        <p:spPr>
          <a:xfrm>
            <a:off x="5568696" y="582472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2B334B"/>
                </a:solidFill>
              </a:rPr>
              <a:t>Insight + action</a:t>
            </a:r>
            <a:endParaRPr lang="en-US" sz="1010" dirty="0"/>
          </a:p>
        </p:txBody>
      </p:sp>
      <p:sp>
        <p:nvSpPr>
          <p:cNvPr id="70" name="Text 68"/>
          <p:cNvSpPr/>
          <p:nvPr/>
        </p:nvSpPr>
        <p:spPr>
          <a:xfrm>
            <a:off x="8330184" y="582472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b="1" dirty="0">
                <a:solidFill>
                  <a:srgbClr val="2B334B"/>
                </a:solidFill>
              </a:rPr>
              <a:t>Critical digital product</a:t>
            </a:r>
            <a:endParaRPr lang="en-US" sz="1010" dirty="0"/>
          </a:p>
        </p:txBody>
      </p:sp>
      <p:sp>
        <p:nvSpPr>
          <p:cNvPr id="71" name="Shape 69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Text 70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Positioning guidance: Fabric Apps complements Power BI; it is not a systematic replacement.</a:t>
            </a:r>
            <a:endParaRPr lang="en-US" sz="710" dirty="0"/>
          </a:p>
        </p:txBody>
      </p:sp>
      <p:sp>
        <p:nvSpPr>
          <p:cNvPr id="73" name="Text 71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30</a:t>
            </a:r>
            <a:endParaRPr lang="en-US" sz="71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PRODUCT OWNER CHARTER</a:t>
            </a:r>
            <a:endParaRPr lang="en-US" sz="930" dirty="0"/>
          </a:p>
        </p:txBody>
      </p:sp>
      <p:sp>
        <p:nvSpPr>
          <p:cNvPr id="5" name="Text 3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Four decisions must be explicit before the first Rayfin prompt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A precise product brief creates more value than a fast but ambiguous generation loop.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" y="1920240"/>
            <a:ext cx="2212848" cy="3090672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0160">
            <a:solidFill>
              <a:srgbClr val="C9F3F0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23544" y="21671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6A6"/>
                </a:solidFill>
              </a:rPr>
              <a:t>01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139696" y="2103120"/>
            <a:ext cx="512064" cy="512064"/>
          </a:xfrm>
          <a:prstGeom prst="ellipse">
            <a:avLst/>
          </a:prstGeom>
          <a:solidFill>
            <a:srgbClr val="C9F3F0"/>
          </a:solidFill>
          <a:ln w="12700">
            <a:solidFill>
              <a:srgbClr val="C9F3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2350" y="2215774"/>
            <a:ext cx="286756" cy="2867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23544" y="29077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62A"/>
                </a:solidFill>
              </a:rPr>
              <a:t>Outcome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23544" y="3401568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What business result should change?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Which decision becomes faster or better?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575304" y="1920240"/>
            <a:ext cx="2212848" cy="3090672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0160">
            <a:solidFill>
              <a:srgbClr val="E8E3FF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3803904" y="21671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B4EFF"/>
                </a:solidFill>
              </a:rPr>
              <a:t>02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5020056" y="2103120"/>
            <a:ext cx="512064" cy="512064"/>
          </a:xfrm>
          <a:prstGeom prst="ellipse">
            <a:avLst/>
          </a:prstGeom>
          <a:solidFill>
            <a:srgbClr val="E8E3FF"/>
          </a:solidFill>
          <a:ln w="12700">
            <a:solidFill>
              <a:srgbClr val="E8E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2710" y="2215774"/>
            <a:ext cx="286756" cy="2867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803904" y="29077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62A"/>
                </a:solidFill>
              </a:rPr>
              <a:t>Users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3803904" y="3401568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Who runs, edits, approves and shares?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What permissions does each role need?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455664" y="1920240"/>
            <a:ext cx="2212848" cy="3090672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0160">
            <a:solidFill>
              <a:srgbClr val="F8DDEB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6"/>
          <p:cNvSpPr/>
          <p:nvPr/>
        </p:nvSpPr>
        <p:spPr>
          <a:xfrm>
            <a:off x="6684264" y="21671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83B8C"/>
                </a:solidFill>
              </a:rPr>
              <a:t>03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900416" y="2103120"/>
            <a:ext cx="512064" cy="512064"/>
          </a:xfrm>
          <a:prstGeom prst="ellipse">
            <a:avLst/>
          </a:prstGeom>
          <a:solidFill>
            <a:srgbClr val="F8DDEB"/>
          </a:solidFill>
          <a:ln w="12700">
            <a:solidFill>
              <a:srgbClr val="F8DD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070" y="2215774"/>
            <a:ext cx="286756" cy="2867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684264" y="29077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62A"/>
                </a:solidFill>
              </a:rPr>
              <a:t>Data &amp; actions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6684264" y="3401568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Which sources and write-backs?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Which rules, states and exceptions?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9336024" y="1920240"/>
            <a:ext cx="2212848" cy="3090672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0160">
            <a:solidFill>
              <a:srgbClr val="EAF5DA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Text 21"/>
          <p:cNvSpPr/>
          <p:nvPr/>
        </p:nvSpPr>
        <p:spPr>
          <a:xfrm>
            <a:off x="9564624" y="21671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5C441"/>
                </a:solidFill>
              </a:rPr>
              <a:t>04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10780776" y="2103120"/>
            <a:ext cx="512064" cy="512064"/>
          </a:xfrm>
          <a:prstGeom prst="ellipse">
            <a:avLst/>
          </a:prstGeom>
          <a:solidFill>
            <a:srgbClr val="EAF5DA"/>
          </a:solidFill>
          <a:ln w="12700">
            <a:solidFill>
              <a:srgbClr val="EAF5D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93430" y="2215774"/>
            <a:ext cx="286756" cy="2867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564624" y="29077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62A"/>
                </a:solidFill>
              </a:rPr>
              <a:t>Evidence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9564624" y="3401568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What baseline and KPIs?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7085"/>
                </a:solidFill>
              </a:rPr>
              <a:t>What threshold justifies scaling?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1042416" y="5340096"/>
            <a:ext cx="10104120" cy="676656"/>
          </a:xfrm>
          <a:prstGeom prst="roundRect">
            <a:avLst>
              <a:gd name="adj" fmla="val 13514"/>
            </a:avLst>
          </a:prstGeom>
          <a:solidFill>
            <a:srgbClr val="080D1D"/>
          </a:solidFill>
          <a:ln w="10160">
            <a:solidFill>
              <a:srgbClr val="080D1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6"/>
          <p:cNvSpPr/>
          <p:nvPr/>
        </p:nvSpPr>
        <p:spPr>
          <a:xfrm>
            <a:off x="1335024" y="5559552"/>
            <a:ext cx="1920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30" b="1" kern="0" spc="90" dirty="0">
                <a:solidFill>
                  <a:srgbClr val="7DE0DA"/>
                </a:solidFill>
              </a:rPr>
              <a:t>ONE-SENTENCE PRODUCT BRIEF</a:t>
            </a:r>
            <a:endParaRPr lang="en-US" sz="830" dirty="0"/>
          </a:p>
        </p:txBody>
      </p:sp>
      <p:sp>
        <p:nvSpPr>
          <p:cNvPr id="33" name="Text 27"/>
          <p:cNvSpPr/>
          <p:nvPr/>
        </p:nvSpPr>
        <p:spPr>
          <a:xfrm>
            <a:off x="3456432" y="5486400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10" b="1" dirty="0">
                <a:solidFill>
                  <a:srgbClr val="FFFFFF"/>
                </a:solidFill>
              </a:rPr>
              <a:t>For [user], enable [action] on [data] to improve [KPI], within [constraints].</a:t>
            </a:r>
            <a:endParaRPr lang="en-US" sz="1410" dirty="0"/>
          </a:p>
        </p:txBody>
      </p:sp>
      <p:sp>
        <p:nvSpPr>
          <p:cNvPr id="34" name="Shape 28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29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Use this as the Definition of Ready for a Fabric Apps pilot.</a:t>
            </a:r>
            <a:endParaRPr lang="en-US" sz="710" dirty="0"/>
          </a:p>
        </p:txBody>
      </p:sp>
      <p:sp>
        <p:nvSpPr>
          <p:cNvPr id="36" name="Text 30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31</a:t>
            </a:r>
            <a:endParaRPr lang="en-US" sz="71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2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0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BUSINESS CASE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Measure value without inventing an ROI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Fabric Apps consumes Fabric capacity. The pilot should create the evidence needed for a real economic decision.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94944" y="1920240"/>
            <a:ext cx="3657600" cy="3621024"/>
          </a:xfrm>
          <a:prstGeom prst="roundRect">
            <a:avLst>
              <a:gd name="adj" fmla="val 2525"/>
            </a:avLst>
          </a:prstGeom>
          <a:solidFill>
            <a:srgbClr val="080D1D"/>
          </a:solidFill>
          <a:ln w="10160">
            <a:solidFill>
              <a:srgbClr val="080D1D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87552" y="2267712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kern="0" spc="100" dirty="0">
                <a:solidFill>
                  <a:srgbClr val="7DE0DA"/>
                </a:solidFill>
              </a:rPr>
              <a:t>VALUE EQUATION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987552" y="277977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Net value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87552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E88A4"/>
                </a:solidFill>
              </a:rPr>
              <a:t>=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17320" y="342900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650" b="1" dirty="0">
                <a:solidFill>
                  <a:srgbClr val="77DDD7"/>
                </a:solidFill>
              </a:rPr>
              <a:t>Business gain</a:t>
            </a:r>
            <a:r>
              <a:rPr lang="en-US" sz="1650" b="1" dirty="0">
                <a:solidFill>
                  <a:srgbClr val="7E88A4"/>
                </a:solidFill>
              </a:rPr>
              <a:t>  -  </a:t>
            </a:r>
            <a:r>
              <a:rPr lang="en-US" sz="1650" b="1" dirty="0">
                <a:solidFill>
                  <a:srgbClr val="F07AB3"/>
                </a:solidFill>
              </a:rPr>
              <a:t>Total cost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87552" y="4754880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C7DA"/>
                </a:solidFill>
              </a:rPr>
              <a:t>The pilot replaces assumptions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C0C7DA"/>
                </a:solidFill>
              </a:rPr>
              <a:t>with observed measures.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645152" y="1920240"/>
            <a:ext cx="199339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C9F3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873752" y="2148840"/>
            <a:ext cx="457200" cy="457200"/>
          </a:xfrm>
          <a:prstGeom prst="ellipse">
            <a:avLst/>
          </a:prstGeom>
          <a:solidFill>
            <a:srgbClr val="C9F3F0"/>
          </a:solidFill>
          <a:ln w="12700">
            <a:solidFill>
              <a:srgbClr val="C9F3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336" y="2249424"/>
            <a:ext cx="256032" cy="25603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873752" y="2743200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rgbClr val="11162A"/>
                </a:solidFill>
              </a:rPr>
              <a:t>Lead time</a:t>
            </a:r>
            <a:endParaRPr lang="en-US" sz="1280" dirty="0"/>
          </a:p>
        </p:txBody>
      </p:sp>
      <p:sp>
        <p:nvSpPr>
          <p:cNvPr id="23" name="Text 20"/>
          <p:cNvSpPr/>
          <p:nvPr/>
        </p:nvSpPr>
        <p:spPr>
          <a:xfrm>
            <a:off x="4873752" y="3090672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idea to real usage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31152" y="1920240"/>
            <a:ext cx="199339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E8E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7159752" y="2148840"/>
            <a:ext cx="457200" cy="457200"/>
          </a:xfrm>
          <a:prstGeom prst="ellipse">
            <a:avLst/>
          </a:prstGeom>
          <a:solidFill>
            <a:srgbClr val="E8E3FF"/>
          </a:solidFill>
          <a:ln w="12700">
            <a:solidFill>
              <a:srgbClr val="E8E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336" y="2249424"/>
            <a:ext cx="256032" cy="25603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159752" y="2743200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rgbClr val="11162A"/>
                </a:solidFill>
              </a:rPr>
              <a:t>Manual touches</a:t>
            </a:r>
            <a:endParaRPr lang="en-US" sz="1280" dirty="0"/>
          </a:p>
        </p:txBody>
      </p:sp>
      <p:sp>
        <p:nvSpPr>
          <p:cNvPr id="28" name="Text 24"/>
          <p:cNvSpPr/>
          <p:nvPr/>
        </p:nvSpPr>
        <p:spPr>
          <a:xfrm>
            <a:off x="7159752" y="3090672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steps and re-entry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9217152" y="1920240"/>
            <a:ext cx="199339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F8DD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6"/>
          <p:cNvSpPr/>
          <p:nvPr/>
        </p:nvSpPr>
        <p:spPr>
          <a:xfrm>
            <a:off x="9445752" y="2148840"/>
            <a:ext cx="457200" cy="457200"/>
          </a:xfrm>
          <a:prstGeom prst="ellipse">
            <a:avLst/>
          </a:prstGeom>
          <a:solidFill>
            <a:srgbClr val="F8DDEB"/>
          </a:solidFill>
          <a:ln w="12700">
            <a:solidFill>
              <a:srgbClr val="F8DD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36" y="2249424"/>
            <a:ext cx="256032" cy="256032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9445752" y="2743200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rgbClr val="11162A"/>
                </a:solidFill>
              </a:rPr>
              <a:t>Task success</a:t>
            </a:r>
            <a:endParaRPr lang="en-US" sz="1280" dirty="0"/>
          </a:p>
        </p:txBody>
      </p:sp>
      <p:sp>
        <p:nvSpPr>
          <p:cNvPr id="33" name="Text 28"/>
          <p:cNvSpPr/>
          <p:nvPr/>
        </p:nvSpPr>
        <p:spPr>
          <a:xfrm>
            <a:off x="9445752" y="3090672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first-pass outcome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4645152" y="3831336"/>
            <a:ext cx="199339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EAF5D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0"/>
          <p:cNvSpPr/>
          <p:nvPr/>
        </p:nvSpPr>
        <p:spPr>
          <a:xfrm>
            <a:off x="4873752" y="4059936"/>
            <a:ext cx="457200" cy="457200"/>
          </a:xfrm>
          <a:prstGeom prst="ellipse">
            <a:avLst/>
          </a:prstGeom>
          <a:solidFill>
            <a:srgbClr val="EAF5DA"/>
          </a:solidFill>
          <a:ln w="12700">
            <a:solidFill>
              <a:srgbClr val="EAF5D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4160520"/>
            <a:ext cx="256032" cy="256032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4873752" y="465429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rgbClr val="11162A"/>
                </a:solidFill>
              </a:rPr>
              <a:t>Adoption</a:t>
            </a:r>
            <a:endParaRPr lang="en-US" sz="1280" dirty="0"/>
          </a:p>
        </p:txBody>
      </p:sp>
      <p:sp>
        <p:nvSpPr>
          <p:cNvPr id="38" name="Text 32"/>
          <p:cNvSpPr/>
          <p:nvPr/>
        </p:nvSpPr>
        <p:spPr>
          <a:xfrm>
            <a:off x="4873752" y="5001768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active / target users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931152" y="3831336"/>
            <a:ext cx="199339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DEB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4"/>
          <p:cNvSpPr/>
          <p:nvPr/>
        </p:nvSpPr>
        <p:spPr>
          <a:xfrm>
            <a:off x="7159752" y="4059936"/>
            <a:ext cx="457200" cy="457200"/>
          </a:xfrm>
          <a:prstGeom prst="ellipse">
            <a:avLst/>
          </a:prstGeom>
          <a:solidFill>
            <a:srgbClr val="DDEBFA"/>
          </a:solidFill>
          <a:ln w="12700">
            <a:solidFill>
              <a:srgbClr val="DDEB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0336" y="4160520"/>
            <a:ext cx="256032" cy="256032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7159752" y="465429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rgbClr val="11162A"/>
                </a:solidFill>
              </a:rPr>
              <a:t>Risk</a:t>
            </a:r>
            <a:endParaRPr lang="en-US" sz="1280" dirty="0"/>
          </a:p>
        </p:txBody>
      </p:sp>
      <p:sp>
        <p:nvSpPr>
          <p:cNvPr id="43" name="Text 36"/>
          <p:cNvSpPr/>
          <p:nvPr/>
        </p:nvSpPr>
        <p:spPr>
          <a:xfrm>
            <a:off x="7159752" y="5001768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incidents and gaps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9217152" y="3831336"/>
            <a:ext cx="1993392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FFF0D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38"/>
          <p:cNvSpPr/>
          <p:nvPr/>
        </p:nvSpPr>
        <p:spPr>
          <a:xfrm>
            <a:off x="9445752" y="4059936"/>
            <a:ext cx="457200" cy="457200"/>
          </a:xfrm>
          <a:prstGeom prst="ellipse">
            <a:avLst/>
          </a:prstGeom>
          <a:solidFill>
            <a:srgbClr val="FFF0D5"/>
          </a:solidFill>
          <a:ln w="12700">
            <a:solidFill>
              <a:srgbClr val="FFF0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46336" y="4160520"/>
            <a:ext cx="256032" cy="256032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9445752" y="4654296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b="1" dirty="0">
                <a:solidFill>
                  <a:srgbClr val="11162A"/>
                </a:solidFill>
              </a:rPr>
              <a:t>Consumption</a:t>
            </a:r>
            <a:endParaRPr lang="en-US" sz="1280" dirty="0"/>
          </a:p>
        </p:txBody>
      </p:sp>
      <p:sp>
        <p:nvSpPr>
          <p:cNvPr id="48" name="Text 40"/>
          <p:cNvSpPr/>
          <p:nvPr/>
        </p:nvSpPr>
        <p:spPr>
          <a:xfrm>
            <a:off x="9445752" y="5001768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CU per business usage</a:t>
            </a:r>
            <a:endParaRPr lang="en-US" sz="950" dirty="0"/>
          </a:p>
        </p:txBody>
      </p:sp>
      <p:sp>
        <p:nvSpPr>
          <p:cNvPr id="49" name="Shape 41"/>
          <p:cNvSpPr/>
          <p:nvPr/>
        </p:nvSpPr>
        <p:spPr>
          <a:xfrm>
            <a:off x="4645152" y="5797296"/>
            <a:ext cx="6565392" cy="274320"/>
          </a:xfrm>
          <a:prstGeom prst="roundRect">
            <a:avLst>
              <a:gd name="adj" fmla="val 26667"/>
            </a:avLst>
          </a:prstGeom>
          <a:solidFill>
            <a:srgbClr val="FFF0D5"/>
          </a:solidFill>
          <a:ln w="12700">
            <a:solidFill>
              <a:srgbClr val="FFF0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2"/>
          <p:cNvSpPr/>
          <p:nvPr/>
        </p:nvSpPr>
        <p:spPr>
          <a:xfrm>
            <a:off x="4645152" y="5865876"/>
            <a:ext cx="6565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B5A00"/>
                </a:solidFill>
              </a:rPr>
              <a:t>Validate capacity behavior and licensing for the exact scenario before making a customer commitment.</a:t>
            </a:r>
            <a:endParaRPr lang="en-US" sz="850" dirty="0"/>
          </a:p>
        </p:txBody>
      </p:sp>
      <p:sp>
        <p:nvSpPr>
          <p:cNvPr id="51" name="Shape 43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44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Confirmed: Fabric Apps services consume CUs from the assigned Fabric capacity.</a:t>
            </a:r>
            <a:endParaRPr lang="en-US" sz="710" dirty="0"/>
          </a:p>
        </p:txBody>
      </p:sp>
      <p:sp>
        <p:nvSpPr>
          <p:cNvPr id="53" name="Text 45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32</a:t>
            </a:r>
            <a:endParaRPr lang="en-US" sz="71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3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8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58368" y="69494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DE0DA"/>
                </a:solidFill>
              </a:rPr>
              <a:t>ACT 5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8368" y="14173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</a:rPr>
              <a:t>Readiness, governance and scale</a:t>
            </a:r>
            <a:endParaRPr lang="en-US" sz="3500" dirty="0"/>
          </a:p>
        </p:txBody>
      </p:sp>
      <p:sp>
        <p:nvSpPr>
          <p:cNvPr id="12" name="Text 10"/>
          <p:cNvSpPr/>
          <p:nvPr/>
        </p:nvSpPr>
        <p:spPr>
          <a:xfrm>
            <a:off x="676656" y="274320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AAB3C9"/>
                </a:solidFill>
              </a:rPr>
              <a:t>Preview is a reason to manage evidence and guardrails — not a reason to stop learning.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522208" y="1874520"/>
            <a:ext cx="2148840" cy="2148840"/>
          </a:xfrm>
          <a:prstGeom prst="ellipse">
            <a:avLst/>
          </a:prstGeom>
          <a:solidFill>
            <a:srgbClr val="F5A623">
              <a:alpha val="22000"/>
            </a:srgbClr>
          </a:solidFill>
          <a:ln w="15240">
            <a:solidFill>
              <a:srgbClr val="F5A623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8" y="2514600"/>
            <a:ext cx="868680" cy="8686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266176" y="44439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kern="0" spc="110" dirty="0">
                <a:solidFill>
                  <a:srgbClr val="F5A623"/>
                </a:solidFill>
              </a:rPr>
              <a:t>MICROSOFT FABRIC APPS</a:t>
            </a:r>
            <a:endParaRPr lang="en-US" sz="940" dirty="0"/>
          </a:p>
        </p:txBody>
      </p:sp>
      <p:pic>
        <p:nvPicPr>
          <p:cNvPr id="16" name="Image 1" descr="Rayfin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4892040"/>
            <a:ext cx="1920240" cy="685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30395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A4ADC3"/>
                </a:solidFill>
              </a:rPr>
              <a:t>Fabric Apps is the managed product. Rayfin is the open-source SDK and CLI used to build it.</a:t>
            </a:r>
            <a:endParaRPr lang="en-US" sz="770" dirty="0"/>
          </a:p>
        </p:txBody>
      </p:sp>
      <p:sp>
        <p:nvSpPr>
          <p:cNvPr id="19" name="Text 15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929BB7"/>
                </a:solidFill>
              </a:rPr>
              <a:t>33</a:t>
            </a:r>
            <a:endParaRPr lang="en-US" sz="71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K225 — Build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BRK225 — BUILD 2026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Rayfin inherits the Microsoft Fabric value proposition: one data estate, security, governance and platform economics.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34</a:t>
            </a:r>
            <a:endParaRPr lang="en-US" sz="7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Use the fit test: fast, governed app on Fabric data; not no-code, custom identity or heavy transactions.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35</a:t>
            </a:r>
            <a:endParaRPr lang="en-US" sz="7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abric Apps Insid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80D1D">
              <a:alpha val="98000"/>
            </a:srgbClr>
          </a:solidFill>
          <a:ln w="12700">
            <a:solidFill>
              <a:srgbClr val="080D1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1"/>
          <p:cNvSpPr/>
          <p:nvPr/>
        </p:nvSpPr>
        <p:spPr>
          <a:xfrm>
            <a:off x="320040" y="6537960"/>
            <a:ext cx="16459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b="1" kern="0" spc="90" dirty="0">
                <a:solidFill>
                  <a:srgbClr val="7DE0DA"/>
                </a:solidFill>
              </a:rPr>
              <a:t>FABRIC APPS INSIDERS</a:t>
            </a:r>
            <a:endParaRPr lang="en-US" sz="710" dirty="0"/>
          </a:p>
        </p:txBody>
      </p:sp>
      <p:sp>
        <p:nvSpPr>
          <p:cNvPr id="5" name="Text 2"/>
          <p:cNvSpPr/>
          <p:nvPr/>
        </p:nvSpPr>
        <p:spPr>
          <a:xfrm>
            <a:off x="1965960" y="6501384"/>
            <a:ext cx="9555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30" b="1" dirty="0">
                <a:solidFill>
                  <a:srgbClr val="FFFFFF"/>
                </a:solidFill>
              </a:rPr>
              <a:t>Set customer expectations early: identity, sharing, data location, developer profile and preview maturity.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11676888" y="6519672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6AEC3"/>
                </a:solidFill>
              </a:rPr>
              <a:t>36</a:t>
            </a:r>
            <a:endParaRPr lang="en-US" sz="7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PREVIEW READINESS</a:t>
            </a:r>
            <a:endParaRPr lang="en-US" sz="930" dirty="0"/>
          </a:p>
        </p:txBody>
      </p:sp>
      <p:sp>
        <p:nvSpPr>
          <p:cNvPr id="5" name="Text 3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Confirmed, validate, watch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Separate published capability, pilot evidence and roadmap — without turning internal discussion into a product promise.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76656" y="1938528"/>
            <a:ext cx="3236976" cy="3584448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0160">
            <a:solidFill>
              <a:srgbClr val="EAF5DA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76656" y="1938528"/>
            <a:ext cx="3236976" cy="146304"/>
          </a:xfrm>
          <a:prstGeom prst="rect">
            <a:avLst/>
          </a:prstGeom>
          <a:solidFill>
            <a:srgbClr val="85C441"/>
          </a:solidFill>
          <a:ln w="12700">
            <a:solidFill>
              <a:srgbClr val="85C44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69264" y="2340864"/>
            <a:ext cx="502920" cy="502920"/>
          </a:xfrm>
          <a:prstGeom prst="ellipse">
            <a:avLst/>
          </a:prstGeom>
          <a:solidFill>
            <a:srgbClr val="EAF5DA"/>
          </a:solidFill>
          <a:ln w="12700">
            <a:solidFill>
              <a:srgbClr val="EAF5D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906" y="2451506"/>
            <a:ext cx="281635" cy="28163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45920" y="248716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85C441"/>
                </a:solidFill>
              </a:rPr>
              <a:t>CONFIRMED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1024128" y="3200400"/>
            <a:ext cx="109728" cy="109728"/>
          </a:xfrm>
          <a:prstGeom prst="ellipse">
            <a:avLst/>
          </a:prstGeom>
          <a:solidFill>
            <a:srgbClr val="85C441"/>
          </a:solidFill>
          <a:ln w="12700">
            <a:solidFill>
              <a:srgbClr val="85C44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1298448" y="3154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TypeScript models to schema and GraphQL</a:t>
            </a:r>
            <a:endParaRPr lang="en-US" sz="1010" dirty="0"/>
          </a:p>
        </p:txBody>
      </p:sp>
      <p:sp>
        <p:nvSpPr>
          <p:cNvPr id="14" name="Shape 11"/>
          <p:cNvSpPr/>
          <p:nvPr/>
        </p:nvSpPr>
        <p:spPr>
          <a:xfrm>
            <a:off x="1024128" y="3703320"/>
            <a:ext cx="109728" cy="109728"/>
          </a:xfrm>
          <a:prstGeom prst="ellipse">
            <a:avLst/>
          </a:prstGeom>
          <a:solidFill>
            <a:srgbClr val="85C441"/>
          </a:solidFill>
          <a:ln w="12700">
            <a:solidFill>
              <a:srgbClr val="85C44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1298448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Fabric SSO / Entra after deployment</a:t>
            </a:r>
            <a:endParaRPr lang="en-US" sz="1010" dirty="0"/>
          </a:p>
        </p:txBody>
      </p:sp>
      <p:sp>
        <p:nvSpPr>
          <p:cNvPr id="16" name="Shape 13"/>
          <p:cNvSpPr/>
          <p:nvPr/>
        </p:nvSpPr>
        <p:spPr>
          <a:xfrm>
            <a:off x="1024128" y="4206240"/>
            <a:ext cx="109728" cy="109728"/>
          </a:xfrm>
          <a:prstGeom prst="ellipse">
            <a:avLst/>
          </a:prstGeom>
          <a:solidFill>
            <a:srgbClr val="85C441"/>
          </a:solidFill>
          <a:ln w="12700">
            <a:solidFill>
              <a:srgbClr val="85C44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1298448" y="4160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Managed hosting and service endpoint</a:t>
            </a:r>
            <a:endParaRPr lang="en-US" sz="1010" dirty="0"/>
          </a:p>
        </p:txBody>
      </p:sp>
      <p:sp>
        <p:nvSpPr>
          <p:cNvPr id="18" name="Shape 15"/>
          <p:cNvSpPr/>
          <p:nvPr/>
        </p:nvSpPr>
        <p:spPr>
          <a:xfrm>
            <a:off x="1024128" y="4709160"/>
            <a:ext cx="109728" cy="109728"/>
          </a:xfrm>
          <a:prstGeom prst="ellipse">
            <a:avLst/>
          </a:prstGeom>
          <a:solidFill>
            <a:srgbClr val="85C441"/>
          </a:solidFill>
          <a:ln w="12700">
            <a:solidFill>
              <a:srgbClr val="85C44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1298448" y="4663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Fabric capacity and item permissions</a:t>
            </a:r>
            <a:endParaRPr lang="en-US" sz="1010" dirty="0"/>
          </a:p>
        </p:txBody>
      </p:sp>
      <p:sp>
        <p:nvSpPr>
          <p:cNvPr id="20" name="Shape 17"/>
          <p:cNvSpPr/>
          <p:nvPr/>
        </p:nvSpPr>
        <p:spPr>
          <a:xfrm>
            <a:off x="4142232" y="1938528"/>
            <a:ext cx="3236976" cy="3584448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0160">
            <a:solidFill>
              <a:srgbClr val="FFF0D5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4142232" y="1938528"/>
            <a:ext cx="3236976" cy="14630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4434840" y="2340864"/>
            <a:ext cx="502920" cy="502920"/>
          </a:xfrm>
          <a:prstGeom prst="ellipse">
            <a:avLst/>
          </a:prstGeom>
          <a:solidFill>
            <a:srgbClr val="FFF0D5"/>
          </a:solidFill>
          <a:ln w="12700">
            <a:solidFill>
              <a:srgbClr val="FFF0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5482" y="2451506"/>
            <a:ext cx="281635" cy="281635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111496" y="248716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F5A623"/>
                </a:solidFill>
              </a:rPr>
              <a:t>VALIDATE IN PILOT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4489704" y="3200400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2"/>
          <p:cNvSpPr/>
          <p:nvPr/>
        </p:nvSpPr>
        <p:spPr>
          <a:xfrm>
            <a:off x="4764024" y="3154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Region and tenant enablement</a:t>
            </a:r>
            <a:endParaRPr lang="en-US" sz="1010" dirty="0"/>
          </a:p>
        </p:txBody>
      </p:sp>
      <p:sp>
        <p:nvSpPr>
          <p:cNvPr id="27" name="Shape 23"/>
          <p:cNvSpPr/>
          <p:nvPr/>
        </p:nvSpPr>
        <p:spPr>
          <a:xfrm>
            <a:off x="4489704" y="3703320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4"/>
          <p:cNvSpPr/>
          <p:nvPr/>
        </p:nvSpPr>
        <p:spPr>
          <a:xfrm>
            <a:off x="4764024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Performance and CU behavior</a:t>
            </a:r>
            <a:endParaRPr lang="en-US" sz="1010" dirty="0"/>
          </a:p>
        </p:txBody>
      </p:sp>
      <p:sp>
        <p:nvSpPr>
          <p:cNvPr id="29" name="Shape 25"/>
          <p:cNvSpPr/>
          <p:nvPr/>
        </p:nvSpPr>
        <p:spPr>
          <a:xfrm>
            <a:off x="4489704" y="4206240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6"/>
          <p:cNvSpPr/>
          <p:nvPr/>
        </p:nvSpPr>
        <p:spPr>
          <a:xfrm>
            <a:off x="4764024" y="4160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Real permission model by persona</a:t>
            </a:r>
            <a:endParaRPr lang="en-US" sz="1010" dirty="0"/>
          </a:p>
        </p:txBody>
      </p:sp>
      <p:sp>
        <p:nvSpPr>
          <p:cNvPr id="31" name="Shape 27"/>
          <p:cNvSpPr/>
          <p:nvPr/>
        </p:nvSpPr>
        <p:spPr>
          <a:xfrm>
            <a:off x="4489704" y="4709160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8"/>
          <p:cNvSpPr/>
          <p:nvPr/>
        </p:nvSpPr>
        <p:spPr>
          <a:xfrm>
            <a:off x="4764024" y="4663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Semantic-model and licensing scenario</a:t>
            </a:r>
            <a:endParaRPr lang="en-US" sz="1010" dirty="0"/>
          </a:p>
        </p:txBody>
      </p:sp>
      <p:sp>
        <p:nvSpPr>
          <p:cNvPr id="33" name="Shape 29"/>
          <p:cNvSpPr/>
          <p:nvPr/>
        </p:nvSpPr>
        <p:spPr>
          <a:xfrm>
            <a:off x="7607808" y="1938528"/>
            <a:ext cx="3236976" cy="3584448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0160">
            <a:solidFill>
              <a:srgbClr val="E8E3FF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4" name="Shape 30"/>
          <p:cNvSpPr/>
          <p:nvPr/>
        </p:nvSpPr>
        <p:spPr>
          <a:xfrm>
            <a:off x="7607808" y="1938528"/>
            <a:ext cx="3236976" cy="146304"/>
          </a:xfrm>
          <a:prstGeom prst="rect">
            <a:avLst/>
          </a:prstGeom>
          <a:solidFill>
            <a:srgbClr val="6B4EFF"/>
          </a:solidFill>
          <a:ln w="12700">
            <a:solidFill>
              <a:srgbClr val="6B4E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1"/>
          <p:cNvSpPr/>
          <p:nvPr/>
        </p:nvSpPr>
        <p:spPr>
          <a:xfrm>
            <a:off x="7900416" y="2340864"/>
            <a:ext cx="502920" cy="502920"/>
          </a:xfrm>
          <a:prstGeom prst="ellipse">
            <a:avLst/>
          </a:prstGeom>
          <a:solidFill>
            <a:srgbClr val="E8E3FF"/>
          </a:solidFill>
          <a:ln w="12700">
            <a:solidFill>
              <a:srgbClr val="E8E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1058" y="2451506"/>
            <a:ext cx="281635" cy="281635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8577072" y="2487168"/>
            <a:ext cx="1901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6B4EFF"/>
                </a:solidFill>
              </a:rPr>
              <a:t>WATCH</a:t>
            </a:r>
            <a:endParaRPr lang="en-US" sz="1080" dirty="0"/>
          </a:p>
        </p:txBody>
      </p:sp>
      <p:sp>
        <p:nvSpPr>
          <p:cNvPr id="38" name="Shape 33"/>
          <p:cNvSpPr/>
          <p:nvPr/>
        </p:nvSpPr>
        <p:spPr>
          <a:xfrm>
            <a:off x="7955280" y="3200400"/>
            <a:ext cx="109728" cy="109728"/>
          </a:xfrm>
          <a:prstGeom prst="ellipse">
            <a:avLst/>
          </a:prstGeom>
          <a:solidFill>
            <a:srgbClr val="6B4EFF"/>
          </a:solidFill>
          <a:ln w="12700">
            <a:solidFill>
              <a:srgbClr val="6B4E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4"/>
          <p:cNvSpPr/>
          <p:nvPr/>
        </p:nvSpPr>
        <p:spPr>
          <a:xfrm>
            <a:off x="8229600" y="3154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Extended connectors and services</a:t>
            </a:r>
            <a:endParaRPr lang="en-US" sz="1010" dirty="0"/>
          </a:p>
        </p:txBody>
      </p:sp>
      <p:sp>
        <p:nvSpPr>
          <p:cNvPr id="40" name="Shape 35"/>
          <p:cNvSpPr/>
          <p:nvPr/>
        </p:nvSpPr>
        <p:spPr>
          <a:xfrm>
            <a:off x="7955280" y="3703320"/>
            <a:ext cx="109728" cy="109728"/>
          </a:xfrm>
          <a:prstGeom prst="ellipse">
            <a:avLst/>
          </a:prstGeom>
          <a:solidFill>
            <a:srgbClr val="6B4EFF"/>
          </a:solidFill>
          <a:ln w="12700">
            <a:solidFill>
              <a:srgbClr val="6B4E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6"/>
          <p:cNvSpPr/>
          <p:nvPr/>
        </p:nvSpPr>
        <p:spPr>
          <a:xfrm>
            <a:off x="822960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Functions and custom scenarios</a:t>
            </a:r>
            <a:endParaRPr lang="en-US" sz="1010" dirty="0"/>
          </a:p>
        </p:txBody>
      </p:sp>
      <p:sp>
        <p:nvSpPr>
          <p:cNvPr id="42" name="Shape 37"/>
          <p:cNvSpPr/>
          <p:nvPr/>
        </p:nvSpPr>
        <p:spPr>
          <a:xfrm>
            <a:off x="7955280" y="4206240"/>
            <a:ext cx="109728" cy="109728"/>
          </a:xfrm>
          <a:prstGeom prst="ellipse">
            <a:avLst/>
          </a:prstGeom>
          <a:solidFill>
            <a:srgbClr val="6B4EFF"/>
          </a:solidFill>
          <a:ln w="12700">
            <a:solidFill>
              <a:srgbClr val="6B4E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38"/>
          <p:cNvSpPr/>
          <p:nvPr/>
        </p:nvSpPr>
        <p:spPr>
          <a:xfrm>
            <a:off x="8229600" y="4160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OIDC / external identities</a:t>
            </a:r>
            <a:endParaRPr lang="en-US" sz="1010" dirty="0"/>
          </a:p>
        </p:txBody>
      </p:sp>
      <p:sp>
        <p:nvSpPr>
          <p:cNvPr id="44" name="Shape 39"/>
          <p:cNvSpPr/>
          <p:nvPr/>
        </p:nvSpPr>
        <p:spPr>
          <a:xfrm>
            <a:off x="7955280" y="4709160"/>
            <a:ext cx="109728" cy="109728"/>
          </a:xfrm>
          <a:prstGeom prst="ellipse">
            <a:avLst/>
          </a:prstGeom>
          <a:solidFill>
            <a:srgbClr val="6B4EFF"/>
          </a:solidFill>
          <a:ln w="12700">
            <a:solidFill>
              <a:srgbClr val="6B4E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0"/>
          <p:cNvSpPr/>
          <p:nvPr/>
        </p:nvSpPr>
        <p:spPr>
          <a:xfrm>
            <a:off x="8229600" y="46634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10" dirty="0">
                <a:solidFill>
                  <a:srgbClr val="2B334B"/>
                </a:solidFill>
              </a:rPr>
              <a:t>Metrics, isolation and GA timing</a:t>
            </a:r>
            <a:endParaRPr lang="en-US" sz="1010" dirty="0"/>
          </a:p>
        </p:txBody>
      </p:sp>
      <p:sp>
        <p:nvSpPr>
          <p:cNvPr id="46" name="Shape 41"/>
          <p:cNvSpPr/>
          <p:nvPr/>
        </p:nvSpPr>
        <p:spPr>
          <a:xfrm>
            <a:off x="932688" y="5742432"/>
            <a:ext cx="10314432" cy="274320"/>
          </a:xfrm>
          <a:prstGeom prst="roundRect">
            <a:avLst>
              <a:gd name="adj" fmla="val 26667"/>
            </a:avLst>
          </a:prstGeom>
          <a:solidFill>
            <a:srgbClr val="F9E0E3"/>
          </a:solidFill>
          <a:ln w="12700">
            <a:solidFill>
              <a:srgbClr val="F9E0E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2"/>
          <p:cNvSpPr/>
          <p:nvPr/>
        </p:nvSpPr>
        <p:spPr>
          <a:xfrm>
            <a:off x="932688" y="5811012"/>
            <a:ext cx="10314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3D4B"/>
                </a:solidFill>
              </a:rPr>
              <a:t>Communication rule: say preview / validate / roadmap. Do not announce unpublished GA dates or regional coverage.</a:t>
            </a:r>
            <a:endParaRPr lang="en-US" sz="850" dirty="0"/>
          </a:p>
        </p:txBody>
      </p:sp>
      <p:sp>
        <p:nvSpPr>
          <p:cNvPr id="48" name="Shape 43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4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Status as of July 13, 2026 — recheck Microsoft Learn before any external presentation.</a:t>
            </a:r>
            <a:endParaRPr lang="en-US" sz="710" dirty="0"/>
          </a:p>
        </p:txBody>
      </p:sp>
      <p:sp>
        <p:nvSpPr>
          <p:cNvPr id="50" name="Text 45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37</a:t>
            </a:r>
            <a:endParaRPr lang="en-US" sz="71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90-DAY PRODUCT PILOT</a:t>
            </a:r>
            <a:endParaRPr lang="en-US" sz="930" dirty="0"/>
          </a:p>
        </p:txBody>
      </p:sp>
      <p:sp>
        <p:nvSpPr>
          <p:cNvPr id="5" name="Text 3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Select, prove, secure and decide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The deliverable is not only a demo — it is an evidence-based product decision.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2514600" cy="3602736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0160">
            <a:solidFill>
              <a:srgbClr val="C9F3F0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86968" y="21945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</a:rPr>
              <a:t>01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883664" y="2157984"/>
            <a:ext cx="1024128" cy="274320"/>
          </a:xfrm>
          <a:prstGeom prst="roundRect">
            <a:avLst>
              <a:gd name="adj" fmla="val 26667"/>
            </a:avLst>
          </a:prstGeom>
          <a:solidFill>
            <a:srgbClr val="C9F3F0"/>
          </a:solidFill>
          <a:ln w="12700">
            <a:solidFill>
              <a:srgbClr val="C9F3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883664" y="2226564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0A6A6"/>
                </a:solidFill>
              </a:rPr>
              <a:t>WEEKS 1–2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86968" y="2770632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62A"/>
                </a:solidFill>
              </a:rPr>
              <a:t>DISCOVER</a:t>
            </a:r>
            <a:endParaRPr lang="en-US" sz="18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3383280"/>
            <a:ext cx="155448" cy="1554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70432" y="3355848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Workflow and baseline</a:t>
            </a:r>
            <a:endParaRPr lang="en-US" sz="104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3803904"/>
            <a:ext cx="155448" cy="1554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70432" y="377647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Users and rights</a:t>
            </a:r>
            <a:endParaRPr lang="en-US" sz="104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224528"/>
            <a:ext cx="155448" cy="1554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70432" y="4197096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Value hypothesis</a:t>
            </a:r>
            <a:endParaRPr lang="en-US" sz="1040" dirty="0"/>
          </a:p>
        </p:txBody>
      </p:sp>
      <p:sp>
        <p:nvSpPr>
          <p:cNvPr id="18" name="Shape 13"/>
          <p:cNvSpPr/>
          <p:nvPr/>
        </p:nvSpPr>
        <p:spPr>
          <a:xfrm>
            <a:off x="868680" y="4864608"/>
            <a:ext cx="2057400" cy="384048"/>
          </a:xfrm>
          <a:prstGeom prst="roundRect">
            <a:avLst>
              <a:gd name="adj" fmla="val 16667"/>
            </a:avLst>
          </a:prstGeom>
          <a:solidFill>
            <a:srgbClr val="C9F3F0"/>
          </a:solidFill>
          <a:ln w="12700">
            <a:solidFill>
              <a:srgbClr val="C9F3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4"/>
          <p:cNvSpPr/>
          <p:nvPr/>
        </p:nvSpPr>
        <p:spPr>
          <a:xfrm>
            <a:off x="868680" y="4992624"/>
            <a:ext cx="2057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0A6A6"/>
                </a:solidFill>
              </a:rPr>
              <a:t>Pilot go / no-go</a:t>
            </a:r>
            <a:endParaRPr lang="en-US" sz="920" dirty="0"/>
          </a:p>
        </p:txBody>
      </p:sp>
      <p:sp>
        <p:nvSpPr>
          <p:cNvPr id="20" name="Shape 15"/>
          <p:cNvSpPr/>
          <p:nvPr/>
        </p:nvSpPr>
        <p:spPr>
          <a:xfrm>
            <a:off x="3236976" y="3657600"/>
            <a:ext cx="118872" cy="0"/>
          </a:xfrm>
          <a:prstGeom prst="line">
            <a:avLst/>
          </a:prstGeom>
          <a:noFill/>
          <a:ln w="25400">
            <a:solidFill>
              <a:srgbClr val="AEB6C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6"/>
          <p:cNvSpPr/>
          <p:nvPr/>
        </p:nvSpPr>
        <p:spPr>
          <a:xfrm>
            <a:off x="3364992" y="1920240"/>
            <a:ext cx="2514600" cy="3602736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0160">
            <a:solidFill>
              <a:srgbClr val="E8E3FF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Text 17"/>
          <p:cNvSpPr/>
          <p:nvPr/>
        </p:nvSpPr>
        <p:spPr>
          <a:xfrm>
            <a:off x="3611880" y="21945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4EFF"/>
                </a:solidFill>
              </a:rPr>
              <a:t>02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4608576" y="2157984"/>
            <a:ext cx="1024128" cy="274320"/>
          </a:xfrm>
          <a:prstGeom prst="roundRect">
            <a:avLst>
              <a:gd name="adj" fmla="val 26667"/>
            </a:avLst>
          </a:prstGeom>
          <a:solidFill>
            <a:srgbClr val="E8E3FF"/>
          </a:solidFill>
          <a:ln w="12700">
            <a:solidFill>
              <a:srgbClr val="E8E3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19"/>
          <p:cNvSpPr/>
          <p:nvPr/>
        </p:nvSpPr>
        <p:spPr>
          <a:xfrm>
            <a:off x="4608576" y="2226564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4EFF"/>
                </a:solidFill>
              </a:rPr>
              <a:t>WEEKS 3–5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3611880" y="2770632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62A"/>
                </a:solidFill>
              </a:rPr>
              <a:t>PROTOTYPE</a:t>
            </a:r>
            <a:endParaRPr lang="en-US" sz="1800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024" y="3383280"/>
            <a:ext cx="155448" cy="1554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3895344" y="3355848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Priority journey</a:t>
            </a:r>
            <a:endParaRPr lang="en-US" sz="104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024" y="3803904"/>
            <a:ext cx="155448" cy="1554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895344" y="377647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Minimum data</a:t>
            </a:r>
            <a:endParaRPr lang="en-US" sz="104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024" y="4224528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3895344" y="4197096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User tests</a:t>
            </a:r>
            <a:endParaRPr lang="en-US" sz="1040" dirty="0"/>
          </a:p>
        </p:txBody>
      </p:sp>
      <p:sp>
        <p:nvSpPr>
          <p:cNvPr id="32" name="Shape 24"/>
          <p:cNvSpPr/>
          <p:nvPr/>
        </p:nvSpPr>
        <p:spPr>
          <a:xfrm>
            <a:off x="3593592" y="4864608"/>
            <a:ext cx="2057400" cy="384048"/>
          </a:xfrm>
          <a:prstGeom prst="roundRect">
            <a:avLst>
              <a:gd name="adj" fmla="val 16667"/>
            </a:avLst>
          </a:prstGeom>
          <a:solidFill>
            <a:srgbClr val="E8E3FF"/>
          </a:solidFill>
          <a:ln w="12700">
            <a:solidFill>
              <a:srgbClr val="E8E3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25"/>
          <p:cNvSpPr/>
          <p:nvPr/>
        </p:nvSpPr>
        <p:spPr>
          <a:xfrm>
            <a:off x="3593592" y="4992624"/>
            <a:ext cx="2057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6B4EFF"/>
                </a:solidFill>
              </a:rPr>
              <a:t>Perceived value</a:t>
            </a:r>
            <a:endParaRPr lang="en-US" sz="920" dirty="0"/>
          </a:p>
        </p:txBody>
      </p:sp>
      <p:sp>
        <p:nvSpPr>
          <p:cNvPr id="34" name="Shape 26"/>
          <p:cNvSpPr/>
          <p:nvPr/>
        </p:nvSpPr>
        <p:spPr>
          <a:xfrm>
            <a:off x="5961888" y="3657600"/>
            <a:ext cx="118872" cy="0"/>
          </a:xfrm>
          <a:prstGeom prst="line">
            <a:avLst/>
          </a:prstGeom>
          <a:noFill/>
          <a:ln w="25400">
            <a:solidFill>
              <a:srgbClr val="AEB6C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27"/>
          <p:cNvSpPr/>
          <p:nvPr/>
        </p:nvSpPr>
        <p:spPr>
          <a:xfrm>
            <a:off x="6089904" y="1920240"/>
            <a:ext cx="2514600" cy="3602736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0160">
            <a:solidFill>
              <a:srgbClr val="F8DDEB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6" name="Text 28"/>
          <p:cNvSpPr/>
          <p:nvPr/>
        </p:nvSpPr>
        <p:spPr>
          <a:xfrm>
            <a:off x="6336792" y="21945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83B8C"/>
                </a:solidFill>
              </a:rPr>
              <a:t>03</a:t>
            </a:r>
            <a:endParaRPr lang="en-US" sz="1800" dirty="0"/>
          </a:p>
        </p:txBody>
      </p:sp>
      <p:sp>
        <p:nvSpPr>
          <p:cNvPr id="37" name="Shape 29"/>
          <p:cNvSpPr/>
          <p:nvPr/>
        </p:nvSpPr>
        <p:spPr>
          <a:xfrm>
            <a:off x="7333488" y="2157984"/>
            <a:ext cx="1024128" cy="274320"/>
          </a:xfrm>
          <a:prstGeom prst="roundRect">
            <a:avLst>
              <a:gd name="adj" fmla="val 26667"/>
            </a:avLst>
          </a:prstGeom>
          <a:solidFill>
            <a:srgbClr val="F8DDEB"/>
          </a:solidFill>
          <a:ln w="12700">
            <a:solidFill>
              <a:srgbClr val="F8DD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0"/>
          <p:cNvSpPr/>
          <p:nvPr/>
        </p:nvSpPr>
        <p:spPr>
          <a:xfrm>
            <a:off x="7333488" y="2226564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83B8C"/>
                </a:solidFill>
              </a:rPr>
              <a:t>WEEKS 6–9</a:t>
            </a:r>
            <a:endParaRPr lang="en-US" sz="850" dirty="0"/>
          </a:p>
        </p:txBody>
      </p:sp>
      <p:sp>
        <p:nvSpPr>
          <p:cNvPr id="39" name="Text 31"/>
          <p:cNvSpPr/>
          <p:nvPr/>
        </p:nvSpPr>
        <p:spPr>
          <a:xfrm>
            <a:off x="6336792" y="2770632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62A"/>
                </a:solidFill>
              </a:rPr>
              <a:t>PILOT</a:t>
            </a:r>
            <a:endParaRPr lang="en-US" sz="1800" dirty="0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3383280"/>
            <a:ext cx="155448" cy="15544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620256" y="3355848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Controlled group</a:t>
            </a:r>
            <a:endParaRPr lang="en-US" sz="1040" dirty="0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3803904"/>
            <a:ext cx="155448" cy="155448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6620256" y="377647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Security and runbook</a:t>
            </a:r>
            <a:endParaRPr lang="en-US" sz="1040" dirty="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224528"/>
            <a:ext cx="155448" cy="155448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6620256" y="4197096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KPIs and CUs</a:t>
            </a:r>
            <a:endParaRPr lang="en-US" sz="1040" dirty="0"/>
          </a:p>
        </p:txBody>
      </p:sp>
      <p:sp>
        <p:nvSpPr>
          <p:cNvPr id="46" name="Shape 35"/>
          <p:cNvSpPr/>
          <p:nvPr/>
        </p:nvSpPr>
        <p:spPr>
          <a:xfrm>
            <a:off x="6318504" y="4864608"/>
            <a:ext cx="2057400" cy="384048"/>
          </a:xfrm>
          <a:prstGeom prst="roundRect">
            <a:avLst>
              <a:gd name="adj" fmla="val 16667"/>
            </a:avLst>
          </a:prstGeom>
          <a:solidFill>
            <a:srgbClr val="F8DDEB"/>
          </a:solidFill>
          <a:ln w="12700">
            <a:solidFill>
              <a:srgbClr val="F8DD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36"/>
          <p:cNvSpPr/>
          <p:nvPr/>
        </p:nvSpPr>
        <p:spPr>
          <a:xfrm>
            <a:off x="6318504" y="4992624"/>
            <a:ext cx="2057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D83B8C"/>
                </a:solidFill>
              </a:rPr>
              <a:t>Readiness review</a:t>
            </a:r>
            <a:endParaRPr lang="en-US" sz="920" dirty="0"/>
          </a:p>
        </p:txBody>
      </p:sp>
      <p:sp>
        <p:nvSpPr>
          <p:cNvPr id="48" name="Shape 37"/>
          <p:cNvSpPr/>
          <p:nvPr/>
        </p:nvSpPr>
        <p:spPr>
          <a:xfrm>
            <a:off x="8686800" y="3657600"/>
            <a:ext cx="118872" cy="0"/>
          </a:xfrm>
          <a:prstGeom prst="line">
            <a:avLst/>
          </a:prstGeom>
          <a:noFill/>
          <a:ln w="25400">
            <a:solidFill>
              <a:srgbClr val="AEB6C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38"/>
          <p:cNvSpPr/>
          <p:nvPr/>
        </p:nvSpPr>
        <p:spPr>
          <a:xfrm>
            <a:off x="8814816" y="1920240"/>
            <a:ext cx="2514600" cy="3602736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0160">
            <a:solidFill>
              <a:srgbClr val="EAF5DA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0" name="Text 39"/>
          <p:cNvSpPr/>
          <p:nvPr/>
        </p:nvSpPr>
        <p:spPr>
          <a:xfrm>
            <a:off x="9061704" y="21945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5C441"/>
                </a:solidFill>
              </a:rPr>
              <a:t>04</a:t>
            </a:r>
            <a:endParaRPr lang="en-US" sz="1800" dirty="0"/>
          </a:p>
        </p:txBody>
      </p:sp>
      <p:sp>
        <p:nvSpPr>
          <p:cNvPr id="51" name="Shape 40"/>
          <p:cNvSpPr/>
          <p:nvPr/>
        </p:nvSpPr>
        <p:spPr>
          <a:xfrm>
            <a:off x="10058400" y="2157984"/>
            <a:ext cx="1024128" cy="274320"/>
          </a:xfrm>
          <a:prstGeom prst="roundRect">
            <a:avLst>
              <a:gd name="adj" fmla="val 26667"/>
            </a:avLst>
          </a:prstGeom>
          <a:solidFill>
            <a:srgbClr val="EAF5DA"/>
          </a:solidFill>
          <a:ln w="12700">
            <a:solidFill>
              <a:srgbClr val="EAF5D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41"/>
          <p:cNvSpPr/>
          <p:nvPr/>
        </p:nvSpPr>
        <p:spPr>
          <a:xfrm>
            <a:off x="10058400" y="2226564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5C441"/>
                </a:solidFill>
              </a:rPr>
              <a:t>WEEKS 10–12</a:t>
            </a:r>
            <a:endParaRPr lang="en-US" sz="850" dirty="0"/>
          </a:p>
        </p:txBody>
      </p:sp>
      <p:sp>
        <p:nvSpPr>
          <p:cNvPr id="53" name="Text 42"/>
          <p:cNvSpPr/>
          <p:nvPr/>
        </p:nvSpPr>
        <p:spPr>
          <a:xfrm>
            <a:off x="9061704" y="2770632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62A"/>
                </a:solidFill>
              </a:rPr>
              <a:t>DECIDE</a:t>
            </a:r>
            <a:endParaRPr lang="en-US" sz="1800" dirty="0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3383280"/>
            <a:ext cx="155448" cy="155448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9345168" y="3355848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Observed business case</a:t>
            </a:r>
            <a:endParaRPr lang="en-US" sz="1040" dirty="0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3803904"/>
            <a:ext cx="155448" cy="155448"/>
          </a:xfrm>
          <a:prstGeom prst="rect">
            <a:avLst/>
          </a:prstGeom>
        </p:spPr>
      </p:pic>
      <p:sp>
        <p:nvSpPr>
          <p:cNvPr id="57" name="Text 44"/>
          <p:cNvSpPr/>
          <p:nvPr/>
        </p:nvSpPr>
        <p:spPr>
          <a:xfrm>
            <a:off x="9345168" y="3776472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Industrialization backlog</a:t>
            </a:r>
            <a:endParaRPr lang="en-US" sz="1040" dirty="0"/>
          </a:p>
        </p:txBody>
      </p:sp>
      <p:pic>
        <p:nvPicPr>
          <p:cNvPr id="58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4224528"/>
            <a:ext cx="155448" cy="155448"/>
          </a:xfrm>
          <a:prstGeom prst="rect">
            <a:avLst/>
          </a:prstGeom>
        </p:spPr>
      </p:pic>
      <p:sp>
        <p:nvSpPr>
          <p:cNvPr id="59" name="Text 45"/>
          <p:cNvSpPr/>
          <p:nvPr/>
        </p:nvSpPr>
        <p:spPr>
          <a:xfrm>
            <a:off x="9345168" y="4197096"/>
            <a:ext cx="16642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dirty="0">
                <a:solidFill>
                  <a:srgbClr val="2B334B"/>
                </a:solidFill>
              </a:rPr>
              <a:t>Scale / pivot / stop</a:t>
            </a:r>
            <a:endParaRPr lang="en-US" sz="1040" dirty="0"/>
          </a:p>
        </p:txBody>
      </p:sp>
      <p:sp>
        <p:nvSpPr>
          <p:cNvPr id="60" name="Shape 46"/>
          <p:cNvSpPr/>
          <p:nvPr/>
        </p:nvSpPr>
        <p:spPr>
          <a:xfrm>
            <a:off x="9043416" y="4864608"/>
            <a:ext cx="2057400" cy="384048"/>
          </a:xfrm>
          <a:prstGeom prst="roundRect">
            <a:avLst>
              <a:gd name="adj" fmla="val 16667"/>
            </a:avLst>
          </a:prstGeom>
          <a:solidFill>
            <a:srgbClr val="EAF5DA"/>
          </a:solidFill>
          <a:ln w="12700">
            <a:solidFill>
              <a:srgbClr val="EAF5D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47"/>
          <p:cNvSpPr/>
          <p:nvPr/>
        </p:nvSpPr>
        <p:spPr>
          <a:xfrm>
            <a:off x="9043416" y="4992624"/>
            <a:ext cx="2057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85C441"/>
                </a:solidFill>
              </a:rPr>
              <a:t>Executive decision</a:t>
            </a:r>
            <a:endParaRPr lang="en-US" sz="920" dirty="0"/>
          </a:p>
        </p:txBody>
      </p:sp>
      <p:sp>
        <p:nvSpPr>
          <p:cNvPr id="62" name="Text 48"/>
          <p:cNvSpPr/>
          <p:nvPr/>
        </p:nvSpPr>
        <p:spPr>
          <a:xfrm>
            <a:off x="950976" y="5843016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kern="0" spc="70" dirty="0">
                <a:solidFill>
                  <a:srgbClr val="00A6A6"/>
                </a:solidFill>
              </a:rPr>
              <a:t>90-day exit criteria</a:t>
            </a:r>
            <a:endParaRPr lang="en-US" sz="920" dirty="0"/>
          </a:p>
        </p:txBody>
      </p:sp>
      <p:sp>
        <p:nvSpPr>
          <p:cNvPr id="63" name="Text 49"/>
          <p:cNvSpPr/>
          <p:nvPr/>
        </p:nvSpPr>
        <p:spPr>
          <a:xfrm>
            <a:off x="2633472" y="5769864"/>
            <a:ext cx="8366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10" b="1" dirty="0">
                <a:solidFill>
                  <a:srgbClr val="11162A"/>
                </a:solidFill>
              </a:rPr>
              <a:t>Proven value, understood risk, named run owner and an explicit scale / pivot / stop decision.</a:t>
            </a:r>
            <a:endParaRPr lang="en-US" sz="1410" dirty="0"/>
          </a:p>
        </p:txBody>
      </p:sp>
      <p:sp>
        <p:nvSpPr>
          <p:cNvPr id="64" name="Shape 50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51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Recommended starting point: bounded internal tool, controlled audience and metrics from day one.</a:t>
            </a:r>
            <a:endParaRPr lang="en-US" sz="710" dirty="0"/>
          </a:p>
        </p:txBody>
      </p:sp>
      <p:sp>
        <p:nvSpPr>
          <p:cNvPr id="66" name="Text 52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38</a:t>
            </a:r>
            <a:endParaRPr lang="en-US" sz="71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80D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3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8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58368" y="6949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40" dirty="0">
                <a:solidFill>
                  <a:srgbClr val="7DE0DA"/>
                </a:solidFill>
              </a:rPr>
              <a:t>THE TAKEAWAY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8368" y="132588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</a:rPr>
              <a:t>Rayfin is the toolkit.</a:t>
            </a:r>
            <a:endParaRPr lang="en-US" sz="3100" dirty="0"/>
          </a:p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</a:rPr>
              <a:t>Fabric Apps is the governed business application.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731520" y="31546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6A6"/>
                </a:solidFill>
              </a:rPr>
              <a:t>01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53312" y="31546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FFFFFF"/>
                </a:solidFill>
              </a:rPr>
              <a:t>Start with workflow friction</a:t>
            </a:r>
            <a:endParaRPr lang="en-US" sz="1520" dirty="0"/>
          </a:p>
        </p:txBody>
      </p:sp>
      <p:sp>
        <p:nvSpPr>
          <p:cNvPr id="14" name="Text 12"/>
          <p:cNvSpPr/>
          <p:nvPr/>
        </p:nvSpPr>
        <p:spPr>
          <a:xfrm>
            <a:off x="5440680" y="3172968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AAB2C8"/>
                </a:solidFill>
              </a:rPr>
              <a:t>Identified users, meaningful action and a measurable outcome.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731520" y="402336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B4EFF"/>
                </a:solidFill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53312" y="40233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FFFFFF"/>
                </a:solidFill>
              </a:rPr>
              <a:t>Use the platform advantage</a:t>
            </a:r>
            <a:endParaRPr lang="en-US" sz="1520" dirty="0"/>
          </a:p>
        </p:txBody>
      </p:sp>
      <p:sp>
        <p:nvSpPr>
          <p:cNvPr id="17" name="Text 15"/>
          <p:cNvSpPr/>
          <p:nvPr/>
        </p:nvSpPr>
        <p:spPr>
          <a:xfrm>
            <a:off x="5440680" y="4041648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AAB2C8"/>
                </a:solidFill>
              </a:rPr>
              <a:t>Fabric data, identity, governance and managed backend in one product model.</a:t>
            </a:r>
            <a:endParaRPr lang="en-US" sz="1120" dirty="0"/>
          </a:p>
        </p:txBody>
      </p:sp>
      <p:sp>
        <p:nvSpPr>
          <p:cNvPr id="18" name="Text 16"/>
          <p:cNvSpPr/>
          <p:nvPr/>
        </p:nvSpPr>
        <p:spPr>
          <a:xfrm>
            <a:off x="731520" y="489204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83B8C"/>
                </a:solidFill>
              </a:rPr>
              <a:t>03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53312" y="48920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20" b="1" dirty="0">
                <a:solidFill>
                  <a:srgbClr val="FFFFFF"/>
                </a:solidFill>
              </a:rPr>
              <a:t>Pilot the preview with evidence</a:t>
            </a:r>
            <a:endParaRPr lang="en-US" sz="1520" dirty="0"/>
          </a:p>
        </p:txBody>
      </p:sp>
      <p:sp>
        <p:nvSpPr>
          <p:cNvPr id="20" name="Text 18"/>
          <p:cNvSpPr/>
          <p:nvPr/>
        </p:nvSpPr>
        <p:spPr>
          <a:xfrm>
            <a:off x="5440680" y="4910328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AAB2C8"/>
                </a:solidFill>
              </a:rPr>
              <a:t>Validate current capability, measure value and make an explicit scale decision.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8796528" y="1371600"/>
            <a:ext cx="2487168" cy="1600200"/>
          </a:xfrm>
          <a:prstGeom prst="roundRect">
            <a:avLst>
              <a:gd name="adj" fmla="val 5714"/>
            </a:avLst>
          </a:prstGeom>
          <a:solidFill>
            <a:srgbClr val="151D35"/>
          </a:solidFill>
          <a:ln w="10160">
            <a:solidFill>
              <a:srgbClr val="323C5C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9646920" y="1682496"/>
            <a:ext cx="658368" cy="658368"/>
          </a:xfrm>
          <a:prstGeom prst="ellipse">
            <a:avLst/>
          </a:prstGeom>
          <a:solidFill>
            <a:srgbClr val="263A25"/>
          </a:solidFill>
          <a:ln w="12700">
            <a:solidFill>
              <a:srgbClr val="263A2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1761" y="1827337"/>
            <a:ext cx="368686" cy="368686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9262872" y="251460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b="1" kern="0" spc="100" dirty="0">
                <a:solidFill>
                  <a:srgbClr val="BDE891"/>
                </a:solidFill>
              </a:rPr>
              <a:t>NEXT STEP</a:t>
            </a:r>
            <a:endParaRPr lang="en-US" sz="870" dirty="0"/>
          </a:p>
        </p:txBody>
      </p:sp>
      <p:sp>
        <p:nvSpPr>
          <p:cNvPr id="25" name="Text 22"/>
          <p:cNvSpPr/>
          <p:nvPr/>
        </p:nvSpPr>
        <p:spPr>
          <a:xfrm>
            <a:off x="9025128" y="3310128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850" b="1" dirty="0">
                <a:solidFill>
                  <a:srgbClr val="FFFFFF"/>
                </a:solidFill>
              </a:rPr>
              <a:t>Select one workflow</a:t>
            </a:r>
            <a:endParaRPr lang="en-US" sz="1850" dirty="0"/>
          </a:p>
          <a:p>
            <a:pPr marL="0" indent="0" algn="ctr">
              <a:buNone/>
            </a:pPr>
            <a:r>
              <a:rPr lang="en-US" sz="1850" b="1" dirty="0">
                <a:solidFill>
                  <a:srgbClr val="FFFFFF"/>
                </a:solidFill>
              </a:rPr>
              <a:t>for a 90-day pilot</a:t>
            </a:r>
            <a:endParaRPr lang="en-US" sz="1850" dirty="0"/>
          </a:p>
        </p:txBody>
      </p:sp>
      <p:pic>
        <p:nvPicPr>
          <p:cNvPr id="26" name="Image 1" descr="Rayfin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5559552"/>
            <a:ext cx="1874520" cy="6583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30395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4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A4ADC3"/>
                </a:solidFill>
              </a:rPr>
              <a:t>Microsoft Fabric Apps (preview) — Business Product Owner briefing — July 2026</a:t>
            </a:r>
            <a:endParaRPr lang="en-US" sz="770" dirty="0"/>
          </a:p>
        </p:txBody>
      </p:sp>
      <p:sp>
        <p:nvSpPr>
          <p:cNvPr id="29" name="Text 25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929BB7"/>
                </a:solidFill>
              </a:rPr>
              <a:t>39</a:t>
            </a:r>
            <a:endParaRPr lang="en-US" sz="71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74352" y="-960120"/>
            <a:ext cx="3566160" cy="3566160"/>
          </a:xfrm>
          <a:prstGeom prst="ellipse">
            <a:avLst/>
          </a:prstGeom>
          <a:solidFill>
            <a:srgbClr val="6B4EFF">
              <a:alpha val="24000"/>
            </a:srgbClr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442448" y="-384048"/>
            <a:ext cx="2468880" cy="2468880"/>
          </a:xfrm>
          <a:prstGeom prst="ellipse">
            <a:avLst/>
          </a:prstGeom>
          <a:solidFill>
            <a:srgbClr val="00A6A6">
              <a:alpha val="30000"/>
            </a:srgbClr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698480" y="210312"/>
            <a:ext cx="210312" cy="841248"/>
          </a:xfrm>
          <a:prstGeom prst="roundRect">
            <a:avLst>
              <a:gd name="adj" fmla="val 21739"/>
            </a:avLst>
          </a:prstGeom>
          <a:solidFill>
            <a:srgbClr val="00A6A6"/>
          </a:solidFill>
          <a:ln w="12700">
            <a:solidFill>
              <a:srgbClr val="00A6A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981944" y="73152"/>
            <a:ext cx="210312" cy="1115568"/>
          </a:xfrm>
          <a:prstGeom prst="roundRect">
            <a:avLst>
              <a:gd name="adj" fmla="val 21739"/>
            </a:avLst>
          </a:prstGeom>
          <a:solidFill>
            <a:srgbClr val="6B4EFF"/>
          </a:solidFill>
          <a:ln w="12700">
            <a:solidFill>
              <a:srgbClr val="6B4E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265408" y="283464"/>
            <a:ext cx="210312" cy="731520"/>
          </a:xfrm>
          <a:prstGeom prst="roundRect">
            <a:avLst>
              <a:gd name="adj" fmla="val 21739"/>
            </a:avLst>
          </a:prstGeom>
          <a:solidFill>
            <a:srgbClr val="D83B8C"/>
          </a:solidFill>
          <a:ln w="12700">
            <a:solidFill>
              <a:srgbClr val="D83B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1548872" y="448056"/>
            <a:ext cx="210312" cy="438912"/>
          </a:xfrm>
          <a:prstGeom prst="roundRect">
            <a:avLst>
              <a:gd name="adj" fmla="val 21739"/>
            </a:avLst>
          </a:prstGeom>
          <a:solidFill>
            <a:srgbClr val="85C441"/>
          </a:solidFill>
          <a:ln w="12700">
            <a:solidFill>
              <a:srgbClr val="85C44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66928" y="356616"/>
            <a:ext cx="6675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b="1" kern="0" spc="145" dirty="0">
                <a:solidFill>
                  <a:srgbClr val="00A6A6"/>
                </a:solidFill>
              </a:rPr>
              <a:t>APPENDIX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758952"/>
            <a:ext cx="97383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50" b="1" dirty="0">
                <a:solidFill>
                  <a:srgbClr val="11162A"/>
                </a:solidFill>
              </a:rPr>
              <a:t>Sources and information status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585216" y="1371600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67085"/>
                </a:solidFill>
              </a:rPr>
              <a:t>Public sources underpin the external narrative; source decks and WorkIQ enriched the product framing and readiness caveats.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" y="1874520"/>
            <a:ext cx="6720840" cy="4133088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0160">
            <a:solidFill>
              <a:srgbClr val="E0E5EF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87552" y="219456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kern="0" spc="100" dirty="0">
                <a:solidFill>
                  <a:srgbClr val="00A6A6"/>
                </a:solidFill>
              </a:rPr>
              <a:t>PUBLIC SOURCES</a:t>
            </a:r>
            <a:endParaRPr lang="en-US" sz="88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688336"/>
            <a:ext cx="164592" cy="164592"/>
          </a:xfrm>
          <a:prstGeom prst="rect">
            <a:avLst/>
          </a:prstGeom>
        </p:spPr>
      </p:pic>
      <p:sp>
        <p:nvSpPr>
          <p:cNvPr id="16" name="Text 13">
            <a:hlinkClick r:id="rId4"/>
          </p:cNvPr>
          <p:cNvSpPr/>
          <p:nvPr/>
        </p:nvSpPr>
        <p:spPr>
          <a:xfrm>
            <a:off x="1325880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10" u="sng" dirty="0">
                <a:solidFill>
                  <a:srgbClr val="2474D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Learn — What is Fabric Apps (Preview)?</a:t>
            </a:r>
            <a:endParaRPr lang="en-US" sz="111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218688"/>
            <a:ext cx="164592" cy="164592"/>
          </a:xfrm>
          <a:prstGeom prst="rect">
            <a:avLst/>
          </a:prstGeom>
        </p:spPr>
      </p:pic>
      <p:sp>
        <p:nvSpPr>
          <p:cNvPr id="18" name="Text 14">
            <a:hlinkClick r:id="rId5"/>
          </p:cNvPr>
          <p:cNvSpPr/>
          <p:nvPr/>
        </p:nvSpPr>
        <p:spPr>
          <a:xfrm>
            <a:off x="1325880" y="318211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10" u="sng" dirty="0">
                <a:solidFill>
                  <a:srgbClr val="2474D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 Build 2026 — Building agentic apps with Fabric</a:t>
            </a:r>
            <a:endParaRPr lang="en-US" sz="111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164592" cy="164592"/>
          </a:xfrm>
          <a:prstGeom prst="rect">
            <a:avLst/>
          </a:prstGeom>
        </p:spPr>
      </p:pic>
      <p:sp>
        <p:nvSpPr>
          <p:cNvPr id="20" name="Text 15">
            <a:hlinkClick r:id="rId6"/>
          </p:cNvPr>
          <p:cNvSpPr/>
          <p:nvPr/>
        </p:nvSpPr>
        <p:spPr>
          <a:xfrm>
            <a:off x="1325880" y="371246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10" u="sng" dirty="0">
                <a:solidFill>
                  <a:srgbClr val="2474D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— microsoft/rayfin</a:t>
            </a:r>
            <a:endParaRPr lang="en-US" sz="111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9392"/>
            <a:ext cx="164592" cy="164592"/>
          </a:xfrm>
          <a:prstGeom prst="rect">
            <a:avLst/>
          </a:prstGeom>
        </p:spPr>
      </p:pic>
      <p:sp>
        <p:nvSpPr>
          <p:cNvPr id="22" name="Text 16">
            <a:hlinkClick r:id="rId7"/>
          </p:cNvPr>
          <p:cNvSpPr/>
          <p:nvPr/>
        </p:nvSpPr>
        <p:spPr>
          <a:xfrm>
            <a:off x="1325880" y="424281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10" u="sng" dirty="0">
                <a:solidFill>
                  <a:srgbClr val="2474D2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Rayfin documentation</a:t>
            </a:r>
            <a:endParaRPr lang="en-US" sz="111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809744"/>
            <a:ext cx="164592" cy="164592"/>
          </a:xfrm>
          <a:prstGeom prst="rect">
            <a:avLst/>
          </a:prstGeom>
        </p:spPr>
      </p:pic>
      <p:sp>
        <p:nvSpPr>
          <p:cNvPr id="24" name="Text 17">
            <a:hlinkClick r:id="rId8"/>
          </p:cNvPr>
          <p:cNvSpPr/>
          <p:nvPr/>
        </p:nvSpPr>
        <p:spPr>
          <a:xfrm>
            <a:off x="1325880" y="477316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10" u="sng" dirty="0">
                <a:solidFill>
                  <a:srgbClr val="2474D2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Build session BRK225</a:t>
            </a:r>
            <a:endParaRPr lang="en-US" sz="1110" dirty="0"/>
          </a:p>
        </p:txBody>
      </p:sp>
      <p:sp>
        <p:nvSpPr>
          <p:cNvPr id="25" name="Shape 18"/>
          <p:cNvSpPr/>
          <p:nvPr/>
        </p:nvSpPr>
        <p:spPr>
          <a:xfrm>
            <a:off x="7662672" y="1874520"/>
            <a:ext cx="3858768" cy="2057400"/>
          </a:xfrm>
          <a:prstGeom prst="roundRect">
            <a:avLst>
              <a:gd name="adj" fmla="val 4444"/>
            </a:avLst>
          </a:prstGeom>
          <a:solidFill>
            <a:srgbClr val="F4F1FF"/>
          </a:solidFill>
          <a:ln w="10160">
            <a:solidFill>
              <a:srgbClr val="D4CAFF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Text 19"/>
          <p:cNvSpPr/>
          <p:nvPr/>
        </p:nvSpPr>
        <p:spPr>
          <a:xfrm>
            <a:off x="7973568" y="219456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kern="0" spc="100" dirty="0">
                <a:solidFill>
                  <a:srgbClr val="6B4EFF"/>
                </a:solidFill>
              </a:rPr>
              <a:t>SOURCE MATERIAL</a:t>
            </a:r>
            <a:endParaRPr lang="en-US" sz="880" dirty="0"/>
          </a:p>
        </p:txBody>
      </p:sp>
      <p:sp>
        <p:nvSpPr>
          <p:cNvPr id="27" name="Text 20"/>
          <p:cNvSpPr/>
          <p:nvPr/>
        </p:nvSpPr>
        <p:spPr>
          <a:xfrm>
            <a:off x="7973568" y="2688336"/>
            <a:ext cx="3154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• BRK225 Build 2026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• Fabric-Apps-Insiders.pptx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334B"/>
                </a:solidFill>
              </a:rPr>
              <a:t>• WorkIQ: Rayfin / Fabric Apps emails, Teams, meetings and documents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662672" y="4187952"/>
            <a:ext cx="3858768" cy="1819656"/>
          </a:xfrm>
          <a:prstGeom prst="roundRect">
            <a:avLst>
              <a:gd name="adj" fmla="val 5025"/>
            </a:avLst>
          </a:prstGeom>
          <a:solidFill>
            <a:srgbClr val="FFF0D5"/>
          </a:solidFill>
          <a:ln w="10160">
            <a:solidFill>
              <a:srgbClr val="F4C56D"/>
            </a:solidFill>
            <a:prstDash val="solid"/>
          </a:ln>
          <a:effectLst>
            <a:outerShdw blurRad="25400" dist="12700" dir="2700000" algn="bl" rotWithShape="0">
              <a:srgbClr val="2D365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9" name="Text 22"/>
          <p:cNvSpPr/>
          <p:nvPr/>
        </p:nvSpPr>
        <p:spPr>
          <a:xfrm>
            <a:off x="7973568" y="450799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kern="0" spc="100" dirty="0">
                <a:solidFill>
                  <a:srgbClr val="F5A623"/>
                </a:solidFill>
              </a:rPr>
              <a:t>DISCLAIMER</a:t>
            </a:r>
            <a:endParaRPr lang="en-US" sz="880" dirty="0"/>
          </a:p>
        </p:txBody>
      </p:sp>
      <p:sp>
        <p:nvSpPr>
          <p:cNvPr id="30" name="Text 23"/>
          <p:cNvSpPr/>
          <p:nvPr/>
        </p:nvSpPr>
        <p:spPr>
          <a:xfrm>
            <a:off x="7973568" y="4910328"/>
            <a:ext cx="3154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7B5B21"/>
                </a:solidFill>
              </a:rPr>
              <a:t>Fabric Apps is in preview. Regions, features, cost behavior, licensing and dates can evolve. Recheck official sources before external commitments.</a:t>
            </a:r>
            <a:endParaRPr lang="en-US" sz="1060" dirty="0"/>
          </a:p>
        </p:txBody>
      </p:sp>
      <p:sp>
        <p:nvSpPr>
          <p:cNvPr id="31" name="Shape 24"/>
          <p:cNvSpPr/>
          <p:nvPr/>
        </p:nvSpPr>
        <p:spPr>
          <a:xfrm>
            <a:off x="493776" y="6428232"/>
            <a:ext cx="11183112" cy="0"/>
          </a:xfrm>
          <a:prstGeom prst="line">
            <a:avLst/>
          </a:prstGeom>
          <a:noFill/>
          <a:ln w="7620">
            <a:solidFill>
              <a:srgbClr val="DFE4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5"/>
          <p:cNvSpPr/>
          <p:nvPr/>
        </p:nvSpPr>
        <p:spPr>
          <a:xfrm>
            <a:off x="521208" y="6501384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10" dirty="0">
                <a:solidFill>
                  <a:srgbClr val="7B8195"/>
                </a:solidFill>
              </a:rPr>
              <a:t>Last consolidated: July 13, 2026.</a:t>
            </a:r>
            <a:endParaRPr lang="en-US" sz="710" dirty="0"/>
          </a:p>
        </p:txBody>
      </p:sp>
      <p:sp>
        <p:nvSpPr>
          <p:cNvPr id="33" name="Text 26"/>
          <p:cNvSpPr/>
          <p:nvPr/>
        </p:nvSpPr>
        <p:spPr>
          <a:xfrm>
            <a:off x="11384280" y="6492240"/>
            <a:ext cx="237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10" dirty="0">
                <a:solidFill>
                  <a:srgbClr val="7B8195"/>
                </a:solidFill>
              </a:rPr>
              <a:t>40</a:t>
            </a:r>
            <a:endParaRPr lang="en-US" sz="7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3644</Words>
  <Application>Microsoft Office PowerPoint</Application>
  <PresentationFormat>Widescreen</PresentationFormat>
  <Paragraphs>594</Paragraphs>
  <Slides>54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54</vt:i4>
      </vt:variant>
    </vt:vector>
  </HeadingPairs>
  <TitlesOfParts>
    <vt:vector size="61" baseType="lpstr">
      <vt:lpstr>Aptos</vt:lpstr>
      <vt:lpstr>Arial</vt:lpstr>
      <vt:lpstr>Calibri</vt:lpstr>
      <vt:lpstr>Consolas</vt:lpstr>
      <vt:lpstr>Trebuchet MS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Fabric Apps, built with Rayfin</dc:title>
  <dc:subject>Microsoft Fabric Apps and Rayfin for Business Product Owners</dc:subject>
  <dc:creator>Microsoft</dc:creator>
  <cp:lastModifiedBy>Frederic Gisbert</cp:lastModifiedBy>
  <cp:revision>9</cp:revision>
  <dcterms:created xsi:type="dcterms:W3CDTF">2026-07-13T14:19:00Z</dcterms:created>
  <dcterms:modified xsi:type="dcterms:W3CDTF">2026-07-23T10:58:13Z</dcterms:modified>
</cp:coreProperties>
</file>