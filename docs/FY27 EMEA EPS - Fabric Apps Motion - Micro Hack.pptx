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EMEA EPS  ·  FABRIC MOTION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212848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Paths to Microsoft Fabric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 for System Integrators  ·  Workloads for SDC / ISV  —  enabled through the “Micro Hack”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41148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 / SI  ·  MICRO HACK 1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0" y="4114800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00B4A6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0" y="4114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WORKLOADS / SDC  ·  MICRO HACK 2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6126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6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 ·  EPS Tech / GTM  ·  Draft for v-team review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899129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MOTION  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Paths to Microsoft Fabric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786384"/>
            <a:ext cx="89912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D7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 for System Integrators  •  Workloads for SDC / ISV  —  enabled through the “Micro Hack”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814255" y="3657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B4A6"/>
          </a:solidFill>
          <a:ln/>
        </p:spPr>
      </p:sp>
      <p:sp>
        <p:nvSpPr>
          <p:cNvPr id="7" name="Text 5"/>
          <p:cNvSpPr/>
          <p:nvPr/>
        </p:nvSpPr>
        <p:spPr>
          <a:xfrm>
            <a:off x="9814255" y="365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MOTIONS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 |  Apps via Rayfin (System Integrators)  •  Workloads via the Extensibility Toolkit (SDC / ISV)  |  the “Micro Hack”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5358384" cy="2880360"/>
          </a:xfrm>
          <a:prstGeom prst="roundRect">
            <a:avLst>
              <a:gd name="adj" fmla="val 2540"/>
            </a:avLst>
          </a:prstGeom>
          <a:solidFill>
            <a:srgbClr val="EAF3FB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600200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1600200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 / SI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712464" y="163677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Integrators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68096" y="2130552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business apps </a:t>
            </a:r>
            <a:pPr indent="0" marL="0">
              <a:buNone/>
            </a:pPr>
            <a:r>
              <a:rPr lang="en-US" sz="14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Microsoft Fabric with </a:t>
            </a:r>
            <a:pPr indent="0" marL="0">
              <a:buNone/>
            </a:pPr>
            <a:r>
              <a:rPr lang="en-US" sz="145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</a:t>
            </a:r>
            <a:pPr indent="0" marL="0">
              <a:buNone/>
            </a:pPr>
            <a:r>
              <a:rPr lang="en-US" sz="14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(managed backend)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68096" y="2734056"/>
            <a:ext cx="4919472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2734056"/>
            <a:ext cx="4608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APPROACH   </a:t>
            </a:r>
            <a:pPr indent="0" marL="0">
              <a:buNone/>
            </a:pPr>
            <a:r>
              <a:rPr lang="en-US" sz="125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apps via Rayfin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8096" y="3172968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  </a:t>
            </a:r>
            <a:pPr indent="0" marL="0">
              <a:buNone/>
            </a:pPr>
            <a:r>
              <a:rPr lang="en-US" sz="125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 opportunities (MSX), Stage 1 &amp; 2 — ACR vision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68096" y="346557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SIs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8096" y="3703320"/>
            <a:ext cx="51755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703320"/>
            <a:ext cx="51755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PwC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395374" y="3703320"/>
            <a:ext cx="592531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95374" y="3703320"/>
            <a:ext cx="5925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KPMG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097634" y="3703320"/>
            <a:ext cx="44257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97634" y="3703320"/>
            <a:ext cx="4425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649931" y="3703320"/>
            <a:ext cx="592531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49931" y="3703320"/>
            <a:ext cx="5925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HVMC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52190" y="3703320"/>
            <a:ext cx="592531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52190" y="3703320"/>
            <a:ext cx="5925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Bain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054450" y="3703320"/>
            <a:ext cx="51755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54450" y="3703320"/>
            <a:ext cx="51755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BCG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81728" y="3703320"/>
            <a:ext cx="892454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81728" y="3703320"/>
            <a:ext cx="89245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McKinsey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68096" y="4123944"/>
            <a:ext cx="967435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8096" y="4123944"/>
            <a:ext cx="9674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Accenture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089904" y="1417320"/>
            <a:ext cx="5358384" cy="2880360"/>
          </a:xfrm>
          <a:prstGeom prst="roundRect">
            <a:avLst>
              <a:gd name="adj" fmla="val 2540"/>
            </a:avLst>
          </a:prstGeom>
          <a:solidFill>
            <a:srgbClr val="E6F7F4"/>
          </a:solidFill>
          <a:ln w="12700">
            <a:solidFill>
              <a:srgbClr val="00B4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072" y="160020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B4A6"/>
          </a:solidFill>
          <a:ln/>
        </p:spPr>
      </p:sp>
      <p:sp>
        <p:nvSpPr>
          <p:cNvPr id="36" name="Text 34"/>
          <p:cNvSpPr/>
          <p:nvPr/>
        </p:nvSpPr>
        <p:spPr>
          <a:xfrm>
            <a:off x="6291072" y="160020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WORKLOADS / SDC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253728" y="163677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ISV / SDC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309360" y="2130552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SDCs build </a:t>
            </a:r>
            <a:pPr indent="0" marL="0">
              <a:buNone/>
            </a:pPr>
            <a:r>
              <a:rPr lang="en-US" sz="1450" b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Fabric workload </a:t>
            </a:r>
            <a:pPr indent="0" marL="0">
              <a:buNone/>
            </a:pPr>
            <a:r>
              <a:rPr lang="en-US" sz="145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embed it in their offer</a:t>
            </a:r>
            <a:endParaRPr lang="en-US" sz="1450" dirty="0"/>
          </a:p>
        </p:txBody>
      </p:sp>
      <p:sp>
        <p:nvSpPr>
          <p:cNvPr id="39" name="Shape 37"/>
          <p:cNvSpPr/>
          <p:nvPr/>
        </p:nvSpPr>
        <p:spPr>
          <a:xfrm>
            <a:off x="6309360" y="2734056"/>
            <a:ext cx="4919472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00B4A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73952" y="2734056"/>
            <a:ext cx="4608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APPROACH   </a:t>
            </a:r>
            <a:pPr indent="0" marL="0">
              <a:buNone/>
            </a:pPr>
            <a:r>
              <a:rPr lang="en-US" sz="125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 via Extensibility Toolkit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3172968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  </a:t>
            </a:r>
            <a:pPr indent="0" marL="0">
              <a:buNone/>
            </a:pPr>
            <a:r>
              <a:rPr lang="en-US" sz="125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 workloads per SDC — Adoption vision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6309360" y="3538728"/>
            <a:ext cx="491947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00B4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73952" y="3538728"/>
            <a:ext cx="46085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   </a:t>
            </a:r>
            <a:pPr indent="0" marL="0">
              <a:buNone/>
            </a:pPr>
            <a:r>
              <a:rPr lang="en-US" sz="125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SDC ships ≥ 1 Fabric workload, native on OneLake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48640" y="4462272"/>
            <a:ext cx="5358384" cy="1691640"/>
          </a:xfrm>
          <a:prstGeom prst="roundRect">
            <a:avLst>
              <a:gd name="adj" fmla="val 3784"/>
            </a:avLst>
          </a:prstGeom>
          <a:solidFill>
            <a:srgbClr val="F3F7FB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" y="4462272"/>
            <a:ext cx="82296" cy="1691640"/>
          </a:xfrm>
          <a:prstGeom prst="rect">
            <a:avLst/>
          </a:prstGeom>
          <a:solidFill>
            <a:srgbClr val="33485C"/>
          </a:solidFill>
          <a:ln/>
        </p:spPr>
      </p:sp>
      <p:sp>
        <p:nvSpPr>
          <p:cNvPr id="46" name="Text 44"/>
          <p:cNvSpPr/>
          <p:nvPr/>
        </p:nvSpPr>
        <p:spPr>
          <a:xfrm>
            <a:off x="768096" y="4590288"/>
            <a:ext cx="4992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BUILD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768096" y="4882896"/>
            <a:ext cx="4937760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Micro Hack kit — one reusable enablement asset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reference scenarios — Helios (Apps) · GreenGrid (Workload)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Co-deliver run #1, then partners repeat on their own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once → partner-led repeat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053328" y="4462272"/>
            <a:ext cx="2542032" cy="1691640"/>
          </a:xfrm>
          <a:prstGeom prst="roundRect">
            <a:avLst>
              <a:gd name="adj" fmla="val 3784"/>
            </a:avLst>
          </a:prstGeom>
          <a:solidFill>
            <a:srgbClr val="0B2447"/>
          </a:solidFill>
          <a:ln/>
        </p:spPr>
      </p:sp>
      <p:sp>
        <p:nvSpPr>
          <p:cNvPr id="49" name="Text 47"/>
          <p:cNvSpPr/>
          <p:nvPr/>
        </p:nvSpPr>
        <p:spPr>
          <a:xfrm>
            <a:off x="6053328" y="4608576"/>
            <a:ext cx="2542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79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6053328" y="5065776"/>
            <a:ext cx="2542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 Hack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6053328" y="5376672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Enablement vehicle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199632" y="5632704"/>
            <a:ext cx="2249424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D7E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day · scenario in → working output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741664" y="4462272"/>
            <a:ext cx="2542032" cy="1691640"/>
          </a:xfrm>
          <a:prstGeom prst="roundRect">
            <a:avLst>
              <a:gd name="adj" fmla="val 3784"/>
            </a:avLst>
          </a:prstGeom>
          <a:solidFill>
            <a:srgbClr val="0B2447"/>
          </a:solidFill>
          <a:ln/>
        </p:spPr>
      </p:sp>
      <p:sp>
        <p:nvSpPr>
          <p:cNvPr id="54" name="Text 52"/>
          <p:cNvSpPr/>
          <p:nvPr/>
        </p:nvSpPr>
        <p:spPr>
          <a:xfrm>
            <a:off x="8942832" y="4608576"/>
            <a:ext cx="2176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8961120" y="4974336"/>
            <a:ext cx="2157984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→"/>
            </a:pPr>
            <a:r>
              <a:rPr lang="en-US" sz="1150" dirty="0">
                <a:solidFill>
                  <a:srgbClr val="D7E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Sponsorship + funding</a:t>
            </a:r>
            <a:endParaRPr lang="en-US" sz="1150" dirty="0"/>
          </a:p>
          <a:p>
            <a:pPr algn="l" marL="177800" indent="-177800">
              <a:spcAft>
                <a:spcPts val="500"/>
              </a:spcAft>
              <a:buSzPct val="100000"/>
              <a:buChar char="→"/>
            </a:pPr>
            <a:r>
              <a:rPr lang="en-US" sz="1150" dirty="0">
                <a:solidFill>
                  <a:srgbClr val="D7E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Workloads PM (Toolkit / Hub)</a:t>
            </a:r>
            <a:endParaRPr lang="en-US" sz="1150" dirty="0"/>
          </a:p>
          <a:p>
            <a:pPr algn="l" marL="177800" indent="-177800">
              <a:spcAft>
                <a:spcPts val="500"/>
              </a:spcAft>
              <a:buSzPct val="100000"/>
              <a:buChar char="→"/>
            </a:pPr>
            <a:r>
              <a:rPr lang="en-US" sz="1150" b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sponsor per track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109441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CONTEXT  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now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 |  Apps via Rayfin (System Integrators)  •  Workloads via the Extensibility Toolkit (SDC / ISV)  |  the “Micro Hack”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146304" cy="146304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39903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business ships software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663440" y="1399032"/>
            <a:ext cx="69796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enterprise apps still means months of backend plumbing. Fabric + Rayfin removes it — declare your data, ship in one command.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146304" cy="146304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47802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AI-era apps need governed data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478024"/>
            <a:ext cx="69796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 &amp; workloads on Fabric inherit OneLake governance, security and a single copy of data — no data movement.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593592"/>
            <a:ext cx="146304" cy="146304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55701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large, growing audience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63440" y="3557016"/>
            <a:ext cx="69796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 build customer apps on Fabric; SDCs reach every Fabric customer by publishing a workload to the Workload Hub.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672584"/>
            <a:ext cx="146304" cy="146304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463600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 multiply impact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663440" y="4636008"/>
            <a:ext cx="69796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Sharing an opportunity with a partner: +95.6% win rate and +46% larger deal size. Scaling through SIs &amp; SDCs covers the ecosystem.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A  ·  MICRO HACK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68680" y="2724912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Advisory / Apps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Integrators build business apps on Microsoft Fabric with Rayfin — KPI: # opportunities (MSX), ACR vision.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 |  Apps via Rayfin (System Integrators)  •  Workloads via the Extensibility Toolkit (SDC / ISV)  |  the “Micro Hack”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109441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A — ADVISORY / APPS  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 scenario to a real opportunity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 |  Apps via Rayfin (System Integrators)  •  Workloads via the Extensibility Toolkit (SDC / ISV)  |  the “Micro Hack”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48640" y="1261872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Apps path turns one Micro Hack day into a working app on Fabric — the artifact the SI uses to open a customer opportunity.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10512"/>
            <a:ext cx="1529029" cy="1051560"/>
          </a:xfrm>
          <a:prstGeom prst="roundRect">
            <a:avLst>
              <a:gd name="adj" fmla="val 6957"/>
            </a:avLst>
          </a:prstGeom>
          <a:solidFill>
            <a:srgbClr val="0B2447"/>
          </a:solidFill>
          <a:ln w="15875">
            <a:solidFill>
              <a:srgbClr val="007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83664"/>
            <a:ext cx="1382725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Fixed scenario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41093" y="1810512"/>
            <a:ext cx="457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461717" y="1810512"/>
            <a:ext cx="1529029" cy="1051560"/>
          </a:xfrm>
          <a:prstGeom prst="roundRect">
            <a:avLst>
              <a:gd name="adj" fmla="val 6957"/>
            </a:avLst>
          </a:prstGeom>
          <a:solidFill>
            <a:srgbClr val="EAF3FB"/>
          </a:solidFill>
          <a:ln w="15875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34869" y="1883664"/>
            <a:ext cx="1382725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with GitHub Copilot CLI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54170" y="1810512"/>
            <a:ext cx="457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4794" y="1810512"/>
            <a:ext cx="1529029" cy="1051560"/>
          </a:xfrm>
          <a:prstGeom prst="roundRect">
            <a:avLst>
              <a:gd name="adj" fmla="val 6957"/>
            </a:avLst>
          </a:prstGeom>
          <a:solidFill>
            <a:srgbClr val="EAF3FB"/>
          </a:solidFill>
          <a:ln w="15875">
            <a:solidFill>
              <a:srgbClr val="0078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47946" y="1883664"/>
            <a:ext cx="1382725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— data model = the database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67248" y="1810512"/>
            <a:ext cx="457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87872" y="1810512"/>
            <a:ext cx="1529029" cy="1051560"/>
          </a:xfrm>
          <a:prstGeom prst="roundRect">
            <a:avLst>
              <a:gd name="adj" fmla="val 6957"/>
            </a:avLst>
          </a:prstGeom>
          <a:solidFill>
            <a:srgbClr val="EAF3FB"/>
          </a:solidFill>
          <a:ln w="15875">
            <a:solidFill>
              <a:srgbClr val="0078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1024" y="1883664"/>
            <a:ext cx="1382725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· rayfin up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80325" y="1810512"/>
            <a:ext cx="457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00949" y="1810512"/>
            <a:ext cx="1529029" cy="1051560"/>
          </a:xfrm>
          <a:prstGeom prst="roundRect">
            <a:avLst>
              <a:gd name="adj" fmla="val 6957"/>
            </a:avLst>
          </a:prstGeom>
          <a:solidFill>
            <a:srgbClr val="EAF3FB"/>
          </a:solidFill>
          <a:ln w="15875">
            <a:solidFill>
              <a:srgbClr val="0078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4101" y="1883664"/>
            <a:ext cx="1382725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live in Fabric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693402" y="1810512"/>
            <a:ext cx="457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0114026" y="1810512"/>
            <a:ext cx="1529029" cy="1051560"/>
          </a:xfrm>
          <a:prstGeom prst="roundRect">
            <a:avLst>
              <a:gd name="adj" fmla="val 6957"/>
            </a:avLst>
          </a:prstGeom>
          <a:solidFill>
            <a:srgbClr val="0078D4"/>
          </a:solidFill>
          <a:ln w="15875">
            <a:solidFill>
              <a:srgbClr val="007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7178" y="1883664"/>
            <a:ext cx="1382725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opportunity (MSX)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273552"/>
            <a:ext cx="5358384" cy="1783080"/>
          </a:xfrm>
          <a:prstGeom prst="roundRect">
            <a:avLst>
              <a:gd name="adj" fmla="val 4103"/>
            </a:avLst>
          </a:prstGeom>
          <a:solidFill>
            <a:srgbClr val="EAF3FB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273552"/>
            <a:ext cx="82296" cy="17830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341985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teams ship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68096" y="3730752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Fabric-authenticated React app (Entra SSO)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typed data model that Rayfin provisions as a database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CRUD screens + app-level roles, deployed to Fabric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089904" y="3273552"/>
            <a:ext cx="5358384" cy="1783080"/>
          </a:xfrm>
          <a:prstGeom prst="roundRect">
            <a:avLst>
              <a:gd name="adj" fmla="val 4103"/>
            </a:avLst>
          </a:prstGeom>
          <a:solidFill>
            <a:srgbClr val="E6F7F4"/>
          </a:solidFill>
          <a:ln w="12700">
            <a:solidFill>
              <a:srgbClr val="00B4A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89904" y="3273552"/>
            <a:ext cx="82296" cy="1783080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30" name="Text 28"/>
          <p:cNvSpPr/>
          <p:nvPr/>
        </p:nvSpPr>
        <p:spPr>
          <a:xfrm>
            <a:off x="6309360" y="341985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wins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309360" y="3730752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backend plumbing — faster time-to-app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on OneLake, single copy of data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Partner-led &amp; repeatable → real pipeline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109441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A — MICRO HACK 1  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Apps Micro Hack — a fixed, repeatable day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 |  Apps via Rayfin (System Integrators)  •  Workloads via the Extensibility Toolkit (SDC / ISV)  |  the “Micro Hack”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07592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69796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When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Block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Content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Morning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 build on Fabric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Managed backend, governance on OneLake, time-to-app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Rayfin foundations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model = database; auth, APIs, hosting; deploy in one command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Helios Bicycle Studio built live with the GitHub Copilot CLI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Afternoon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⭐ Build sprint 1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Scaffold, declare the data model (Rayfin provisions the DB), core screens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⭐ Build sprint 2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Extend, polish, deploy to Fabric (rayfin up), demo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 &amp; next steps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Turn the app into a customer opportunity + 90-day plan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8523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afternoon is the differentiator: teams ship a real working app on Fabric — the artifact the SI uses to open a real opportunity.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109441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A — THE BUILD  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1 — Helios Bicycle Studio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 |  Apps via Rayfin (System Integrators)  •  Workloads via the Extensibility Toolkit (SDC / ISV)  |  the “Micro Hack”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307592"/>
            <a:ext cx="5358384" cy="3383280"/>
          </a:xfrm>
          <a:prstGeom prst="roundRect">
            <a:avLst>
              <a:gd name="adj" fmla="val 2162"/>
            </a:avLst>
          </a:prstGeom>
          <a:solidFill>
            <a:srgbClr val="EAF3FB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490472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49047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APP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68096" y="2020824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bike-operations app on the Rayfin data path — entities, CRUD and app-level roles, embedded in Fabric.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68096" y="2679192"/>
            <a:ext cx="49377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model = database (Rayfin provisions &amp; migrates it)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Bicycle Board, Pit-Stop Queue, Ride Mood &amp; KPI screens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Manager vs Mechanic roles enforced at the app layer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to Fabric with rayfin up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9904" y="1307592"/>
            <a:ext cx="5358384" cy="3383280"/>
          </a:xfrm>
          <a:prstGeom prst="roundRect">
            <a:avLst>
              <a:gd name="adj" fmla="val 1892"/>
            </a:avLst>
          </a:prstGeom>
          <a:solidFill>
            <a:srgbClr val="0B2447"/>
          </a:solidFill>
          <a:ln/>
        </p:spPr>
      </p:sp>
      <p:sp>
        <p:nvSpPr>
          <p:cNvPr id="12" name="Text 10"/>
          <p:cNvSpPr/>
          <p:nvPr/>
        </p:nvSpPr>
        <p:spPr>
          <a:xfrm>
            <a:off x="6291072" y="145389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kit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09360" y="1819656"/>
            <a:ext cx="4974336" cy="2779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7E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 prompt for the GitHub Copilot CLI</a:t>
            </a:r>
            <a:endParaRPr lang="en-US" sz="115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7E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code: src/apprayfin/</a:t>
            </a:r>
            <a:endParaRPr lang="en-US" sz="115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7E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Participant workbook (Step 0 → 9, build loop)</a:t>
            </a:r>
            <a:endParaRPr lang="en-US" sz="115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7E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Trainer setup + solution guide</a:t>
            </a:r>
            <a:endParaRPr lang="en-US" sz="115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Outcome: a working app the SI reuses to open an opportunity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B  ·  MICRO HACK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68680" y="2724912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Adoption / Workloads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SDCs build a Fabric workload with the Extensibility Toolkit and embed it in their offer — KPI: # workloads per SDC, Adoption vision.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 |  Apps via Rayfin (System Integrators)  •  Workloads via the Extensibility Toolkit (SDC / ISV)  |  the “Micro Hack”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109441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B — ADOPTION / WORKLOADS  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once, adopt mechanically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 |  Apps via Rayfin (System Integrators)  •  Workloads via the Extensibility Toolkit (SDC / ISV)  |  the “Micro Hack”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48640" y="1261872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SDC builds the workload one time; every one of their customers then runs it natively in Fabric — adoption scales with the SDC’s business.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10512"/>
            <a:ext cx="1529029" cy="1051560"/>
          </a:xfrm>
          <a:prstGeom prst="roundRect">
            <a:avLst>
              <a:gd name="adj" fmla="val 6957"/>
            </a:avLst>
          </a:prstGeom>
          <a:solidFill>
            <a:srgbClr val="0B2447"/>
          </a:solidFill>
          <a:ln w="15875">
            <a:solidFill>
              <a:srgbClr val="00B4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83664"/>
            <a:ext cx="1382725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SDC builds workload (Toolkit)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41093" y="1810512"/>
            <a:ext cx="457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461717" y="1810512"/>
            <a:ext cx="1529029" cy="1051560"/>
          </a:xfrm>
          <a:prstGeom prst="roundRect">
            <a:avLst>
              <a:gd name="adj" fmla="val 6957"/>
            </a:avLst>
          </a:prstGeom>
          <a:solidFill>
            <a:srgbClr val="EAF3FB"/>
          </a:solidFill>
          <a:ln w="15875">
            <a:solidFill>
              <a:srgbClr val="00B4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34869" y="1883664"/>
            <a:ext cx="1382725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OneLake (OBO token)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54170" y="1810512"/>
            <a:ext cx="457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4794" y="1810512"/>
            <a:ext cx="1529029" cy="1051560"/>
          </a:xfrm>
          <a:prstGeom prst="roundRect">
            <a:avLst>
              <a:gd name="adj" fmla="val 6957"/>
            </a:avLst>
          </a:prstGeom>
          <a:solidFill>
            <a:srgbClr val="EAF3FB"/>
          </a:solidFill>
          <a:ln w="15875">
            <a:solidFill>
              <a:srgbClr val="00B4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47946" y="1883664"/>
            <a:ext cx="1382725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 in the commercial offer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67248" y="1810512"/>
            <a:ext cx="457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87872" y="1810512"/>
            <a:ext cx="1529029" cy="1051560"/>
          </a:xfrm>
          <a:prstGeom prst="roundRect">
            <a:avLst>
              <a:gd name="adj" fmla="val 6957"/>
            </a:avLst>
          </a:prstGeom>
          <a:solidFill>
            <a:srgbClr val="EAF3FB"/>
          </a:solidFill>
          <a:ln w="15875">
            <a:solidFill>
              <a:srgbClr val="00B4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1024" y="1883664"/>
            <a:ext cx="1382725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1 … N run it in Fabric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80325" y="1810512"/>
            <a:ext cx="457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00949" y="1810512"/>
            <a:ext cx="1529029" cy="1051560"/>
          </a:xfrm>
          <a:prstGeom prst="roundRect">
            <a:avLst>
              <a:gd name="adj" fmla="val 6957"/>
            </a:avLst>
          </a:prstGeom>
          <a:solidFill>
            <a:srgbClr val="EAF3FB"/>
          </a:solidFill>
          <a:ln w="15875">
            <a:solidFill>
              <a:srgbClr val="00B4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4101" y="1883664"/>
            <a:ext cx="1382725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to Workload Hub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693402" y="1810512"/>
            <a:ext cx="457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0114026" y="1810512"/>
            <a:ext cx="1529029" cy="1051560"/>
          </a:xfrm>
          <a:prstGeom prst="roundRect">
            <a:avLst>
              <a:gd name="adj" fmla="val 6957"/>
            </a:avLst>
          </a:prstGeom>
          <a:solidFill>
            <a:srgbClr val="00B4A6"/>
          </a:solidFill>
          <a:ln w="15875">
            <a:solidFill>
              <a:srgbClr val="00B4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7178" y="1883664"/>
            <a:ext cx="1382725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adoption / ACR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273552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0B2447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" y="341985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Objective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68096" y="3785616"/>
            <a:ext cx="4974336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7E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managed SDC ships a Fabric workload</a:t>
            </a:r>
            <a:endParaRPr lang="en-US" sz="115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7E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product runs natively in Fabric on OneLake</a:t>
            </a:r>
            <a:endParaRPr lang="en-US" sz="115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SDC customer consumes Fabric by design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089904" y="3273552"/>
            <a:ext cx="5358384" cy="1783080"/>
          </a:xfrm>
          <a:prstGeom prst="roundRect">
            <a:avLst>
              <a:gd name="adj" fmla="val 4103"/>
            </a:avLst>
          </a:prstGeom>
          <a:solidFill>
            <a:srgbClr val="E6F7F4"/>
          </a:solidFill>
          <a:ln w="12700">
            <a:solidFill>
              <a:srgbClr val="00B4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89904" y="3273552"/>
            <a:ext cx="82296" cy="1783080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29" name="Text 27"/>
          <p:cNvSpPr/>
          <p:nvPr/>
        </p:nvSpPr>
        <p:spPr>
          <a:xfrm>
            <a:off x="6309360" y="341985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once → adopt many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3730752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per-customer selling — adoption is built in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 across modules of the offer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KPI: # workloads per SDC (≥ 1 / SDC)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109441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B — MICRO HACK 2  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Workloads Micro Hack — a fixed, repeatable day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 |  Apps via Rayfin (System Integrators)  •  Workloads via the Extensibility Toolkit (SDC / ISV)  |  the “Micro Hack”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07592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926080"/>
                <a:gridCol w="679673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When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Block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Content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Morning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 build a workload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Reach every Fabric customer via the Workload Hub; run on OneLake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Extensibility Toolkit foundations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Workload structure, Entra app, Dev Gateway, manifest, OBO token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GreenGrid Scorecard running live inside Fabric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Afternoon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⭐ Build sprint 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Clone toolkit, Setup.ps1 (Entra app), Dev server + gateway, Hello World, CreateNewItem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⭐ Build sprint 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Read Files/sites.csv from OneLake, call the backend, render the scorecard, polish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 &amp; next steps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Embed the workload in the SDC offer + path to publish on the Workload Hub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8523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shape as Micro Hack 1 — but the artifact is a Fabric workload the SDC embeds in its offer, so every customer adopts Fabric.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109441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B — THE BUILD  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2 — GreenGrid Scorecard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 |  Apps via Rayfin (System Integrators)  •  Workloads via the Extensibility Toolkit (SDC / ISV)  |  the “Micro Hack”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307592"/>
            <a:ext cx="5358384" cy="3383280"/>
          </a:xfrm>
          <a:prstGeom prst="roundRect">
            <a:avLst>
              <a:gd name="adj" fmla="val 2162"/>
            </a:avLst>
          </a:prstGeom>
          <a:solidFill>
            <a:srgbClr val="E6F7F4"/>
          </a:solidFill>
          <a:ln w="12700">
            <a:solidFill>
              <a:srgbClr val="00B4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490472"/>
            <a:ext cx="2468880" cy="402336"/>
          </a:xfrm>
          <a:prstGeom prst="roundRect">
            <a:avLst>
              <a:gd name="adj" fmla="val 50000"/>
            </a:avLst>
          </a:prstGeom>
          <a:solidFill>
            <a:srgbClr val="00B4A6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49047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WORKLOAD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68096" y="2020824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sustainability workload built with the Extensibility Toolkit that scores sites on their energy data — native in Fabric.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68096" y="2679192"/>
            <a:ext cx="49377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Files/sites.csv from OneLake via an OBO token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Calls the pre-deployed GreenGrid SaaS (the algorithm)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Renders a scorecard item inside the Fabric portal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Setup.ps1 creates the Entra app (needed even with Dev Gateway)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89904" y="1307592"/>
            <a:ext cx="5358384" cy="3383280"/>
          </a:xfrm>
          <a:prstGeom prst="roundRect">
            <a:avLst>
              <a:gd name="adj" fmla="val 1892"/>
            </a:avLst>
          </a:prstGeom>
          <a:solidFill>
            <a:srgbClr val="0B2447"/>
          </a:solidFill>
          <a:ln/>
        </p:spPr>
      </p:sp>
      <p:sp>
        <p:nvSpPr>
          <p:cNvPr id="12" name="Text 10"/>
          <p:cNvSpPr/>
          <p:nvPr/>
        </p:nvSpPr>
        <p:spPr>
          <a:xfrm>
            <a:off x="6291072" y="145389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kit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09360" y="1819656"/>
            <a:ext cx="4974336" cy="2779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7E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Cloned Extensibility Toolkit + setup scripts</a:t>
            </a:r>
            <a:endParaRPr lang="en-US" sz="115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7E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code: src/workloadsdc/</a:t>
            </a:r>
            <a:endParaRPr lang="en-US" sz="115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7E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Participant workbook (prerequisites → build)</a:t>
            </a:r>
            <a:endParaRPr lang="en-US" sz="115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7E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Trainer setup + solution guide</a:t>
            </a:r>
            <a:endParaRPr lang="en-US" sz="115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Outcome: a workload the SDC embeds in its offer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109441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 &amp; SUCCESS METRICS  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we measure the motion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 |  Apps via Rayfin (System Integrators)  •  Workloads via the Extensibility Toolkit (SDC / ISV)  |  the “Micro Hack”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07592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480560"/>
                <a:gridCol w="3962095"/>
              </a:tblGrid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Leading indicator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Outcome KPI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— Advisory / Apps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 Micro Hacks repeated by partner; # apps deployed to Fabric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 opportunities (MSX), Stage 1 &amp; 2; Fabric / Azure ACR pipeline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 — SDC Adoption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 managed SDCs engaged; # offers with a workload built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 workloads per SDC; Fabric usage / ACR from end-customers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Motion health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Ratio of partner-led vs MS-led sessions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Partner-sourced opportunities &amp; adoptions share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376672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North-star: the share of Micro Hacks, apps and workloads that are partner-led, not Microsoft-led.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109441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 ROADMAP  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— we build, then partners repeat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 |  Apps via Rayfin (System Integrators)  •  Workloads via the Extensibility Toolkit (SDC / ISV)  |  the “Micro Hack”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07592"/>
          <a:ext cx="11094415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790624"/>
                <a:gridCol w="1790624"/>
                <a:gridCol w="1790624"/>
                <a:gridCol w="179062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Workstream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Q1 Jul–Sep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 Oct–Dec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Q3 Jan–Mar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Q4 Apr–Jun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 — Micro Hack kit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78D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 — reference scenarios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78D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Path A — Co-deliver Run #1 ◆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78D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Path A — SIs repeat (own customers)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78D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78D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Path A — Scale advisory ecosystem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78D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78D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78D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Path B — SDC first workloads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Path B — Repeat + Workload Hub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02352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 Run #1 co-delivered end of Q1 (Sep ’26): kit in partners’ hands — the motion shifts from Microsoft build to partner-led repeat.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109441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  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need to land the motion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 |  Apps via Rayfin (System Integrators)  •  Workloads via the Extensibility Toolkit (SDC / ISV)  |  the “Micro Hack”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353312"/>
            <a:ext cx="11094415" cy="841248"/>
          </a:xfrm>
          <a:prstGeom prst="roundRect">
            <a:avLst>
              <a:gd name="adj" fmla="val 6522"/>
            </a:avLst>
          </a:prstGeom>
          <a:solidFill>
            <a:srgbClr val="F3F7FB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353312"/>
            <a:ext cx="82296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463040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Sponsorship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0" y="1463040"/>
            <a:ext cx="725393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Ahmed + EPS leadership behind one ONE-Microsoft motion.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322576"/>
            <a:ext cx="11094415" cy="841248"/>
          </a:xfrm>
          <a:prstGeom prst="roundRect">
            <a:avLst>
              <a:gd name="adj" fmla="val 6522"/>
            </a:avLst>
          </a:prstGeom>
          <a:solidFill>
            <a:srgbClr val="F3F7FB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22576"/>
            <a:ext cx="82296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432304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Funding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0" y="2432304"/>
            <a:ext cx="725393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Micro Hack kit + reference scenarios and run the first co-delivered sessions.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11094415" cy="841248"/>
          </a:xfrm>
          <a:prstGeom prst="roundRect">
            <a:avLst>
              <a:gd name="adj" fmla="val 6522"/>
            </a:avLst>
          </a:prstGeom>
          <a:solidFill>
            <a:srgbClr val="F3F7FB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291840"/>
            <a:ext cx="82296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401568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lead on workloads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14800" y="3401568"/>
            <a:ext cx="725393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Align with the Extensibility Toolkit roadmap and the Workload Hub.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261104"/>
            <a:ext cx="11094415" cy="841248"/>
          </a:xfrm>
          <a:prstGeom prst="roundRect">
            <a:avLst>
              <a:gd name="adj" fmla="val 6522"/>
            </a:avLst>
          </a:prstGeom>
          <a:solidFill>
            <a:srgbClr val="F3F7FB"/>
          </a:solidFill>
          <a:ln w="12700">
            <a:solidFill>
              <a:srgbClr val="C9D7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261104"/>
            <a:ext cx="82296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4370832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Microsoft program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114800" y="4370832"/>
            <a:ext cx="725393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SDC + Advisory → one execution layer, not parallel tracks.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0"/>
            <a:ext cx="1091153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next page of your business with Microsoft Fabric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Micro Hack day  ·  two paths (Apps + Workloads)  ·  partner-led repeat.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475488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7548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 / SI  ·  MICRO HACK 1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657600" y="4754880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00B4A6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47548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WORKLOADS / SDC  ·  MICRO HACK 2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2026-06-17T09:03:45Z</dcterms:created>
  <dcterms:modified xsi:type="dcterms:W3CDTF">2026-06-17T09:03:45Z</dcterms:modified>
</cp:coreProperties>
</file>