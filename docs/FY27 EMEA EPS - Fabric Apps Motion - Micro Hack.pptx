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"/>
            <a:ext cx="12191695" cy="73152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288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1091153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Apps Motion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38328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FE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paths to Microsoft Fabric, enabled through the “Micro Hack”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Advisory / Apps with Rayfin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SDC / Workloads with the Fabric Extensibility Toolkit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612648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· EPS Tech / GTM · Draft for v-team review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MOTION ON A PAGE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motion, two execution paths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627632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paths are powered by a single, repeatable enablement vehicle — the Micro Hack (1 day). Microsoft builds and co-delivers the first run; the partner owns and repeats it.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240280"/>
            <a:ext cx="53492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BE6F1"/>
            </a:solidFill>
            <a:prstDash val="solid"/>
          </a:ln>
          <a:effectLst>
            <a:outerShdw sx="100000" sy="100000" kx="0" ky="0" algn="bl" rotWithShape="0" blurRad="76200" dist="25400" dir="5400000">
              <a:srgbClr val="0B2447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240280"/>
            <a:ext cx="82296" cy="278892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40487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A — Advisory / Apps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2898648"/>
            <a:ext cx="48920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Audience: System Integrators &amp; advisories (PwC, KPMG, EY, HVMC, Bain, BCG, McKinsey).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business apps on Microsoft Fabric with Rayfin (managed backend) — fast, governed.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KPI: # opportunities (MSX), Stage 1 &amp; 2 — ACR vision.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2240280"/>
            <a:ext cx="534924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BE6F1"/>
            </a:solidFill>
            <a:prstDash val="solid"/>
          </a:ln>
          <a:effectLst>
            <a:outerShdw sx="100000" sy="100000" kx="0" ky="0" algn="bl" rotWithShape="0" blurRad="76200" dist="25400" dir="5400000">
              <a:srgbClr val="0B2447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2240280"/>
            <a:ext cx="82296" cy="278892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40487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B — Adoption / Workloads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2898648"/>
            <a:ext cx="4892040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Audience: Software Development Companies (SDC / ISV).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Fabric workload with the Extensibility Toolkit, embedded in the offer — runs on OneLake.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KPI: # workloads per SDC — Adoption vision (≥ 1 / SDC).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257800"/>
            <a:ext cx="3454298" cy="960120"/>
          </a:xfrm>
          <a:prstGeom prst="roundRect">
            <a:avLst>
              <a:gd name="adj" fmla="val 5714"/>
            </a:avLst>
          </a:prstGeom>
          <a:solidFill>
            <a:srgbClr val="F3F7FB"/>
          </a:solidFill>
          <a:ln w="12700">
            <a:solidFill>
              <a:srgbClr val="DBE6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0080" y="5257800"/>
            <a:ext cx="3454298" cy="64008"/>
          </a:xfrm>
          <a:prstGeom prst="rect">
            <a:avLst/>
          </a:prstGeom>
          <a:solidFill>
            <a:srgbClr val="0B244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5358384"/>
            <a:ext cx="31251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Activation — EMEA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4672" y="5650992"/>
            <a:ext cx="312511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EPS-led, ONE Microsoft. SIs + SDCs on a single execution layer.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368698" y="5257800"/>
            <a:ext cx="3454298" cy="960120"/>
          </a:xfrm>
          <a:prstGeom prst="roundRect">
            <a:avLst>
              <a:gd name="adj" fmla="val 5714"/>
            </a:avLst>
          </a:prstGeom>
          <a:solidFill>
            <a:srgbClr val="F3F7FB"/>
          </a:solidFill>
          <a:ln w="12700">
            <a:solidFill>
              <a:srgbClr val="DBE6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68698" y="5257800"/>
            <a:ext cx="3454298" cy="64008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23" name="Text 21"/>
          <p:cNvSpPr/>
          <p:nvPr/>
        </p:nvSpPr>
        <p:spPr>
          <a:xfrm>
            <a:off x="4533290" y="5358384"/>
            <a:ext cx="31251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Vehicle — the Micro Hack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33290" y="5650992"/>
            <a:ext cx="312511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day, repeatable. Fixed scenario in → working app / workload out.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097317" y="5257800"/>
            <a:ext cx="3454298" cy="960120"/>
          </a:xfrm>
          <a:prstGeom prst="roundRect">
            <a:avLst>
              <a:gd name="adj" fmla="val 5714"/>
            </a:avLst>
          </a:prstGeom>
          <a:solidFill>
            <a:srgbClr val="F3F7FB"/>
          </a:solidFill>
          <a:ln w="12700">
            <a:solidFill>
              <a:srgbClr val="DBE6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97317" y="5257800"/>
            <a:ext cx="3454298" cy="64008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27" name="Text 25"/>
          <p:cNvSpPr/>
          <p:nvPr/>
        </p:nvSpPr>
        <p:spPr>
          <a:xfrm>
            <a:off x="8261909" y="5358384"/>
            <a:ext cx="312511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261909" y="5650992"/>
            <a:ext cx="3125114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Sponsorship, funding &amp; a workloads PM to build the kit and co-run #1.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MOTION AT A GLANCE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build it, the partner repeats it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10911535" cy="1371600"/>
          </a:xfrm>
          <a:prstGeom prst="roundRect">
            <a:avLst>
              <a:gd name="adj" fmla="val 6667"/>
            </a:avLst>
          </a:prstGeom>
          <a:solidFill>
            <a:srgbClr val="EAF3FB"/>
          </a:solidFill>
          <a:ln w="1905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965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⚡ Micro Hack — 1 day, repeatable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37744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— content + demos (why Fabric · Rayfin apps · Extensibility workloads · governance)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103628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Afternoon — hands-on build: fixed scenario in → working app / workload out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BE6F1"/>
            </a:solidFill>
            <a:prstDash val="solid"/>
          </a:ln>
          <a:effectLst>
            <a:outerShdw sx="100000" sy="100000" kx="0" ky="0" algn="bl" rotWithShape="0" blurRad="76200" dist="25400" dir="5400000">
              <a:srgbClr val="0B2447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3566160"/>
            <a:ext cx="82296" cy="22860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73075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A → SI / Advisory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224528"/>
            <a:ext cx="4892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 the Micro Hack with their customers.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business apps with Rayfin.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KPI: # opportunities (MSX) · ACR vision.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566160"/>
            <a:ext cx="534924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BE6F1"/>
            </a:solidFill>
            <a:prstDash val="solid"/>
          </a:ln>
          <a:effectLst>
            <a:outerShdw sx="100000" sy="100000" kx="0" ky="0" algn="bl" rotWithShape="0" blurRad="76200" dist="25400" dir="5400000">
              <a:srgbClr val="0B2447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3566160"/>
            <a:ext cx="82296" cy="228600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73075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B → SDC / ISV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Fabric workload and embed it in the offer.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customer runs it natively in Fabric.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KPI: # workloads per SDC · Adoption vision.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CONTEXT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now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74520"/>
            <a:ext cx="164592" cy="164592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business ships software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enterprise apps still means months of backend plumbing. Fabric + Rayfin removes it — declare your data, ship in one command.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164592" cy="164592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8803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AI-era apps need governed data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2880360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Apps &amp; workloads on Fabric inherit OneLake governance, security and a single copy of data — no data movement.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64592" cy="164592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39319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large, growing audience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3931920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 build customer apps on Fabric; SDCs reach every Fabric customer by publishing a workload to the Workload Hub.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5029200"/>
            <a:ext cx="164592" cy="164592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49834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multiply impact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37760" y="4983480"/>
            <a:ext cx="661385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Sharing an opportunity with a partner: +95.6% win rate and +46% larger deal size. Scaling through SIs &amp; SDCs covers the ecosystem.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A — ADVISORY / APPS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Apps Micro Hack — a fixed, repeatable 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743200"/>
                <a:gridCol w="67052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When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Block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Content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Morning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build on Fabric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Managed backend, governance on OneLake, time-to-app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Rayfin foundations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Data model = database; auth, APIs, hosting; deploy in one command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Helios Bicycle Studio built live with the GitHub Copilot CLI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Afternoon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⭐ Build sprint 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Scaffold, declare data model (Rayfin provisions the DB), core screens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⭐ Build sprint 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Extend, polish, deploy to Fabric (rayfin up),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Plan &amp; next steps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Turn the app into a customer opportunity + 90-day plan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afternoon is the differentiator: teams ship a real working app on Fabric — the artifact the SI uses to open a real opportunity.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PATH B — ADOPTION / WORKLOADS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once, adopt mechanically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82880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BE6F1"/>
            </a:solidFill>
            <a:prstDash val="solid"/>
          </a:ln>
          <a:effectLst>
            <a:outerShdw sx="100000" sy="100000" kx="0" ky="0" algn="bl" rotWithShape="0" blurRad="76200" dist="25400" dir="5400000">
              <a:srgbClr val="0B2447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828800"/>
            <a:ext cx="82296" cy="402336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199339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Objective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2487168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managed SDC builds a Fabric workload with the Extensibility Toolkit.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 it in the commercial offer — the product runs natively in Fabric.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customer of the SDC consumes a Fabric workload by design.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 Fabric adoption mechanically, not through one-off projects.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17920" y="182880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BE6F1"/>
            </a:solidFill>
            <a:prstDash val="solid"/>
          </a:ln>
          <a:effectLst>
            <a:outerShdw sx="100000" sy="100000" kx="0" ky="0" algn="bl" rotWithShape="0" blurRad="76200" dist="25400" dir="5400000">
              <a:srgbClr val="0B2447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17920" y="1828800"/>
            <a:ext cx="82296" cy="40233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199339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once → adopt many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46520" y="2487168"/>
            <a:ext cx="4892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SDC builds the workload once (reads OneLake, runs their logic).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1 … N each run it natively in Fabric.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Adoption scales with the SDC’s business — no per-customer selling.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Repeat across modules → publish to the Workload Hub.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9436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KPI: # workloads per SDC · Secondary: Fabric usage / ACR through SDC end-customers.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BUILD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Micro Hack kit — the one asset we create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69164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reusable enablement kit (not a product) that lets a partner build a real app or workload on Fabric in one day, then repeat the day on their own.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53492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BE6F1"/>
            </a:solidFill>
            <a:prstDash val="solid"/>
          </a:ln>
          <a:effectLst>
            <a:outerShdw sx="100000" sy="100000" kx="0" ky="0" algn="bl" rotWithShape="0" blurRad="76200" dist="25400" dir="5400000">
              <a:srgbClr val="0B2447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377440"/>
            <a:ext cx="82296" cy="356616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54203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1 — Helios Bicycle Studio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3035808"/>
            <a:ext cx="4892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A — business app on Rayfin.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 = database, screens, app-level roles.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to Fabric with rayfin up.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code: src/apprayfin/ · full workbook + solution.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2377440"/>
            <a:ext cx="534924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BE6F1"/>
            </a:solidFill>
            <a:prstDash val="solid"/>
          </a:ln>
          <a:effectLst>
            <a:outerShdw sx="100000" sy="100000" kx="0" ky="0" algn="bl" rotWithShape="0" blurRad="76200" dist="25400" dir="5400000">
              <a:srgbClr val="0B2447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17920" y="2377440"/>
            <a:ext cx="82296" cy="3566160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542032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2 — GreenGrid Scorecard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3035808"/>
            <a:ext cx="4892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B — sustainability workload (Extensibility Toolkit).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Reads Files/sites.csv from OneLake (OBO token).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Calls the pre-deployed GreenGrid SaaS (the algorithm).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Renders a scorecard in Fabric · code: src/workloadsdc/.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KPIS &amp; SUCCESS METRICS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measure the motion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389120"/>
                <a:gridCol w="3962095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Leading indicator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 KPI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 — Advisory / Apps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Micro Hacks repeated by partner; # apps deployed to Fabric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opportunities (MSX), Stage 1 &amp; 2; Fabric/Azure ACR pipeline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 — SDC Adoption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managed SDCs engaged; # offers with a workload built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 workloads per SDC; Fabric usage / ACR from end-customers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Motion health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Ratio of partner-led vs MS-led sessions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Partner-sourced opportunities &amp; adoptions share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North-star: the share of Micro Hacks, apps and workloads that are partner-led, not Microsoft-led.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need to land the motion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F3F7FB"/>
          </a:solidFill>
          <a:ln w="12700">
            <a:solidFill>
              <a:srgbClr val="DBE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05740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Sponsorship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06240" y="2057400"/>
            <a:ext cx="70710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Ahmed + EPS leadership.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F3F7FB"/>
          </a:solidFill>
          <a:ln w="12700">
            <a:solidFill>
              <a:srgbClr val="DBE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632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Funding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206240" y="3063240"/>
            <a:ext cx="70710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Micro Hack kit + reference scenarios and run the first co-delivered sessions.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31920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F3F7FB"/>
          </a:solidFill>
          <a:ln w="12700">
            <a:solidFill>
              <a:srgbClr val="DBE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06908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 lead on workloads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206240" y="4069080"/>
            <a:ext cx="70710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Align with the Extensibility Toolkit roadmap and the Workload Hub.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10911535" cy="868680"/>
          </a:xfrm>
          <a:prstGeom prst="roundRect">
            <a:avLst>
              <a:gd name="adj" fmla="val 6316"/>
            </a:avLst>
          </a:prstGeom>
          <a:solidFill>
            <a:srgbClr val="F3F7FB"/>
          </a:solidFill>
          <a:ln w="12700">
            <a:solidFill>
              <a:srgbClr val="DBE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07492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8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Microsoft program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206240" y="5074920"/>
            <a:ext cx="70710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ISV + Advisory → one execution layer, not parallel tracks.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B4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24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— we build, then partners repeat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371600" cy="54864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6400800"/>
            <a:ext cx="10911535" cy="0"/>
          </a:xfrm>
          <a:prstGeom prst="line">
            <a:avLst/>
          </a:prstGeom>
          <a:noFill/>
          <a:ln w="12700">
            <a:solidFill>
              <a:srgbClr val="DBE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FY27 EMEA EPS — Fabric Apps Motion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979615" y="64190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 Hack — two paths to Microsoft Fabric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744904"/>
                <a:gridCol w="1744904"/>
                <a:gridCol w="1744904"/>
                <a:gridCol w="174490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Workstream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Q1 Jul–Sep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Q2 Oct–Dec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Q3 Jan–Mar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Q4 Apr–Jun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44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— Micro Hack kit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Build — reference scenarios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A — Co-deliver Run #1 ◆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A — SIs repeat (own customers)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A — Scale advisory ecosystem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B — SDC first workloads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B2A3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Path B — Repeat + Workload Hub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B4A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█████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6F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585216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 Run #1 co-delivered end of Q1 (Sep ’26): kit in partners’ hands — the motion shifts from Microsoft build to partner-led repeat.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24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0078D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28600"/>
            <a:ext cx="12191695" cy="73152"/>
          </a:xfrm>
          <a:prstGeom prst="rect">
            <a:avLst/>
          </a:prstGeom>
          <a:solidFill>
            <a:srgbClr val="00B4A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377440"/>
            <a:ext cx="10911535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next page of your business with Microsoft Fabric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931920"/>
            <a:ext cx="1091153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Micro Hack day · two paths (Apps + Workloads) · partner-led repeat.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2026-06-17T08:42:35Z</dcterms:created>
  <dcterms:modified xsi:type="dcterms:W3CDTF">2026-06-17T08:42:35Z</dcterms:modified>
</cp:coreProperties>
</file>