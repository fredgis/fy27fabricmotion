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148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FY27 EMEA EPS — Fabric Apps Motion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3200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 to Microsoft Fabric, enabled through </a:t>
            </a:r>
            <a:pPr indent="0" marL="0">
              <a:buNone/>
            </a:pPr>
            <a:r>
              <a:rPr lang="en-US" sz="23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“Micro Hack”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406908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AEC9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069080"/>
            <a:ext cx="5669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to be finalized end of June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4892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· Owner: EPS Tech / GTM · Two micro-hacks: Apps (Rayfin) + Workloads (Extensibility Toolkit)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motion, two execution paths — both powered by a single, repeatable vehicle: the “Micro Hack”.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92224"/>
            <a:ext cx="868680" cy="86868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89280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9280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Integrators (SI / advisory) · start with the GSIs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782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782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ship business apps on Microsoft Fabric with Rayfin — partner-led, on governed OneLake data.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7782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E7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92224"/>
            <a:ext cx="868680" cy="86868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8308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7470648" y="179222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Adoption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70648" y="217627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Development Companies (SDC / ISV)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5664" y="280720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we drive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3072384"/>
            <a:ext cx="48280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managed SDC embeds a Fabric workload in its offer — so every customer consumes a data workload.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55664" y="3813048"/>
            <a:ext cx="4773168" cy="530352"/>
          </a:xfrm>
          <a:prstGeom prst="roundRect">
            <a:avLst>
              <a:gd name="adj" fmla="val 8621"/>
            </a:avLst>
          </a:prstGeom>
          <a:solidFill>
            <a:srgbClr val="F6EAFB"/>
          </a:solidFill>
          <a:ln/>
        </p:spPr>
      </p:sp>
      <p:sp>
        <p:nvSpPr>
          <p:cNvPr id="26" name="Text 24"/>
          <p:cNvSpPr/>
          <p:nvPr/>
        </p:nvSpPr>
        <p:spPr>
          <a:xfrm>
            <a:off x="6601968" y="3813048"/>
            <a:ext cx="449884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workload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645152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36592"/>
            <a:ext cx="10509199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does not build new tooling — Fabric, Rayfin, the Extensibility Toolkit and the GitHub Copilot CLI already exist. We package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turnkey, repeatable vehicle — the “Micro Hack” — that an SI or SDC can run themselves.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Motion at a Glance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build it, the partner repeats it.” — one operational vehicle, two partner paths.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468880" cy="1874520"/>
          </a:xfrm>
          <a:prstGeom prst="roundRect">
            <a:avLst>
              <a:gd name="adj" fmla="val 4878"/>
            </a:avLst>
          </a:prstGeom>
          <a:solidFill>
            <a:srgbClr val="1F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377440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35608" y="23682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66928" y="32004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3474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kit + reference scenarios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3081528"/>
            <a:ext cx="548640" cy="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46120" y="1783080"/>
            <a:ext cx="37490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938528"/>
            <a:ext cx="731520" cy="73152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929384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24612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 Hack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246120" y="3063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 · repeatable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74720" y="3419856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3611880" y="341985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Fabric · Rayfin · Toolkit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0" y="3986784"/>
            <a:ext cx="3291840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1" name="Text 19"/>
          <p:cNvSpPr/>
          <p:nvPr/>
        </p:nvSpPr>
        <p:spPr>
          <a:xfrm>
            <a:off x="3611880" y="398678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 </a:t>
            </a:r>
            <a:pPr indent="0" marL="0">
              <a:buNone/>
            </a:pPr>
            <a:r>
              <a:rPr lang="en-US" sz="11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in → app / workload out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6995160" y="2423160"/>
            <a:ext cx="502920" cy="45720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3886200"/>
            <a:ext cx="502920" cy="45720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98080" y="1874520"/>
            <a:ext cx="4126687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874520"/>
            <a:ext cx="91440" cy="1234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726680" y="19751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 / advisory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26680" y="2249424"/>
            <a:ext cx="37152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Micro Hack with their own customers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26680" y="261518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E7F1FB"/>
          </a:solidFill>
          <a:ln/>
        </p:spPr>
      </p:sp>
      <p:sp>
        <p:nvSpPr>
          <p:cNvPr id="29" name="Text 27"/>
          <p:cNvSpPr/>
          <p:nvPr/>
        </p:nvSpPr>
        <p:spPr>
          <a:xfrm>
            <a:off x="7872984" y="261518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opportunities (MSX)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0" y="3246120"/>
            <a:ext cx="4126687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3246120"/>
            <a:ext cx="91440" cy="1325880"/>
          </a:xfrm>
          <a:prstGeom prst="rect">
            <a:avLst/>
          </a:prstGeom>
          <a:solidFill>
            <a:srgbClr val="B14FD8"/>
          </a:solidFill>
          <a:ln/>
        </p:spPr>
      </p:sp>
      <p:sp>
        <p:nvSpPr>
          <p:cNvPr id="32" name="Text 30"/>
          <p:cNvSpPr/>
          <p:nvPr/>
        </p:nvSpPr>
        <p:spPr>
          <a:xfrm>
            <a:off x="7726680" y="3346704"/>
            <a:ext cx="376092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/ ISV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26680" y="3621024"/>
            <a:ext cx="371520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Fabric workload → every customer adopts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26680" y="4078224"/>
            <a:ext cx="3669487" cy="402336"/>
          </a:xfrm>
          <a:prstGeom prst="roundRect">
            <a:avLst>
              <a:gd name="adj" fmla="val 11364"/>
            </a:avLst>
          </a:prstGeom>
          <a:solidFill>
            <a:srgbClr val="F6EAFB"/>
          </a:solidFill>
          <a:ln/>
        </p:spPr>
      </p:sp>
      <p:sp>
        <p:nvSpPr>
          <p:cNvPr id="35" name="Text 33"/>
          <p:cNvSpPr/>
          <p:nvPr/>
        </p:nvSpPr>
        <p:spPr>
          <a:xfrm>
            <a:off x="7872984" y="4078224"/>
            <a:ext cx="339516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F1F6FC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" y="4983480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   </a:t>
            </a:r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FY27 EPS motion we ship a highly operational vehicle (here: the Micro Hack). Microsoft builds and co-delivers the first run; the partner then owns and repeats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Context — the simplified “why now”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to open a customer conversation, no more — the one-slide version of the narrative.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45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04088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AI projects without AI-ready data will be abandoned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95396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95396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3395396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F6CB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532556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leaders say stronger data infrastructure would speed AI adoption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5396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23864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23864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6223864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C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+95.6%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361024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win rate when an opportunity is shared with a partner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23864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331" y="1417320"/>
            <a:ext cx="2572436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52331" y="1417320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4" name="Text 22"/>
          <p:cNvSpPr/>
          <p:nvPr/>
        </p:nvSpPr>
        <p:spPr>
          <a:xfrm>
            <a:off x="9052331" y="1627632"/>
            <a:ext cx="25724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9E6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+46%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89491" y="2286000"/>
            <a:ext cx="229811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deal size when a partner is attached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52331" y="2962656"/>
            <a:ext cx="25724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effect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3639312"/>
            <a:ext cx="475488" cy="47548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3630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⏰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81328" y="3456432"/>
            <a:ext cx="9960559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are the new compelling event.   </a:t>
            </a:r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AI-era apps demand governed data. Fabric + Rayfin remove months of backend plumbing, so partners ship on OneLake — governed by default — instead of rebuilding infrastructure.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6928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customer frictions to anchor on: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95528" y="5029200"/>
            <a:ext cx="548640" cy="54864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34" name="Text 32"/>
          <p:cNvSpPr/>
          <p:nvPr/>
        </p:nvSpPr>
        <p:spPr>
          <a:xfrm>
            <a:off x="795528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481328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Stay ahead of AI-era security &amp; governance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344314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572914" y="5029200"/>
            <a:ext cx="548640" cy="54864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914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258714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Cut the cost &amp; time of backend plumbing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121701" y="4754880"/>
            <a:ext cx="3503066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50301" y="5029200"/>
            <a:ext cx="548640" cy="54864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42" name="Text 40"/>
          <p:cNvSpPr/>
          <p:nvPr/>
        </p:nvSpPr>
        <p:spPr>
          <a:xfrm>
            <a:off x="8350301" y="502005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036101" y="4754880"/>
            <a:ext cx="240578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Unblock AI innovation on governed data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A — SI / Advisory (Apps)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GSIs first. Enable partners to build &amp; ship customer business apps on Fabric, partner-led.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737360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84708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782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SIs to build and ship business apps on Microsoft Fabric with Rayfin, led by the partner — on governed OneLake data.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14630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19088" y="1737360"/>
            <a:ext cx="822960" cy="82296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6419088" y="172821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424928" y="18470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55664" y="2542032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opportunities created in MSX (partner-sourced or partner-shared) — ACR vision.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3767328"/>
            <a:ext cx="822960" cy="82296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84708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KPIs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7782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“Micro Hack” days repeated by the partner · # of apps deployed to Fabric · Azure/Fabric pipeline.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49300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19088" y="376732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75818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7424928" y="3877056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role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55664" y="4572000"/>
            <a:ext cx="479145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 per country + EPS (PDM / PSA), with one executive sponsor per SI / GSI.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1 (Apps)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fixed, repeatable one-day format. Microsoft co-delivers run #1; the SI repeats runs #2…N independently.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on Fabric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· governance on OneLake · time-to-app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foundations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= database · auth, APIs, hosting · deploy in one command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Helios Bicycle Studio built live with the GitHub Copilot CLI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scenario · data model · screens · roles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the data model (Rayfin provisions the DB), core screens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extend, polish, deploy to Fabric (rayfin up), demo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app into an MSX opportunity + a 90-day plan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afternoon is the differentiator.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ship a real working app on Fabric — the artifact the SI uses to open and qualify a real opportunity.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Repeatability — the partner runs its own Micro Hack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motion only scales if the partner repeats it without us. We ship a “Micro Hack in a Box”.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75956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9" name="Text 7"/>
          <p:cNvSpPr/>
          <p:nvPr/>
        </p:nvSpPr>
        <p:spPr>
          <a:xfrm>
            <a:off x="1475956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(morning), demo script, timing guide, FAQ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90824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9852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4299852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90824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access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55416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way to build the app / workload with the GitHub Copilot CLI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4720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23748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23748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214720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9312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#1 co-delivered; we certify a partner pursuit team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38615" y="1463040"/>
            <a:ext cx="258615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76200" dist="25400" dir="5400000">
              <a:srgbClr val="8AA0BC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47643" y="1664208"/>
            <a:ext cx="768096" cy="768096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4" name="Text 22"/>
          <p:cNvSpPr/>
          <p:nvPr/>
        </p:nvSpPr>
        <p:spPr>
          <a:xfrm>
            <a:off x="9947643" y="1655064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038615" y="2505456"/>
            <a:ext cx="25861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Repeatability KPI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03207" y="2816352"/>
            <a:ext cx="2256968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partner-led sessions and opportunities they generate (MSX)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657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1F3A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41194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41194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836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0408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kit + scenarios + facilitator pack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04335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44568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0F6CBD"/>
          </a:solidFill>
          <a:ln/>
        </p:spPr>
      </p:sp>
      <p:sp>
        <p:nvSpPr>
          <p:cNvPr id="35" name="Shape 33"/>
          <p:cNvSpPr/>
          <p:nvPr/>
        </p:nvSpPr>
        <p:spPr>
          <a:xfrm>
            <a:off x="4290708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290708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3712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Co-deliver Run #1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358284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Train-the-trainer with the partner team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922112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324448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CA8"/>
          </a:solidFill>
          <a:ln/>
        </p:spPr>
      </p:sp>
      <p:sp>
        <p:nvSpPr>
          <p:cNvPr id="41" name="Shape 39"/>
          <p:cNvSpPr/>
          <p:nvPr/>
        </p:nvSpPr>
        <p:spPr>
          <a:xfrm>
            <a:off x="716946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716946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🔄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15888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#2…N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461608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delivers independently to its customers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800871" y="4914900"/>
            <a:ext cx="347472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203207" y="4023360"/>
            <a:ext cx="2421560" cy="1783080"/>
          </a:xfrm>
          <a:prstGeom prst="roundRect">
            <a:avLst>
              <a:gd name="adj" fmla="val 4103"/>
            </a:avLst>
          </a:prstGeom>
          <a:solidFill>
            <a:srgbClr val="2E9E6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048227" y="422452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10048227" y="422452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94647" y="5010912"/>
            <a:ext cx="2238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340367" y="5321808"/>
            <a:ext cx="21472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workloads → created / shared in MSX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Micro Hack kit — the one asset we 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enablement kit, not a product — used live in the day, then repeated by the partner.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E6F5E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59536" y="1993392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2529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ready-to-run kit: prompts, scripts, reference code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" y="2377440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2529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scenarios — a Rayfin app and a Fabric workload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" y="2761488"/>
            <a:ext cx="237744" cy="237744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2529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materials to repeat the day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41732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BE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6144768" y="1417320"/>
            <a:ext cx="5394960" cy="91440"/>
          </a:xfrm>
          <a:prstGeom prst="roundRect">
            <a:avLst>
              <a:gd name="adj" fmla="val 50000"/>
            </a:avLst>
          </a:prstGeom>
          <a:solidFill>
            <a:srgbClr val="E0455E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1554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4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37376" y="1993392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1975104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03136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product or platform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37376" y="2377440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2359152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03136" y="23225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Rayfin / the Extensibility Toolkit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37376" y="2761488"/>
            <a:ext cx="237744" cy="237744"/>
          </a:xfrm>
          <a:prstGeom prst="ellipse">
            <a:avLst/>
          </a:prstGeom>
          <a:solidFill>
            <a:srgbClr val="E0455E"/>
          </a:solidFill>
          <a:ln/>
        </p:spPr>
      </p:sp>
      <p:sp>
        <p:nvSpPr>
          <p:cNvPr id="29" name="Text 27"/>
          <p:cNvSpPr/>
          <p:nvPr/>
        </p:nvSpPr>
        <p:spPr>
          <a:xfrm>
            <a:off x="6437376" y="274320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3136" y="27066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one-off custom build for a single customer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33" name="Text 31"/>
          <p:cNvSpPr/>
          <p:nvPr/>
        </p:nvSpPr>
        <p:spPr>
          <a:xfrm>
            <a:off x="713232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— Fixed scenario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2960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+ sample data + target users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Apps: Helios · Workloads: GreenGrid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start for every run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960266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435754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5754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38" name="Text 36"/>
          <p:cNvSpPr/>
          <p:nvPr/>
        </p:nvSpPr>
        <p:spPr>
          <a:xfrm>
            <a:off x="4582058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Copilot CLI + Rayfin / Toolkit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691786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declare data model / workload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Screens, roles, OneLake read (OBO)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Validate: build + tests green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29093" y="4713732"/>
            <a:ext cx="384048" cy="0"/>
          </a:xfrm>
          <a:prstGeom prst="line">
            <a:avLst/>
          </a:prstGeom>
          <a:noFill/>
          <a:ln w="22225">
            <a:solidFill>
              <a:srgbClr val="93A6B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04581" y="3456432"/>
            <a:ext cx="3320186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04581" y="3456432"/>
            <a:ext cx="3320186" cy="512064"/>
          </a:xfrm>
          <a:prstGeom prst="roundRect">
            <a:avLst>
              <a:gd name="adj" fmla="val 10714"/>
            </a:avLst>
          </a:prstGeom>
          <a:solidFill>
            <a:srgbClr val="2E9CA8"/>
          </a:solidFill>
          <a:ln/>
        </p:spPr>
      </p:sp>
      <p:sp>
        <p:nvSpPr>
          <p:cNvPr id="43" name="Text 41"/>
          <p:cNvSpPr/>
          <p:nvPr/>
        </p:nvSpPr>
        <p:spPr>
          <a:xfrm>
            <a:off x="8450885" y="3456432"/>
            <a:ext cx="302757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Working app / workload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560613" y="4114800"/>
            <a:ext cx="286298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Fabric, governed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Demo-ready, partner-owned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→ opportunity / adoption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Path B — SDC / ISV (Workloads)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the Fabric footprint through ISV offers: embed once, consume mechanically across the ISV’s customer base.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63040"/>
            <a:ext cx="521208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7824" y="2176272"/>
            <a:ext cx="46085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every Microsoft-managed SDC to embed a Fabric workload (Extensibility Toolkit) inside its commercial offer — so every time a customer uses the product, a Fabric data workload is consumed by design.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3200400"/>
            <a:ext cx="4590288" cy="868680"/>
          </a:xfrm>
          <a:prstGeom prst="roundRect">
            <a:avLst>
              <a:gd name="adj" fmla="val 6316"/>
            </a:avLst>
          </a:prstGeom>
          <a:solidFill>
            <a:srgbClr val="F6EAFB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2004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once, adopt many. 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SDC standardizes on a Fabric workload, its entire customer base becomes ongoing Fabric adoption.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4187952"/>
            <a:ext cx="4590288" cy="640080"/>
          </a:xfrm>
          <a:prstGeom prst="roundRect">
            <a:avLst>
              <a:gd name="adj" fmla="val 8571"/>
            </a:avLst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187952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7824" y="4956048"/>
            <a:ext cx="46085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adoption &amp; mechanical consumption — not repeated workshops. The win is the embed and the footprint it generates.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44768" y="1444752"/>
            <a:ext cx="547999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once </a:t>
            </a:r>
            <a:pPr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adopt mechanically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44768" y="1828800"/>
            <a:ext cx="5479999" cy="548640"/>
          </a:xfrm>
          <a:prstGeom prst="roundRect">
            <a:avLst>
              <a:gd name="adj" fmla="val 11667"/>
            </a:avLst>
          </a:prstGeom>
          <a:solidFill>
            <a:srgbClr val="B14FD8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1828800"/>
            <a:ext cx="51142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Microsoft-managed SDC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884768" y="2377440"/>
            <a:ext cx="0" cy="164592"/>
          </a:xfrm>
          <a:prstGeom prst="line">
            <a:avLst/>
          </a:prstGeom>
          <a:noFill/>
          <a:ln w="22225">
            <a:solidFill>
              <a:srgbClr val="B14FD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768" y="2578608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6327648" y="2578608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managed Fabric workload (Toolkit)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884768" y="3081528"/>
            <a:ext cx="0" cy="146304"/>
          </a:xfrm>
          <a:prstGeom prst="line">
            <a:avLst/>
          </a:prstGeom>
          <a:noFill/>
          <a:ln w="22225">
            <a:solidFill>
              <a:srgbClr val="0F6CBD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44768" y="3255264"/>
            <a:ext cx="5479999" cy="502920"/>
          </a:xfrm>
          <a:prstGeom prst="roundRect">
            <a:avLst>
              <a:gd name="adj" fmla="val 12727"/>
            </a:avLst>
          </a:prstGeom>
          <a:solidFill>
            <a:srgbClr val="E7F1FB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3255264"/>
            <a:ext cx="511423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product / offer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003237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14476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1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03237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8476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026298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99450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2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8476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766298" y="3749040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907829" y="3895344"/>
            <a:ext cx="171693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80981" y="3895344"/>
            <a:ext cx="15706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N</a:t>
            </a:r>
            <a:endParaRPr lang="en-US" sz="11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2E9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workload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766298" y="4443984"/>
            <a:ext cx="0" cy="146304"/>
          </a:xfrm>
          <a:prstGeom prst="line">
            <a:avLst/>
          </a:prstGeom>
          <a:noFill/>
          <a:ln w="22225">
            <a:solidFill>
              <a:srgbClr val="2E9CA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4608576"/>
            <a:ext cx="5479999" cy="640080"/>
          </a:xfrm>
          <a:prstGeom prst="roundRect">
            <a:avLst>
              <a:gd name="adj" fmla="val 10000"/>
            </a:avLst>
          </a:prstGeom>
          <a:solidFill>
            <a:srgbClr val="2E9CA8"/>
          </a:solidFill>
          <a:ln/>
        </p:spPr>
      </p:sp>
      <p:sp>
        <p:nvSpPr>
          <p:cNvPr id="38" name="Text 36"/>
          <p:cNvSpPr/>
          <p:nvPr/>
        </p:nvSpPr>
        <p:spPr>
          <a:xfrm>
            <a:off x="6327648" y="4608576"/>
            <a:ext cx="51142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Fabric footprint — adoption &amp; ACR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Vehicle — Micro Hack 2 (Workloads) 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fixed, repeatable shape as Micro Hack 1 — but the artifact is a Fabric workload the SDC embeds in its offer.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F6CBD"/>
          </a:solidFill>
          <a:ln/>
        </p:spPr>
      </p:sp>
      <p:sp>
        <p:nvSpPr>
          <p:cNvPr id="8" name="Text 6"/>
          <p:cNvSpPr/>
          <p:nvPr/>
        </p:nvSpPr>
        <p:spPr>
          <a:xfrm>
            <a:off x="69494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☀️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7043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— Content  (MS → Partner)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44768" y="1444752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B14FD8"/>
          </a:solidFill>
          <a:ln/>
        </p:spPr>
      </p:sp>
      <p:sp>
        <p:nvSpPr>
          <p:cNvPr id="11" name="Text 9"/>
          <p:cNvSpPr/>
          <p:nvPr/>
        </p:nvSpPr>
        <p:spPr>
          <a:xfrm>
            <a:off x="6272784" y="1444752"/>
            <a:ext cx="4572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748272" y="1444752"/>
            <a:ext cx="4663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— Build + Demo  (MS → Partner)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2203704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build a workload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every Fabric customer via the Workload Hub · run on OneLake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916936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 Toolkit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structure · Entra app · Dev Gateway · manifest · OBO token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3630168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GreenGrid Scorecard running live inside Fabric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2245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4343400"/>
            <a:ext cx="384048" cy="384048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43342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224528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build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workload · OneLake data · backend call · UI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44768" y="20848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91072" y="2203704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1" name="Text 29"/>
          <p:cNvSpPr/>
          <p:nvPr/>
        </p:nvSpPr>
        <p:spPr>
          <a:xfrm>
            <a:off x="6291072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03136" y="2084832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sprint 1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toolkit, Setup.ps1 (Entra app), dev server + gateway, Hello World, CreateNewItem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27980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91072" y="2916936"/>
            <a:ext cx="384048" cy="384048"/>
          </a:xfrm>
          <a:prstGeom prst="ellipse">
            <a:avLst/>
          </a:prstGeom>
          <a:solidFill>
            <a:srgbClr val="D98A2B"/>
          </a:solidFill>
          <a:ln/>
        </p:spPr>
      </p:sp>
      <p:sp>
        <p:nvSpPr>
          <p:cNvPr id="35" name="Text 33"/>
          <p:cNvSpPr/>
          <p:nvPr/>
        </p:nvSpPr>
        <p:spPr>
          <a:xfrm>
            <a:off x="6291072" y="2907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03136" y="2798064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Build sprint 2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Files/sites.csv from OneLake, call the backend, render the scorecard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44768" y="351129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91072" y="3630168"/>
            <a:ext cx="384048" cy="384048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39" name="Text 37"/>
          <p:cNvSpPr/>
          <p:nvPr/>
        </p:nvSpPr>
        <p:spPr>
          <a:xfrm>
            <a:off x="6291072" y="3621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03136" y="3511296"/>
            <a:ext cx="4617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next steps   </a:t>
            </a:r>
            <a:pPr indent="0" marL="0">
              <a:buNone/>
            </a:pPr>
            <a:r>
              <a:rPr lang="en-US" sz="11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in the SDC offer + path to publish on the Workload Hub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8640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1F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486400"/>
            <a:ext cx="365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252728" y="5486400"/>
            <a:ext cx="1014343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artifact.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a Fabric workload the SDC embeds in its offer — so every customer adopts Fabric by design.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 reuse — we don’t rebuild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already exists. The motion packages it; the Micro Hack runs it.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783080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938528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43584" y="1783080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· governance · single copy of data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724912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157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43584" y="2569464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backend for business apps (data model = DB)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355848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511296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021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355848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Extensibility Toolkit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native workloads, distributed in Fabric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4142232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885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43584" y="4142232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apps &amp; workloads fast, with validation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28616"/>
            <a:ext cx="676656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084064"/>
            <a:ext cx="365760" cy="3657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074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928616"/>
            <a:ext cx="5943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   </a:t>
            </a:r>
            <a:pPr indent="0" marL="0">
              <a:buNone/>
            </a:pPr>
            <a:r>
              <a:rPr lang="en-US" sz="125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 a workload to every Fabric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53528" y="1417320"/>
            <a:ext cx="3971239" cy="4572000"/>
          </a:xfrm>
          <a:prstGeom prst="roundRect">
            <a:avLst>
              <a:gd name="adj" fmla="val 2303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792784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522208" y="1627632"/>
            <a:ext cx="296539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map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946136" y="221284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don’t rebuild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46136" y="2670048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46136" y="2889504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create-rayfin / Setup.ps1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46136" y="3328416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46136" y="3547872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data (model = DB) / sites.csv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7946136" y="3986784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946136" y="4206240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dev · Dev Gateway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46136" y="4645152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946136" y="4864608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up · Hello World item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946136" y="5303520"/>
            <a:ext cx="342259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46136" y="5522976"/>
            <a:ext cx="3422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Hub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KPIs — how we measure the motion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scoreboards, one north-star: the share of apps and workloads that are partner-led, not Microsoft-led.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755648"/>
            <a:ext cx="822960" cy="82296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4708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Apps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782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6C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of opportunities created (MSX), Stage 1 &amp;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7782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Micro Hacks repeated by the partner · # apps deployed · Fabric / Azure ACR pipeline.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44768" y="1481328"/>
            <a:ext cx="539496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481328"/>
            <a:ext cx="5394960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19088" y="1755648"/>
            <a:ext cx="822960" cy="82296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746504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🧩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424928" y="1865376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Workloads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55664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KPI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5664" y="3017520"/>
            <a:ext cx="4773168" cy="502920"/>
          </a:xfrm>
          <a:prstGeom prst="roundRect">
            <a:avLst>
              <a:gd name="adj" fmla="val 9091"/>
            </a:avLst>
          </a:prstGeom>
          <a:solidFill>
            <a:srgbClr val="F6EAFB"/>
          </a:solidFill>
          <a:ln/>
        </p:spPr>
      </p:sp>
      <p:sp>
        <p:nvSpPr>
          <p:cNvPr id="24" name="Text 22"/>
          <p:cNvSpPr/>
          <p:nvPr/>
        </p:nvSpPr>
        <p:spPr>
          <a:xfrm>
            <a:off x="6601968" y="3017520"/>
            <a:ext cx="4498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14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pPr indent="0" marL="0">
              <a:buNone/>
            </a:pPr>
            <a:r>
              <a:rPr lang="en-US" sz="12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managed SDCs that built a Fabric workload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55664" y="36393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55664" y="3895344"/>
            <a:ext cx="4791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workloads per SDC · Fabric usage / ACR from SDC end-customers.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5714"/>
            </a:avLst>
          </a:prstGeom>
          <a:solidFill>
            <a:srgbClr val="1F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4709160"/>
            <a:ext cx="1050919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Micro Hacks, apps and workloads that are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partner-led, not Microsoft-led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motion is healthy when partners repeat it without us.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Execution Roadmap — FY27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FY starts in July. End of Q1: kit in the partner’s hands — the motion shifts from MS-build to partner-led repeat.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3542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8" name="Text 6"/>
          <p:cNvSpPr/>
          <p:nvPr/>
        </p:nvSpPr>
        <p:spPr>
          <a:xfrm>
            <a:off x="449884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Jul–Sep ’26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1690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0" name="Text 8"/>
          <p:cNvSpPr/>
          <p:nvPr/>
        </p:nvSpPr>
        <p:spPr>
          <a:xfrm>
            <a:off x="628032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Oct–Dec ’26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8384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2" name="Text 10"/>
          <p:cNvSpPr/>
          <p:nvPr/>
        </p:nvSpPr>
        <p:spPr>
          <a:xfrm>
            <a:off x="8061808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Jan–Mar ’27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879863" y="1481328"/>
            <a:ext cx="1708328" cy="457200"/>
          </a:xfrm>
          <a:prstGeom prst="roundRect">
            <a:avLst>
              <a:gd name="adj" fmla="val 8000"/>
            </a:avLst>
          </a:prstGeom>
          <a:solidFill>
            <a:srgbClr val="E7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9843287" y="1481328"/>
            <a:ext cx="178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Apr–Jun ’27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19385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" y="1938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kit + facilitator pack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0" y="20299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reference scenarios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24871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0F6CBD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28529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" y="2852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Sponsor + pursuit team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0" y="29443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33101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Co-deliver Run #1 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0" y="3401568"/>
            <a:ext cx="1635176" cy="274320"/>
          </a:xfrm>
          <a:prstGeom prst="roundRect">
            <a:avLst>
              <a:gd name="adj" fmla="val 16667"/>
            </a:avLst>
          </a:prstGeom>
          <a:solidFill>
            <a:srgbClr val="B14FD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37673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" y="3767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SIs repeat (own customers)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3480" y="38587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2245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Scale to other GSIs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3480" y="43159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CA8"/>
          </a:solidFill>
          <a:ln/>
        </p:spPr>
      </p:sp>
      <p:sp>
        <p:nvSpPr>
          <p:cNvPr id="30" name="Shape 28"/>
          <p:cNvSpPr/>
          <p:nvPr/>
        </p:nvSpPr>
        <p:spPr>
          <a:xfrm>
            <a:off x="566928" y="4681728"/>
            <a:ext cx="11057839" cy="457200"/>
          </a:xfrm>
          <a:prstGeom prst="rect">
            <a:avLst/>
          </a:prstGeom>
          <a:solidFill>
            <a:srgbClr val="F1F6FC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4681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SDC first workloads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0" y="4773168"/>
            <a:ext cx="3416656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" y="5138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Repeat across portfolio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3480" y="5230368"/>
            <a:ext cx="5198135" cy="274320"/>
          </a:xfrm>
          <a:prstGeom prst="roundRect">
            <a:avLst>
              <a:gd name="adj" fmla="val 16667"/>
            </a:avLst>
          </a:prstGeom>
          <a:solidFill>
            <a:srgbClr val="2E9E63"/>
          </a:solidFill>
          <a:ln/>
        </p:spPr>
      </p:sp>
      <p:sp>
        <p:nvSpPr>
          <p:cNvPr id="35" name="Shape 33"/>
          <p:cNvSpPr/>
          <p:nvPr/>
        </p:nvSpPr>
        <p:spPr>
          <a:xfrm>
            <a:off x="628032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61808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43287" y="1481328"/>
            <a:ext cx="0" cy="4114800"/>
          </a:xfrm>
          <a:prstGeom prst="line">
            <a:avLst/>
          </a:prstGeom>
          <a:noFill/>
          <a:ln w="12700">
            <a:solidFill>
              <a:srgbClr val="E3EDF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57607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6E6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" y="5760720"/>
            <a:ext cx="10509199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Key milestone — Run #1 co-delivered, end of Q1 (Sep ’26):  </a:t>
            </a:r>
            <a:pPr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Micro Hack delivered live; partner pursuit team certified. Q2–Q3: partners repeat independently while we scale to other GSIs and SDCs.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this motion as the execution layer for building apps &amp; workloads on Fabric — not a parallel track.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66928" y="65196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EMEA EPS · Fabric Apps Motion — the “Micro Hack”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38648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13087" y="650138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5E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9" name="Shape 7"/>
          <p:cNvSpPr/>
          <p:nvPr/>
        </p:nvSpPr>
        <p:spPr>
          <a:xfrm>
            <a:off x="1395946" y="182880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0" name="Text 8"/>
          <p:cNvSpPr/>
          <p:nvPr/>
        </p:nvSpPr>
        <p:spPr>
          <a:xfrm>
            <a:off x="1395946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+ EPS leadership behind one ONE-Microsoft motion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5396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95396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CA8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4414" y="1828800"/>
            <a:ext cx="914400" cy="914400"/>
          </a:xfrm>
          <a:prstGeom prst="ellipse">
            <a:avLst/>
          </a:prstGeom>
          <a:solidFill>
            <a:srgbClr val="2E9CA8"/>
          </a:solidFill>
          <a:ln/>
        </p:spPr>
      </p:sp>
      <p:sp>
        <p:nvSpPr>
          <p:cNvPr id="16" name="Text 14"/>
          <p:cNvSpPr/>
          <p:nvPr/>
        </p:nvSpPr>
        <p:spPr>
          <a:xfrm>
            <a:off x="4224414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95396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kit + scenarios and run the first co-delivered sessions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3864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23864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B14FD8"/>
          </a:solidFill>
          <a:ln/>
        </p:spPr>
      </p:sp>
      <p:sp>
        <p:nvSpPr>
          <p:cNvPr id="21" name="Shape 19"/>
          <p:cNvSpPr/>
          <p:nvPr/>
        </p:nvSpPr>
        <p:spPr>
          <a:xfrm>
            <a:off x="7052882" y="1828800"/>
            <a:ext cx="914400" cy="914400"/>
          </a:xfrm>
          <a:prstGeom prst="ellipse">
            <a:avLst/>
          </a:prstGeom>
          <a:solidFill>
            <a:srgbClr val="B14FD8"/>
          </a:solidFill>
          <a:ln/>
        </p:spPr>
      </p:sp>
      <p:sp>
        <p:nvSpPr>
          <p:cNvPr id="22" name="Text 20"/>
          <p:cNvSpPr/>
          <p:nvPr/>
        </p:nvSpPr>
        <p:spPr>
          <a:xfrm>
            <a:off x="7052882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🤖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23864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6744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the Extensibility Toolkit roadmap and the Workload Hub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52331" y="1481328"/>
            <a:ext cx="2572436" cy="292608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D6E2F0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C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52331" y="1481328"/>
            <a:ext cx="2572436" cy="109728"/>
          </a:xfrm>
          <a:prstGeom prst="roundRect">
            <a:avLst>
              <a:gd name="adj" fmla="val 50000"/>
            </a:avLst>
          </a:prstGeom>
          <a:solidFill>
            <a:srgbClr val="2E9E63"/>
          </a:solidFill>
          <a:ln/>
        </p:spPr>
      </p:sp>
      <p:sp>
        <p:nvSpPr>
          <p:cNvPr id="27" name="Shape 25"/>
          <p:cNvSpPr/>
          <p:nvPr/>
        </p:nvSpPr>
        <p:spPr>
          <a:xfrm>
            <a:off x="9881349" y="1828800"/>
            <a:ext cx="914400" cy="914400"/>
          </a:xfrm>
          <a:prstGeom prst="ellipse">
            <a:avLst/>
          </a:prstGeom>
          <a:solidFill>
            <a:srgbClr val="2E9E63"/>
          </a:solidFill>
          <a:ln/>
        </p:spPr>
      </p:sp>
      <p:sp>
        <p:nvSpPr>
          <p:cNvPr id="28" name="Text 26"/>
          <p:cNvSpPr/>
          <p:nvPr/>
        </p:nvSpPr>
        <p:spPr>
          <a:xfrm>
            <a:off x="9881349" y="18196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052331" y="2926080"/>
            <a:ext cx="25724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Microsoft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35211" y="3346704"/>
            <a:ext cx="22066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SDC + Advisory → one execution layer, not parallel tracks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63440"/>
            <a:ext cx="11057839" cy="1234440"/>
          </a:xfrm>
          <a:prstGeom prst="roundRect">
            <a:avLst>
              <a:gd name="adj" fmla="val 5926"/>
            </a:avLst>
          </a:prstGeom>
          <a:solidFill>
            <a:srgbClr val="1F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" y="4754880"/>
            <a:ext cx="1050919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“good” looks like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Fabric / app conversation becomes a real opportunity or a built workload —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in the Micro Hack, owned and repeated by the partner.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l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l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 build it. The partner repeats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motion · two paths · one repeatable vehicle — </a:t>
            </a:r>
            <a:pPr indent="0" marL="0">
              <a:buNone/>
            </a:pPr>
            <a:r>
              <a:rPr lang="en-US" sz="2200" b="1" i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“Micro Hack”.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v-team review · FY27 EMEA EPS — Fabric Apps Motion · June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13087" y="6355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EMEA </a:t>
            </a:r>
            <a:pPr algn="r" indent="0" marL="0">
              <a:buNone/>
            </a:pPr>
            <a:r>
              <a:rPr lang="en-US" sz="1200" dirty="0">
                <a:solidFill>
                  <a:srgbClr val="BC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algn="r" indent="0" marL="0">
              <a:buNone/>
            </a:pPr>
            <a:r>
              <a:rPr lang="en-US" sz="1200" b="1" dirty="0">
                <a:solidFill>
                  <a:srgbClr val="2FB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2026-06-29T08:10:23Z</dcterms:created>
  <dcterms:modified xsi:type="dcterms:W3CDTF">2026-06-29T08:10:23Z</dcterms:modified>
</cp:coreProperties>
</file>