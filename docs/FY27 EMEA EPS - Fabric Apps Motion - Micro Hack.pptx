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3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12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FY27 EMEA EPS — Fabric Apps Motion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Microsoft Fabric, enabled through </a:t>
            </a:r>
            <a:r>
              <a:rPr lang="en-US" sz="2300" b="1" i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“Micro Hack”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09039" y="36804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· Owner: EPS Tech / GTM · Two micro-hacks: Apps (Rayfin) + Workloads (Extensibility Toolkit)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13087" y="6355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pic>
        <p:nvPicPr>
          <p:cNvPr id="13" name="Picture 12" descr="Profile photo of Florent Thibault ☁">
            <a:extLst>
              <a:ext uri="{FF2B5EF4-FFF2-40B4-BE49-F238E27FC236}">
                <a16:creationId xmlns:a16="http://schemas.microsoft.com/office/drawing/2014/main" id="{F88AB34B-614E-8129-F745-C8323CA68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940" y="4656215"/>
            <a:ext cx="1046896" cy="10800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 descr="The image shows a person wearing a light blue dress shirt with a white collar and a patterned undershirt.&#10;&#10;AI-generated content may be incorrect.">
            <a:extLst>
              <a:ext uri="{FF2B5EF4-FFF2-40B4-BE49-F238E27FC236}">
                <a16:creationId xmlns:a16="http://schemas.microsoft.com/office/drawing/2014/main" id="{4739E960-05A1-11E5-796E-2B7ED57D9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427" y="4656215"/>
            <a:ext cx="1080000" cy="10800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The image shows a person wearing a dark blue shirt with a pattern, against a plain background.&#10;&#10;AI-generated content may be incorrect.">
            <a:extLst>
              <a:ext uri="{FF2B5EF4-FFF2-40B4-BE49-F238E27FC236}">
                <a16:creationId xmlns:a16="http://schemas.microsoft.com/office/drawing/2014/main" id="{69ECC126-62A5-1661-0822-EABDAC4012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018" y="4656215"/>
            <a:ext cx="1091887" cy="10800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Profile image">
            <a:extLst>
              <a:ext uri="{FF2B5EF4-FFF2-40B4-BE49-F238E27FC236}">
                <a16:creationId xmlns:a16="http://schemas.microsoft.com/office/drawing/2014/main" id="{01E2DF28-C642-B1C9-2BA5-14682A4E3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7496" y="4656215"/>
            <a:ext cx="1080000" cy="10800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 descr="Profile image">
            <a:extLst>
              <a:ext uri="{FF2B5EF4-FFF2-40B4-BE49-F238E27FC236}">
                <a16:creationId xmlns:a16="http://schemas.microsoft.com/office/drawing/2014/main" id="{09007BAB-599A-0998-A8CC-76E2ECE065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3087" y="4656215"/>
            <a:ext cx="1080000" cy="10800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37E230EF-A89B-1996-1D37-40FE2769822E}"/>
              </a:ext>
            </a:extLst>
          </p:cNvPr>
          <p:cNvSpPr/>
          <p:nvPr/>
        </p:nvSpPr>
        <p:spPr>
          <a:xfrm>
            <a:off x="4401556" y="5760720"/>
            <a:ext cx="38688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PSA Data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motion, two execution paths — both powered by a single, repeatable vehicle: the “Micro Hack”.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94960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41248" y="1792224"/>
            <a:ext cx="868680" cy="86868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41248" y="1783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892808" y="17922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Apps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92808" y="21762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Integrators (SI / advisory) · start with the GSIs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807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we drive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3072384"/>
            <a:ext cx="4828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ship business apps on Microsoft Fabric with Rayfin — partner-led, on governed OneLake data.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7824" y="3813048"/>
            <a:ext cx="4773168" cy="530352"/>
          </a:xfrm>
          <a:prstGeom prst="roundRect">
            <a:avLst>
              <a:gd name="adj" fmla="val 8621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24128" y="3813048"/>
            <a:ext cx="4498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   </a:t>
            </a: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opportunities created (MSX)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44768" y="1481328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144768" y="1481328"/>
            <a:ext cx="5394960" cy="109728"/>
          </a:xfrm>
          <a:prstGeom prst="roundRect">
            <a:avLst>
              <a:gd name="adj" fmla="val 50000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419088" y="1792224"/>
            <a:ext cx="868680" cy="868680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19088" y="1783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470648" y="17922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Adoption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70648" y="21762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Companies (SDC / ISV)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55664" y="2807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we drive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55664" y="3072384"/>
            <a:ext cx="4828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managed SDC embeds a Fabric workload in its offer — so every customer consumes a data workload.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55664" y="3813048"/>
            <a:ext cx="4773168" cy="530352"/>
          </a:xfrm>
          <a:prstGeom prst="roundRect">
            <a:avLst>
              <a:gd name="adj" fmla="val 8621"/>
            </a:avLst>
          </a:prstGeom>
          <a:solidFill>
            <a:srgbClr val="F6E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601968" y="3813048"/>
            <a:ext cx="4498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1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   </a:t>
            </a: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managed SDCs that built a workload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645152"/>
            <a:ext cx="11057839" cy="1298448"/>
          </a:xfrm>
          <a:prstGeom prst="roundRect">
            <a:avLst>
              <a:gd name="adj" fmla="val 5634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41248" y="4736592"/>
            <a:ext cx="10509199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does not build new tooling — Fabric, Rayfin, the Extensibility Toolkit and the GitHub Copilot CLI already exist. We package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turnkey, repeatable vehicle — the “Micro Hack” — that an SI or SDC can run themselves.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Motion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build it, the partner repeats it.” — one operational vehicle, two partner paths.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35608" y="2377440"/>
            <a:ext cx="731520" cy="73152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35608" y="23682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66928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kit + reference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81528" y="3081528"/>
            <a:ext cx="548640" cy="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46120" y="1783080"/>
            <a:ext cx="37490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0" y="1938528"/>
            <a:ext cx="731520" cy="73152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0" y="192938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24612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 Hack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· repeatable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341985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11880" y="34198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— Content  </a:t>
            </a: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Fabric · Rayfin · Toolkit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986784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6E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11880" y="39867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1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— Build  </a:t>
            </a: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 → app / workload 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6995160" y="2423160"/>
            <a:ext cx="502920" cy="45720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995160" y="3886200"/>
            <a:ext cx="502920" cy="45720"/>
          </a:xfrm>
          <a:prstGeom prst="line">
            <a:avLst/>
          </a:prstGeom>
          <a:noFill/>
          <a:ln w="22225">
            <a:solidFill>
              <a:srgbClr val="B14FD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498080" y="1874520"/>
            <a:ext cx="4126687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498080" y="1874520"/>
            <a:ext cx="91440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726680" y="1975104"/>
            <a:ext cx="37609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SI / advisory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26680" y="2249424"/>
            <a:ext cx="37152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Micro Hack with their own customers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26680" y="2615184"/>
            <a:ext cx="3669487" cy="402336"/>
          </a:xfrm>
          <a:prstGeom prst="roundRect">
            <a:avLst>
              <a:gd name="adj" fmla="val 11364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872984" y="2615184"/>
            <a:ext cx="339516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 </a:t>
            </a: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opportunities (MSX)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0" y="3246120"/>
            <a:ext cx="4126687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498080" y="3246120"/>
            <a:ext cx="91440" cy="1325880"/>
          </a:xfrm>
          <a:prstGeom prst="rect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726680" y="3346704"/>
            <a:ext cx="37609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SDC / ISV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26680" y="3621024"/>
            <a:ext cx="371520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Fabric workload → every customer adopts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26680" y="4078224"/>
            <a:ext cx="3669487" cy="402336"/>
          </a:xfrm>
          <a:prstGeom prst="roundRect">
            <a:avLst>
              <a:gd name="adj" fmla="val 11364"/>
            </a:avLst>
          </a:prstGeom>
          <a:solidFill>
            <a:srgbClr val="F6E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872984" y="4078224"/>
            <a:ext cx="339516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1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 </a:t>
            </a: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workloads per SDC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F1F6FC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41248" y="4983480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   </a:t>
            </a: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FY27 EPS motion we ship a highly operational vehicle (here: the Micro Hack). Microsoft builds and co-delivers the first run; the partner then owns and repeats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Context — the simplified “why now”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open a customer conversation, no more — the one-slide version of the narrative.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25724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E045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1627632"/>
            <a:ext cx="25724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4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04088" y="2286000"/>
            <a:ext cx="22981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projects without AI-ready data will be abandoned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962656"/>
            <a:ext cx="25724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5396" y="1417320"/>
            <a:ext cx="25724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95396" y="1417320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95396" y="1627632"/>
            <a:ext cx="25724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6C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532556" y="2286000"/>
            <a:ext cx="22981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leaders say stronger data infrastructure would speed AI adoption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5396" y="2962656"/>
            <a:ext cx="25724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23864" y="1417320"/>
            <a:ext cx="25724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223864" y="1417320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223864" y="1627632"/>
            <a:ext cx="25724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9C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+95.6%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361024" y="2286000"/>
            <a:ext cx="22981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win rate when an opportunity is shared with a partner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3864" y="2962656"/>
            <a:ext cx="25724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effect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331" y="1417320"/>
            <a:ext cx="25724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052331" y="1417320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052331" y="1627632"/>
            <a:ext cx="25724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9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+46%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189491" y="2286000"/>
            <a:ext cx="22981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deal size when a partner is attached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331" y="2962656"/>
            <a:ext cx="25724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effect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456432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FFF6E6"/>
          </a:solidFill>
          <a:ln w="12700">
            <a:solidFill>
              <a:srgbClr val="E8B6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22960" y="3639312"/>
            <a:ext cx="475488" cy="475488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22960" y="3630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81328" y="3456432"/>
            <a:ext cx="996055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are the new compelling event.   </a:t>
            </a: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AI-era apps demand governed data. Fabric + Rayfin remove months of backend plumbing, so partners ship on OneLake — governed by default — instead of rebuilding infrastructure.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customer frictions to anchor on: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4754880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95528" y="5029200"/>
            <a:ext cx="548640" cy="54864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95528" y="5020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81328" y="4754880"/>
            <a:ext cx="240578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Stay ahead of AI-era security &amp; governance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344314" y="4754880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572914" y="5029200"/>
            <a:ext cx="548640" cy="548640"/>
          </a:xfrm>
          <a:prstGeom prst="ellipse">
            <a:avLst/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572914" y="5020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58714" y="4754880"/>
            <a:ext cx="240578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Cut the cost &amp; time of backend plumbing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21701" y="4754880"/>
            <a:ext cx="350306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350301" y="5029200"/>
            <a:ext cx="548640" cy="548640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350301" y="5020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36101" y="4754880"/>
            <a:ext cx="240578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Unblock AI innovation on governed data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 A — SI / Advisory (Apps)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GSIs first. Enable partners to build &amp; ship customer business apps on Fabric, partner-led.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822960" cy="82296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17282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847088" y="18470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2542032"/>
            <a:ext cx="479145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SIs to build and ship business apps on Microsoft Fabric with Rayfin, led by the partner — on governed OneLake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4768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419088" y="1737360"/>
            <a:ext cx="822960" cy="822960"/>
          </a:xfrm>
          <a:prstGeom prst="ellipse">
            <a:avLst/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19088" y="17282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424928" y="18470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55664" y="2542032"/>
            <a:ext cx="479145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opportunities created in MSX (partner-sourced or partner-shared) — ACR vision.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493008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41248" y="3767328"/>
            <a:ext cx="822960" cy="822960"/>
          </a:xfrm>
          <a:prstGeom prst="ellipse">
            <a:avLst/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41248" y="37581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847088" y="387705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KPIs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7824" y="4572000"/>
            <a:ext cx="479145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“Micro Hack” days repeated by the partner · # of apps deployed to Fabric · Azure/Fabric pipeline.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44768" y="3493008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419088" y="3767328"/>
            <a:ext cx="822960" cy="822960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19088" y="37581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424928" y="387705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role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55664" y="4572000"/>
            <a:ext cx="479145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 per country + EPS (PDM / PSA), with one executive sponsor per SI / GSI.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Vehicle — Micro Hack 1 (Apps)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repeatable one-day format. Microsoft co-delivers run #1; the SI repeats runs #2…N independently.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44752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94944" y="14447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☀️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— Content  (MS → Partner)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44768" y="1444752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272784" y="14447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48272" y="144475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— Build + Demo  (MS → Partner)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0848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13232" y="2203704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13232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5296" y="208483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on Fabric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backend · governance on OneLake · time-to-app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7980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13232" y="2916936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3232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25296" y="279806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Rayfin foundations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= database · auth, APIs, hosting · deploy in one command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51129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13232" y="3630168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13232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25296" y="35112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Bicycle Studio built live with the GitHub Copilot CLI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22452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13232" y="4343400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13232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25296" y="4224528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build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scenario · data model · screens · roles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44768" y="20848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291072" y="2203704"/>
            <a:ext cx="384048" cy="384048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291072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03136" y="208483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 1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declare the data model (Rayfin provisions the DB), core screens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44768" y="27980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6E6"/>
          </a:solidFill>
          <a:ln w="12700">
            <a:solidFill>
              <a:srgbClr val="E8B6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291072" y="2916936"/>
            <a:ext cx="384048" cy="384048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291072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03136" y="279806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Build sprint 2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extend, polish, deploy to Fabric (rayfin up), demo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44768" y="351129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291072" y="3630168"/>
            <a:ext cx="384048" cy="384048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291072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03136" y="35112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next steps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app into an MSX opportunity + a 90-day plan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86400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22960" y="548640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52728" y="5486400"/>
            <a:ext cx="1014343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afternoon is the differentiator.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ship a real working app on Fabric — the artifact the SI uses to open and qualify a real opportunity.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Repeatability — the partner runs its own Micro Hack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 only scales if the partner repeats it without us. We ship a “Micro Hack in a Box”.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2586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75956" y="1664208"/>
            <a:ext cx="768096" cy="768096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75956" y="1655064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2505456"/>
            <a:ext cx="2586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kit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16352"/>
            <a:ext cx="2256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 (morning), demo script, timing guide, FAQ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90824" y="1463040"/>
            <a:ext cx="2586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299852" y="1664208"/>
            <a:ext cx="768096" cy="768096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299852" y="1655064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90824" y="2505456"/>
            <a:ext cx="2586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access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55416" y="2816352"/>
            <a:ext cx="2256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way to build the app / workload with the GitHub Copilot CLI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4720" y="1463040"/>
            <a:ext cx="2586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123748" y="1664208"/>
            <a:ext cx="768096" cy="768096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23748" y="1655064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4720" y="2505456"/>
            <a:ext cx="2586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Train-the-trainer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79312" y="2816352"/>
            <a:ext cx="2256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#1 co-delivered; we certify a partner pursuit team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38615" y="1463040"/>
            <a:ext cx="2586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762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947643" y="1664208"/>
            <a:ext cx="768096" cy="768096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947643" y="1655064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38615" y="2505456"/>
            <a:ext cx="2586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KPI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03207" y="2816352"/>
            <a:ext cx="2256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partner-led sessions and opportunities they generate (MSX)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4023360"/>
            <a:ext cx="2421560" cy="1783080"/>
          </a:xfrm>
          <a:prstGeom prst="roundRect">
            <a:avLst>
              <a:gd name="adj" fmla="val 41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411948" y="42245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411948" y="4224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8368" y="5010912"/>
            <a:ext cx="223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EPS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4088" y="5321808"/>
            <a:ext cx="2147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kit + scenarios + facilitator pack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43352" y="4914900"/>
            <a:ext cx="347472" cy="0"/>
          </a:xfrm>
          <a:prstGeom prst="line">
            <a:avLst/>
          </a:prstGeom>
          <a:noFill/>
          <a:ln w="22225">
            <a:solidFill>
              <a:srgbClr val="93A6B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445688" y="4023360"/>
            <a:ext cx="2421560" cy="1783080"/>
          </a:xfrm>
          <a:prstGeom prst="roundRect">
            <a:avLst>
              <a:gd name="adj" fmla="val 4103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290708" y="42245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290708" y="4224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37128" y="5010912"/>
            <a:ext cx="223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Co-deliver Run #1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582848" y="5321808"/>
            <a:ext cx="2147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Train-the-trainer with the partner team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22112" y="4914900"/>
            <a:ext cx="347472" cy="0"/>
          </a:xfrm>
          <a:prstGeom prst="line">
            <a:avLst/>
          </a:prstGeom>
          <a:noFill/>
          <a:ln w="22225">
            <a:solidFill>
              <a:srgbClr val="93A6B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324448" y="4023360"/>
            <a:ext cx="2421560" cy="1783080"/>
          </a:xfrm>
          <a:prstGeom prst="roundRect">
            <a:avLst>
              <a:gd name="adj" fmla="val 4103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7169467" y="42245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7169467" y="4224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15888" y="5010912"/>
            <a:ext cx="223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#2…N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461608" y="5321808"/>
            <a:ext cx="2147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delivers independently to its customers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800871" y="4914900"/>
            <a:ext cx="347472" cy="0"/>
          </a:xfrm>
          <a:prstGeom prst="line">
            <a:avLst/>
          </a:prstGeom>
          <a:noFill/>
          <a:ln w="22225">
            <a:solidFill>
              <a:srgbClr val="93A6B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9203207" y="4023360"/>
            <a:ext cx="2421560" cy="1783080"/>
          </a:xfrm>
          <a:prstGeom prst="roundRect">
            <a:avLst>
              <a:gd name="adj" fmla="val 4103"/>
            </a:avLst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10048227" y="422452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10048227" y="4224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294647" y="5010912"/>
            <a:ext cx="223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9340367" y="5321808"/>
            <a:ext cx="2147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&amp; workloads → created / shared in MSX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Micro Hack kit — the one asset we 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enablement kit, not a product — used live in the day, then repeated by the partner.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E6F5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5394960" cy="91440"/>
          </a:xfrm>
          <a:prstGeom prst="roundRect">
            <a:avLst>
              <a:gd name="adj" fmla="val 50000"/>
            </a:avLst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" y="1993392"/>
            <a:ext cx="237744" cy="237744"/>
          </a:xfrm>
          <a:prstGeom prst="ellipse">
            <a:avLst/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59536" y="197510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25296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ready-to-run kit: prompts, scripts, reference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" y="2377440"/>
            <a:ext cx="237744" cy="237744"/>
          </a:xfrm>
          <a:prstGeom prst="ellipse">
            <a:avLst/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59536" y="235915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25296" y="2322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 — a Rayfin app and a Fabric workload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" y="2761488"/>
            <a:ext cx="237744" cy="237744"/>
          </a:xfrm>
          <a:prstGeom prst="ellipse">
            <a:avLst/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59536" y="274320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25296" y="27066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materials to repeat the 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4768" y="1417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BE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144768" y="1417320"/>
            <a:ext cx="5394960" cy="91440"/>
          </a:xfrm>
          <a:prstGeom prst="roundRect">
            <a:avLst>
              <a:gd name="adj" fmla="val 50000"/>
            </a:avLst>
          </a:prstGeom>
          <a:solidFill>
            <a:srgbClr val="E045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19088" y="15544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37376" y="1993392"/>
            <a:ext cx="237744" cy="237744"/>
          </a:xfrm>
          <a:prstGeom prst="ellipse">
            <a:avLst/>
          </a:prstGeom>
          <a:solidFill>
            <a:srgbClr val="E045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37376" y="197510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product or platform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37376" y="2377440"/>
            <a:ext cx="237744" cy="237744"/>
          </a:xfrm>
          <a:prstGeom prst="ellipse">
            <a:avLst/>
          </a:prstGeom>
          <a:solidFill>
            <a:srgbClr val="E045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437376" y="235915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2322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Rayfin / the Extensibility Toolkit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37376" y="2761488"/>
            <a:ext cx="237744" cy="237744"/>
          </a:xfrm>
          <a:prstGeom prst="ellipse">
            <a:avLst/>
          </a:prstGeom>
          <a:solidFill>
            <a:srgbClr val="E045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37376" y="274320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3136" y="27066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one-off custom build for a single customer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3456432"/>
            <a:ext cx="332018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66928" y="3456432"/>
            <a:ext cx="3320186" cy="512064"/>
          </a:xfrm>
          <a:prstGeom prst="roundRect">
            <a:avLst>
              <a:gd name="adj" fmla="val 10714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13232" y="3456432"/>
            <a:ext cx="302757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Fixed scenario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" y="4114800"/>
            <a:ext cx="286298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+ sample data + target users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Apps: Helios · Workloads: GreenGrid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 for every run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60266" y="4713732"/>
            <a:ext cx="384048" cy="0"/>
          </a:xfrm>
          <a:prstGeom prst="line">
            <a:avLst/>
          </a:prstGeom>
          <a:noFill/>
          <a:ln w="22225">
            <a:solidFill>
              <a:srgbClr val="93A6B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435754" y="3456432"/>
            <a:ext cx="332018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435754" y="3456432"/>
            <a:ext cx="3320186" cy="512064"/>
          </a:xfrm>
          <a:prstGeom prst="roundRect">
            <a:avLst>
              <a:gd name="adj" fmla="val 10714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582058" y="3456432"/>
            <a:ext cx="302757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Copilot CLI + Rayfin / Toolkit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691786" y="4114800"/>
            <a:ext cx="286298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declare data model / workload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roles, OneLake read (OBO)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build + tests green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829093" y="4713732"/>
            <a:ext cx="384048" cy="0"/>
          </a:xfrm>
          <a:prstGeom prst="line">
            <a:avLst/>
          </a:prstGeom>
          <a:noFill/>
          <a:ln w="22225">
            <a:solidFill>
              <a:srgbClr val="93A6B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304581" y="3456432"/>
            <a:ext cx="332018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304581" y="3456432"/>
            <a:ext cx="3320186" cy="512064"/>
          </a:xfrm>
          <a:prstGeom prst="roundRect">
            <a:avLst>
              <a:gd name="adj" fmla="val 10714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8450885" y="3456432"/>
            <a:ext cx="302757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Working app / workload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560613" y="4114800"/>
            <a:ext cx="286298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Fabric, governed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Demo-ready, partner-owned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→ opportunity / adoption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 B — SDC / ISV (Workloads)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Fabric footprint through ISV offers: embed once, consume mechanically across the ISV’s customer base.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6928" y="1463040"/>
            <a:ext cx="5212080" cy="109728"/>
          </a:xfrm>
          <a:prstGeom prst="roundRect">
            <a:avLst>
              <a:gd name="adj" fmla="val 50000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77824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2176272"/>
            <a:ext cx="46085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every Microsoft-managed SDC to embed a Fabric workload (Extensibility Toolkit) inside its commercial offer — so every time a customer uses the product, a Fabric data workload is consumed by design.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3200400"/>
            <a:ext cx="4590288" cy="868680"/>
          </a:xfrm>
          <a:prstGeom prst="roundRect">
            <a:avLst>
              <a:gd name="adj" fmla="val 6316"/>
            </a:avLst>
          </a:prstGeom>
          <a:solidFill>
            <a:srgbClr val="F6E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42416" y="32004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once, adopt many.   </a:t>
            </a: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SDC standardizes on a Fabric workload, its entire customer base becomes ongoing Fabric adoption.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" y="4187952"/>
            <a:ext cx="4590288" cy="64008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42416" y="418795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managed SDCs that built a Fabric workload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4956048"/>
            <a:ext cx="46085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adoption &amp; mechanical consumption — not repeated workshops. The win is the embed and the footprint it generates.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44768" y="1444752"/>
            <a:ext cx="54799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once </a:t>
            </a: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adopt mechanically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4768" y="1828800"/>
            <a:ext cx="5479999" cy="548640"/>
          </a:xfrm>
          <a:prstGeom prst="roundRect">
            <a:avLst>
              <a:gd name="adj" fmla="val 11667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327648" y="1828800"/>
            <a:ext cx="51142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Microsoft-managed SDC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884768" y="2377440"/>
            <a:ext cx="0" cy="164592"/>
          </a:xfrm>
          <a:prstGeom prst="line">
            <a:avLst/>
          </a:prstGeom>
          <a:noFill/>
          <a:ln w="22225">
            <a:solidFill>
              <a:srgbClr val="B14FD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144768" y="2578608"/>
            <a:ext cx="5479999" cy="502920"/>
          </a:xfrm>
          <a:prstGeom prst="roundRect">
            <a:avLst>
              <a:gd name="adj" fmla="val 12727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327648" y="2578608"/>
            <a:ext cx="51142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managed Fabric workload (Toolkit)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884768" y="3081528"/>
            <a:ext cx="0" cy="146304"/>
          </a:xfrm>
          <a:prstGeom prst="line">
            <a:avLst/>
          </a:prstGeom>
          <a:noFill/>
          <a:ln w="2222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144768" y="3255264"/>
            <a:ext cx="5479999" cy="502920"/>
          </a:xfrm>
          <a:prstGeom prst="roundRect">
            <a:avLst>
              <a:gd name="adj" fmla="val 12727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327648" y="3255264"/>
            <a:ext cx="51142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product / offer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003237" y="3749040"/>
            <a:ext cx="0" cy="146304"/>
          </a:xfrm>
          <a:prstGeom prst="line">
            <a:avLst/>
          </a:prstGeom>
          <a:noFill/>
          <a:ln w="22225">
            <a:solidFill>
              <a:srgbClr val="2E9CA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44768" y="3895344"/>
            <a:ext cx="171693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217920" y="3895344"/>
            <a:ext cx="15706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E9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workload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03237" y="4443984"/>
            <a:ext cx="0" cy="146304"/>
          </a:xfrm>
          <a:prstGeom prst="line">
            <a:avLst/>
          </a:prstGeom>
          <a:noFill/>
          <a:ln w="22225">
            <a:solidFill>
              <a:srgbClr val="2E9CA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884768" y="3749040"/>
            <a:ext cx="0" cy="146304"/>
          </a:xfrm>
          <a:prstGeom prst="line">
            <a:avLst/>
          </a:prstGeom>
          <a:noFill/>
          <a:ln w="22225">
            <a:solidFill>
              <a:srgbClr val="2E9CA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026298" y="3895344"/>
            <a:ext cx="171693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099450" y="3895344"/>
            <a:ext cx="15706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2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E9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workload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84768" y="4443984"/>
            <a:ext cx="0" cy="146304"/>
          </a:xfrm>
          <a:prstGeom prst="line">
            <a:avLst/>
          </a:prstGeom>
          <a:noFill/>
          <a:ln w="22225">
            <a:solidFill>
              <a:srgbClr val="2E9CA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0766298" y="3749040"/>
            <a:ext cx="0" cy="146304"/>
          </a:xfrm>
          <a:prstGeom prst="line">
            <a:avLst/>
          </a:prstGeom>
          <a:noFill/>
          <a:ln w="22225">
            <a:solidFill>
              <a:srgbClr val="2E9CA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9907829" y="3895344"/>
            <a:ext cx="171693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980981" y="3895344"/>
            <a:ext cx="15706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E9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workload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766298" y="4443984"/>
            <a:ext cx="0" cy="146304"/>
          </a:xfrm>
          <a:prstGeom prst="line">
            <a:avLst/>
          </a:prstGeom>
          <a:noFill/>
          <a:ln w="22225">
            <a:solidFill>
              <a:srgbClr val="2E9CA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144768" y="4608576"/>
            <a:ext cx="5479999" cy="640080"/>
          </a:xfrm>
          <a:prstGeom prst="roundRect">
            <a:avLst>
              <a:gd name="adj" fmla="val 10000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327648" y="4608576"/>
            <a:ext cx="51142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Fabric footprint — adoption &amp; ACR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Vehicle — Micro Hack 2 (Workloads)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fixed, repeatable shape as Micro Hack 1 — but the artifact is a Fabric workload the SDC embeds in its offer.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44752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94944" y="14447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☀️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— Content  (MS → Partner)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44768" y="1444752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272784" y="14447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48272" y="144475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— Build + Demo  (MS → Partner)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0848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13232" y="2203704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13232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5296" y="208483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workload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every Fabric customer via the Workload Hub · run on OneLake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7980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13232" y="2916936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3232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25296" y="279806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Toolkit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structure · Entra app · Dev Gateway · manifest · OBO token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51129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13232" y="3630168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13232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25296" y="35112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GreenGrid Scorecard running live inside Fabric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22452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13232" y="4343400"/>
            <a:ext cx="384048" cy="384048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13232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25296" y="4224528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build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workload · OneLake data · backend call · UI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44768" y="20848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291072" y="2203704"/>
            <a:ext cx="384048" cy="384048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291072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03136" y="208483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 1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toolkit, Setup.ps1 (Entra app), dev server + gateway, Hello World, CreateNewItem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44768" y="27980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6E6"/>
          </a:solidFill>
          <a:ln w="12700">
            <a:solidFill>
              <a:srgbClr val="E8B6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291072" y="2916936"/>
            <a:ext cx="384048" cy="384048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291072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03136" y="279806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Build sprint 2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Files/sites.csv from OneLake, call the backend, render the scorecard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44768" y="351129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291072" y="3630168"/>
            <a:ext cx="384048" cy="384048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291072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03136" y="35112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next steps   </a:t>
            </a:r>
            <a:r>
              <a:rPr lang="en-US" sz="11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 the SDC offer + path to publish on the Workload Hub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86400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22960" y="548640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52728" y="5486400"/>
            <a:ext cx="1014343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artifact.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Fabric workload the SDC embeds in its offer — so every customer adopts Fabric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reuse — we don’t rebuild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already exists. The motion packages it; the Micro Hack runs it.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6766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31520" y="1938528"/>
            <a:ext cx="365760" cy="36576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43584" y="178308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 </a:t>
            </a:r>
            <a:r>
              <a:rPr lang="en-US" sz="12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· governance · single copy of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69464"/>
            <a:ext cx="6766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31520" y="2724912"/>
            <a:ext cx="365760" cy="36576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31520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43584" y="2569464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Rayfin   </a:t>
            </a:r>
            <a:r>
              <a:rPr lang="en-US" sz="12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backend for business apps (data model = DB)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355848"/>
            <a:ext cx="6766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1520" y="3511296"/>
            <a:ext cx="365760" cy="36576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3152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43584" y="335584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Extensibility Toolkit   </a:t>
            </a:r>
            <a:r>
              <a:rPr lang="en-US" sz="12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native workloads, distributed in Fabric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142232"/>
            <a:ext cx="6766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31520" y="4288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43584" y="414223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  </a:t>
            </a:r>
            <a:r>
              <a:rPr lang="en-US" sz="12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apps &amp; workloads fast, with validation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928616"/>
            <a:ext cx="6766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31520" y="5084064"/>
            <a:ext cx="365760" cy="36576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43584" y="49286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Hub   </a:t>
            </a:r>
            <a:r>
              <a:rPr lang="en-US" sz="125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a workload to every Fabric customer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53528" y="1417320"/>
            <a:ext cx="3971239" cy="4572000"/>
          </a:xfrm>
          <a:prstGeom prst="roundRect">
            <a:avLst>
              <a:gd name="adj" fmla="val 23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927848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522208" y="1627632"/>
            <a:ext cx="29653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map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946136" y="2212848"/>
            <a:ext cx="3422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— don’t rebuild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46136" y="2670048"/>
            <a:ext cx="342259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46136" y="2889504"/>
            <a:ext cx="3422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create-rayfin / Setup.ps1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46136" y="3328416"/>
            <a:ext cx="342259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46136" y="3547872"/>
            <a:ext cx="3422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rayfin data (model = DB) / sites.csv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46136" y="3986784"/>
            <a:ext cx="342259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46136" y="4206240"/>
            <a:ext cx="3422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· Dev Gateway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46136" y="4645152"/>
            <a:ext cx="342259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46136" y="4864608"/>
            <a:ext cx="3422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rayfin up · Hello World item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946136" y="5303520"/>
            <a:ext cx="342259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46136" y="5522976"/>
            <a:ext cx="3422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Hub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KPIs — how we measure the motion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scoreboards, one north-star: the share of apps and workloads that are partner-led, not Microsoft-led.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94960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41248" y="1755648"/>
            <a:ext cx="822960" cy="82296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41248" y="174650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847088" y="1865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Apps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" y="3017520"/>
            <a:ext cx="4773168" cy="502920"/>
          </a:xfrm>
          <a:prstGeom prst="roundRect">
            <a:avLst>
              <a:gd name="adj" fmla="val 9091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24128" y="3017520"/>
            <a:ext cx="4498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opportunities created (MSX), Stage 1 &amp;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7824" y="3639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3895344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Micro Hacks repeated by the partner · # apps deployed · Fabric / Azure ACR pipeline.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4768" y="1481328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144768" y="1481328"/>
            <a:ext cx="5394960" cy="109728"/>
          </a:xfrm>
          <a:prstGeom prst="roundRect">
            <a:avLst>
              <a:gd name="adj" fmla="val 50000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419088" y="1755648"/>
            <a:ext cx="822960" cy="822960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19088" y="174650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424928" y="1865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Workloads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55664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55664" y="3017520"/>
            <a:ext cx="4773168" cy="502920"/>
          </a:xfrm>
          <a:prstGeom prst="roundRect">
            <a:avLst>
              <a:gd name="adj" fmla="val 9091"/>
            </a:avLst>
          </a:prstGeom>
          <a:solidFill>
            <a:srgbClr val="F6E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601968" y="3017520"/>
            <a:ext cx="4498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1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managed SDCs that built a Fabric workload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55664" y="3639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55664" y="3895344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workloads per SDC · Fabric usage / ACR from SDC end-customers.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617720"/>
            <a:ext cx="11057839" cy="1280160"/>
          </a:xfrm>
          <a:prstGeom prst="roundRect">
            <a:avLst>
              <a:gd name="adj" fmla="val 5714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41248" y="4709160"/>
            <a:ext cx="1050919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Micro Hacks, apps and workloads that are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partner-led, not Microsoft-led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motion is healthy when partners repeat it without us.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Execution Roadmap — FY27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FY starts in July. End of Q1: kit in the partner’s hands — the motion shifts from MS-build to partner-led repeat.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35424" y="1481328"/>
            <a:ext cx="1708328" cy="457200"/>
          </a:xfrm>
          <a:prstGeom prst="roundRect">
            <a:avLst>
              <a:gd name="adj" fmla="val 8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498848" y="1481328"/>
            <a:ext cx="178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Jul–Sep ’26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16904" y="1481328"/>
            <a:ext cx="1708328" cy="457200"/>
          </a:xfrm>
          <a:prstGeom prst="roundRect">
            <a:avLst>
              <a:gd name="adj" fmla="val 8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280328" y="1481328"/>
            <a:ext cx="178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Oct–Dec ’26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8384" y="1481328"/>
            <a:ext cx="1708328" cy="457200"/>
          </a:xfrm>
          <a:prstGeom prst="roundRect">
            <a:avLst>
              <a:gd name="adj" fmla="val 8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061808" y="1481328"/>
            <a:ext cx="178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Jan–Mar ’27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79863" y="1481328"/>
            <a:ext cx="1708328" cy="457200"/>
          </a:xfrm>
          <a:prstGeom prst="roundRect">
            <a:avLst>
              <a:gd name="adj" fmla="val 8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843287" y="1481328"/>
            <a:ext cx="178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Apr–Jun ’27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1938528"/>
            <a:ext cx="11057839" cy="457200"/>
          </a:xfrm>
          <a:prstGeom prst="rect">
            <a:avLst/>
          </a:prstGeom>
          <a:solidFill>
            <a:srgbClr val="F1F6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12648" y="19385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kit + facilitator pack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029968"/>
            <a:ext cx="1635176" cy="274320"/>
          </a:xfrm>
          <a:prstGeom prst="roundRect">
            <a:avLst>
              <a:gd name="adj" fmla="val 16667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2648" y="2395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reference scenarios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487168"/>
            <a:ext cx="1635176" cy="274320"/>
          </a:xfrm>
          <a:prstGeom prst="roundRect">
            <a:avLst>
              <a:gd name="adj" fmla="val 16667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66928" y="2852928"/>
            <a:ext cx="11057839" cy="457200"/>
          </a:xfrm>
          <a:prstGeom prst="rect">
            <a:avLst/>
          </a:prstGeom>
          <a:solidFill>
            <a:srgbClr val="F1F6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2648" y="2852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Sponsor + pursuit team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2944368"/>
            <a:ext cx="1635176" cy="274320"/>
          </a:xfrm>
          <a:prstGeom prst="roundRect">
            <a:avLst>
              <a:gd name="adj" fmla="val 16667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12648" y="3310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Co-deliver Run #1 ◆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3401568"/>
            <a:ext cx="1635176" cy="274320"/>
          </a:xfrm>
          <a:prstGeom prst="roundRect">
            <a:avLst>
              <a:gd name="adj" fmla="val 16667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66928" y="3767328"/>
            <a:ext cx="11057839" cy="457200"/>
          </a:xfrm>
          <a:prstGeom prst="rect">
            <a:avLst/>
          </a:prstGeom>
          <a:solidFill>
            <a:srgbClr val="F1F6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2648" y="37673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SIs repeat (own customers)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3480" y="3858768"/>
            <a:ext cx="3416656" cy="274320"/>
          </a:xfrm>
          <a:prstGeom prst="roundRect">
            <a:avLst>
              <a:gd name="adj" fmla="val 16667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12648" y="42245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Scale to other GSIs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3480" y="4315968"/>
            <a:ext cx="5198135" cy="274320"/>
          </a:xfrm>
          <a:prstGeom prst="roundRect">
            <a:avLst>
              <a:gd name="adj" fmla="val 16667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66928" y="4681728"/>
            <a:ext cx="11057839" cy="457200"/>
          </a:xfrm>
          <a:prstGeom prst="rect">
            <a:avLst/>
          </a:prstGeom>
          <a:solidFill>
            <a:srgbClr val="F1F6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12648" y="4681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SDC first workloads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0" y="4773168"/>
            <a:ext cx="3416656" cy="274320"/>
          </a:xfrm>
          <a:prstGeom prst="roundRect">
            <a:avLst>
              <a:gd name="adj" fmla="val 16667"/>
            </a:avLst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12648" y="5138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Repeat across portfolio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3480" y="5230368"/>
            <a:ext cx="5198135" cy="274320"/>
          </a:xfrm>
          <a:prstGeom prst="roundRect">
            <a:avLst>
              <a:gd name="adj" fmla="val 16667"/>
            </a:avLst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280328" y="1481328"/>
            <a:ext cx="0" cy="4114800"/>
          </a:xfrm>
          <a:prstGeom prst="line">
            <a:avLst/>
          </a:prstGeom>
          <a:noFill/>
          <a:ln w="12700">
            <a:solidFill>
              <a:srgbClr val="E3ED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8061808" y="1481328"/>
            <a:ext cx="0" cy="4114800"/>
          </a:xfrm>
          <a:prstGeom prst="line">
            <a:avLst/>
          </a:prstGeom>
          <a:noFill/>
          <a:ln w="12700">
            <a:solidFill>
              <a:srgbClr val="E3ED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9843287" y="1481328"/>
            <a:ext cx="0" cy="4114800"/>
          </a:xfrm>
          <a:prstGeom prst="line">
            <a:avLst/>
          </a:prstGeom>
          <a:noFill/>
          <a:ln w="12700">
            <a:solidFill>
              <a:srgbClr val="E3ED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66928" y="576072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FF6E6"/>
          </a:solidFill>
          <a:ln w="12700">
            <a:solidFill>
              <a:srgbClr val="E8B6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41248" y="5760720"/>
            <a:ext cx="1050919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Key milestone — Run #1 co-delivered, end of Q1 (Sep ’26):  </a:t>
            </a: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Micro Hack delivered live; partner pursuit team certified. Q2–Q3: partners repeat independently while we scale to other GSIs and SDCs.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this motion as the execution layer for building apps &amp; workloads on Fabric — not a parallel track.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EMEA EPS · Fabric Apps Motion — the “Micro Hack”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8648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13087" y="6501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5E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2572436" cy="292608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395946" y="1828800"/>
            <a:ext cx="914400" cy="91440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95946" y="18196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2572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3346704"/>
            <a:ext cx="22066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+ EPS leadership behind one ONE-Microsoft motion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5396" y="1481328"/>
            <a:ext cx="2572436" cy="292608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395396" y="1481328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224414" y="1828800"/>
            <a:ext cx="914400" cy="914400"/>
          </a:xfrm>
          <a:prstGeom prst="ellipse">
            <a:avLst/>
          </a:prstGeom>
          <a:solidFill>
            <a:srgbClr val="2E9C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224414" y="18196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95396" y="2926080"/>
            <a:ext cx="2572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78276" y="3346704"/>
            <a:ext cx="22066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kit + scenarios and run the first co-delivered sessions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3864" y="1481328"/>
            <a:ext cx="2572436" cy="292608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223864" y="1481328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052882" y="1828800"/>
            <a:ext cx="914400" cy="914400"/>
          </a:xfrm>
          <a:prstGeom prst="ellipse">
            <a:avLst/>
          </a:prstGeom>
          <a:solidFill>
            <a:srgbClr val="B14F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052882" y="18196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23864" y="2926080"/>
            <a:ext cx="2572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PM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6744" y="3346704"/>
            <a:ext cx="22066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the Extensibility Toolkit roadmap and the Workload Hub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331" y="1481328"/>
            <a:ext cx="2572436" cy="292608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blurRad="889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052331" y="1481328"/>
            <a:ext cx="2572436" cy="109728"/>
          </a:xfrm>
          <a:prstGeom prst="roundRect">
            <a:avLst>
              <a:gd name="adj" fmla="val 50000"/>
            </a:avLst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881349" y="1828800"/>
            <a:ext cx="914400" cy="914400"/>
          </a:xfrm>
          <a:prstGeom prst="ellipse">
            <a:avLst/>
          </a:prstGeom>
          <a:solidFill>
            <a:srgbClr val="2E9E6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881349" y="18196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52331" y="2926080"/>
            <a:ext cx="2572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Microsoft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35211" y="3346704"/>
            <a:ext cx="22066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+ Advisory → one execution layer, not parallel tracks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4663440"/>
            <a:ext cx="11057839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41248" y="4754880"/>
            <a:ext cx="1050919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looks like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Fabric / app conversation becomes a real opportunity or a built workload —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the Micro Hack, owned and repeated by the partner.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build it. The partner repeats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motion · two paths · one repeatable vehicle — </a:t>
            </a:r>
            <a:r>
              <a:rPr lang="en-US" sz="2200" b="1" i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“Micro Hack”.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13087" y="6355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</a:t>
            </a:r>
            <a:r>
              <a:rPr lang="en-US" sz="12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b="1" dirty="0">
                <a:solidFill>
                  <a:srgbClr val="2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2241</Words>
  <Application>Microsoft Office PowerPoint</Application>
  <PresentationFormat>Widescreen</PresentationFormat>
  <Paragraphs>322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Frederic Gisbert</cp:lastModifiedBy>
  <cp:revision>5</cp:revision>
  <dcterms:created xsi:type="dcterms:W3CDTF">2026-06-29T08:10:23Z</dcterms:created>
  <dcterms:modified xsi:type="dcterms:W3CDTF">2026-06-29T08:43:55Z</dcterms:modified>
</cp:coreProperties>
</file>