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1488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FY27 EMEA EPS — Fabric Apps Motion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3200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Microsoft Fabric, enabled through </a:t>
            </a:r>
            <a:pPr indent="0" marL="0">
              <a:buNone/>
            </a:pPr>
            <a:r>
              <a:rPr lang="en-US" sz="23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“Micro Hack”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406908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AEC9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069080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to be finalized end of June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4892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· Owner: EPS Tech / GTM · Two micro-hacks: Apps (Rayfin) + Workloads (Extensibility Toolkit)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motion, two execution paths — both powered by a single, repeatable vehicle: the “Micro Hack”.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92224"/>
            <a:ext cx="868680" cy="86868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89280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9280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Integrators (SI / advisory) · start with the GSIs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782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782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ship business apps on Microsoft Fabric with Rayfin — partner-led, on governed OneLake data.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782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E7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92224"/>
            <a:ext cx="868680" cy="86868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747064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Adoption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Development Companies (SDC / ISV)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managed SDC embeds a Fabric workload in its offer — so every customer consumes a data workload.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5566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F6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660196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workload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645152"/>
            <a:ext cx="11057839" cy="1298448"/>
          </a:xfrm>
          <a:prstGeom prst="roundRect">
            <a:avLst>
              <a:gd name="adj" fmla="val 563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36592"/>
            <a:ext cx="10509199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does not build new tooling — Fabric, Rayfin, the Extensibility Toolkit and the GitHub Copilot CLI already exist. We package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turnkey, repeatable vehicle — the “Micro Hack” — that an SI or SDC can run themselves.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Motion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build it, the partner repeats it.” — one operational vehicle, two partner paths.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468880" cy="1874520"/>
          </a:xfrm>
          <a:prstGeom prst="roundRect">
            <a:avLst>
              <a:gd name="adj" fmla="val 4878"/>
            </a:avLst>
          </a:prstGeom>
          <a:solidFill>
            <a:srgbClr val="1F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2377440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35608" y="23682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66928" y="3200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kit + reference scenarios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3081528"/>
            <a:ext cx="548640" cy="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46120" y="1783080"/>
            <a:ext cx="37490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938528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92938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24612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 Hack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4612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 · repeatable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74720" y="3419856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9" name="Text 17"/>
          <p:cNvSpPr/>
          <p:nvPr/>
        </p:nvSpPr>
        <p:spPr>
          <a:xfrm>
            <a:off x="3611880" y="341985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Fabric · Rayfin · Toolkit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986784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1" name="Text 19"/>
          <p:cNvSpPr/>
          <p:nvPr/>
        </p:nvSpPr>
        <p:spPr>
          <a:xfrm>
            <a:off x="3611880" y="398678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in → app / workload out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6995160" y="2423160"/>
            <a:ext cx="502920" cy="4572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3886200"/>
            <a:ext cx="502920" cy="45720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98080" y="1874520"/>
            <a:ext cx="4126687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1874520"/>
            <a:ext cx="91440" cy="1234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726680" y="19751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 / advisory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26680" y="2249424"/>
            <a:ext cx="37152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Micro Hack with their own customers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26680" y="261518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E7F1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72984" y="261518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opportunities (MSX)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0" y="3246120"/>
            <a:ext cx="4126687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0" y="3246120"/>
            <a:ext cx="91440" cy="1325880"/>
          </a:xfrm>
          <a:prstGeom prst="rect">
            <a:avLst/>
          </a:prstGeom>
          <a:solidFill>
            <a:srgbClr val="B14FD8"/>
          </a:solidFill>
          <a:ln/>
        </p:spPr>
      </p:sp>
      <p:sp>
        <p:nvSpPr>
          <p:cNvPr id="32" name="Text 30"/>
          <p:cNvSpPr/>
          <p:nvPr/>
        </p:nvSpPr>
        <p:spPr>
          <a:xfrm>
            <a:off x="7726680" y="33467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/ ISV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26680" y="3621024"/>
            <a:ext cx="371520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Fabric workload → every customer adopts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26680" y="407822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F6EAFB"/>
          </a:solidFill>
          <a:ln/>
        </p:spPr>
      </p:sp>
      <p:sp>
        <p:nvSpPr>
          <p:cNvPr id="35" name="Text 33"/>
          <p:cNvSpPr/>
          <p:nvPr/>
        </p:nvSpPr>
        <p:spPr>
          <a:xfrm>
            <a:off x="7872984" y="407822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F1F6FC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" y="4983480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   </a:t>
            </a:r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FY27 EPS motion we ship a highly operational vehicle (here: the Micro Hack). Microsoft builds and co-delivers the first run; the partner then owns and repeats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Context — the simplified “why now”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to open a customer conversation, no more — the one-slide version of the narrative.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45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04088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projects without AI-ready data will be abandoned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5396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95396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3395396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6CB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532556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leaders say stronger data infrastructure would speed AI adoption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5396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23864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23864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6223864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C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+95.6%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361024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win rate when an opportunity is shared with a partner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3864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331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52331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4" name="Text 22"/>
          <p:cNvSpPr/>
          <p:nvPr/>
        </p:nvSpPr>
        <p:spPr>
          <a:xfrm>
            <a:off x="9052331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E6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+46%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89491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deal size when a partner is attached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52331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3456432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3639312"/>
            <a:ext cx="475488" cy="47548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3630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81328" y="3456432"/>
            <a:ext cx="9960559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are the new compelling event.   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AI-era apps demand governed data. Fabric + Rayfin remove months of backend plumbing, so partners ship on OneLake — governed by default — instead of rebuilding infrastructure.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customer frictions to anchor on: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5528" y="5029200"/>
            <a:ext cx="548640" cy="54864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34" name="Text 32"/>
          <p:cNvSpPr/>
          <p:nvPr/>
        </p:nvSpPr>
        <p:spPr>
          <a:xfrm>
            <a:off x="795528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1328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Stay ahead of AI-era security &amp; governance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344314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914" y="5029200"/>
            <a:ext cx="548640" cy="54864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914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258714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Cut the cost &amp; time of backend plumbing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21701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50301" y="5029200"/>
            <a:ext cx="548640" cy="54864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42" name="Text 40"/>
          <p:cNvSpPr/>
          <p:nvPr/>
        </p:nvSpPr>
        <p:spPr>
          <a:xfrm>
            <a:off x="8350301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036101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Unblock AI innovation on governed data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A — SI / Advisory (Apps)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GSIs first. Enable partners to build &amp; ship customer business apps on Fabric, partner-led.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737360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84708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SIs to build and ship business apps on Microsoft Fabric with Rayfin, led by the partner — on governed OneLake data.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19088" y="1737360"/>
            <a:ext cx="822960" cy="82296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641908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42492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opportunities created in MSX (partner-sourced or partner-shared) — ACR vision.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3767328"/>
            <a:ext cx="822960" cy="82296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84708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KPIs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7782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“Micro Hack” days repeated by the partner · # of apps deployed to Fabric · Azure/Fabric pipeline.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19088" y="376732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742492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role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5566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 per country + EPS (PDM / PSA), with one executive sponsor per SI / GSI.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1 (Apps)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fixed, repeatable one-day format. Microsoft co-delivers run #1; the SI repeats runs #2…N independently.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on Fabric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· governance on OneLake · time-to-app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foundations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= database · auth, APIs, hosting · deploy in one command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 Bicycle Studio built live with the GitHub Copilot CLI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· data model · screens · roles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the data model (Rayfin provisions the DB), core screens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extend, polish, deploy to Fabric (rayfin up), demo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app into an MSX opportunity + a 90-day plan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afternoon is the differentiator.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a real working app on Fabric — the artifact the SI uses to open and qualify a real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Repeatability — the partner runs its own Micro Hack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only scales if the partner repeats it without us. We ship a “Micro Hack in a Box”.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5956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75956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(morning), demo script, timing guide, FAQ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90824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9852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4299852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90824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access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55416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way to build the app / workload with the GitHub Copilot CLI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4720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23748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23748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4720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9312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#1 co-delivered; we certify a partner pursuit team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8615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47643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4" name="Text 22"/>
          <p:cNvSpPr/>
          <p:nvPr/>
        </p:nvSpPr>
        <p:spPr>
          <a:xfrm>
            <a:off x="9947643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038615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KPI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03207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partner-led sessions and opportunities they generate (MSX)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scales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1F3A5F"/>
          </a:solidFill>
          <a:ln/>
        </p:spPr>
      </p:sp>
      <p:sp>
        <p:nvSpPr>
          <p:cNvPr id="29" name="Shape 27"/>
          <p:cNvSpPr/>
          <p:nvPr/>
        </p:nvSpPr>
        <p:spPr>
          <a:xfrm>
            <a:off x="141194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41194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836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0408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kit + scenarios + facilitator pack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04335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44568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0F6CBD"/>
          </a:solidFill>
          <a:ln/>
        </p:spPr>
      </p:sp>
      <p:sp>
        <p:nvSpPr>
          <p:cNvPr id="35" name="Shape 33"/>
          <p:cNvSpPr/>
          <p:nvPr/>
        </p:nvSpPr>
        <p:spPr>
          <a:xfrm>
            <a:off x="429070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29070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3712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Co-deliver Run #1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358284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with the partner team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2211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32444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CA8"/>
          </a:solidFill>
          <a:ln/>
        </p:spPr>
      </p:sp>
      <p:sp>
        <p:nvSpPr>
          <p:cNvPr id="41" name="Shape 39"/>
          <p:cNvSpPr/>
          <p:nvPr/>
        </p:nvSpPr>
        <p:spPr>
          <a:xfrm>
            <a:off x="716946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716946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1588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#2…N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46160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delivers independently to its customers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800871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203207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E63"/>
          </a:solidFill>
          <a:ln/>
        </p:spPr>
      </p:sp>
      <p:sp>
        <p:nvSpPr>
          <p:cNvPr id="47" name="Shape 45"/>
          <p:cNvSpPr/>
          <p:nvPr/>
        </p:nvSpPr>
        <p:spPr>
          <a:xfrm>
            <a:off x="1004822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1004822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294647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340367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workloads → created / shared in MSX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Micro Hack kit — the one asset we 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enablement kit, not a product — used live in the day, then repeated by the partner.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E6F5E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1993392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2529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ready-to-run kit: prompts, scripts, reference 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" y="2377440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2529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scenarios — a Rayfin app and a Fabric workload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9536" y="2761488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2529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materials to repeat the day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BEAED"/>
          </a:solidFill>
          <a:ln/>
        </p:spPr>
      </p:sp>
      <p:sp>
        <p:nvSpPr>
          <p:cNvPr id="20" name="Shape 18"/>
          <p:cNvSpPr/>
          <p:nvPr/>
        </p:nvSpPr>
        <p:spPr>
          <a:xfrm>
            <a:off x="614476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37376" y="1993392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3" name="Text 21"/>
          <p:cNvSpPr/>
          <p:nvPr/>
        </p:nvSpPr>
        <p:spPr>
          <a:xfrm>
            <a:off x="643737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0313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product or platform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37376" y="2377440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3737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0313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Rayfin / the Extensibility Toolkit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37376" y="2761488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9" name="Text 27"/>
          <p:cNvSpPr/>
          <p:nvPr/>
        </p:nvSpPr>
        <p:spPr>
          <a:xfrm>
            <a:off x="643737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313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custom build for a single customer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33" name="Text 31"/>
          <p:cNvSpPr/>
          <p:nvPr/>
        </p:nvSpPr>
        <p:spPr>
          <a:xfrm>
            <a:off x="713232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— Fixed scenario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22960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+ sample data + target users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Apps: Helios · Workloads: GreenGrid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start for every run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960266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435754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5754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38" name="Text 36"/>
          <p:cNvSpPr/>
          <p:nvPr/>
        </p:nvSpPr>
        <p:spPr>
          <a:xfrm>
            <a:off x="4582058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Copilot CLI + Rayfin / Toolkit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691786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data model / workload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Screens, roles, OneLake read (OBO)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build + tests green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29093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304581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04581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2E9CA8"/>
          </a:solidFill>
          <a:ln/>
        </p:spPr>
      </p:sp>
      <p:sp>
        <p:nvSpPr>
          <p:cNvPr id="43" name="Text 41"/>
          <p:cNvSpPr/>
          <p:nvPr/>
        </p:nvSpPr>
        <p:spPr>
          <a:xfrm>
            <a:off x="8450885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Working app / workload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560613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Fabric, governed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Demo-ready, partner-owned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→ opportunity / adoption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B — SDC / ISV (Workloads)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Fabric footprint through ISV offers: embed once, consume mechanically across the ISV’s customer base.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63040"/>
            <a:ext cx="521208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7824" y="2176272"/>
            <a:ext cx="46085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 Microsoft-managed SDC to embed a Fabric workload (Extensibility Toolkit) inside its commercial offer — so every time a customer uses the product, a Fabric data workload is consumed by design.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3200400"/>
            <a:ext cx="4590288" cy="868680"/>
          </a:xfrm>
          <a:prstGeom prst="roundRect">
            <a:avLst>
              <a:gd name="adj" fmla="val 6316"/>
            </a:avLst>
          </a:prstGeom>
          <a:solidFill>
            <a:srgbClr val="F6EAFB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2004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once, adopt many. 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SDC standardizes on a Fabric workload, its entire customer base becomes ongoing Fabric adoption.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4187952"/>
            <a:ext cx="4590288" cy="640080"/>
          </a:xfrm>
          <a:prstGeom prst="roundRect">
            <a:avLst>
              <a:gd name="adj" fmla="val 8571"/>
            </a:avLst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18795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7824" y="4956048"/>
            <a:ext cx="46085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adoption &amp; mechanical consumption — not repeated workshops. The win is the embed and the footprint it generates.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44768" y="1444752"/>
            <a:ext cx="547999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 </a:t>
            </a:r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adopt mechanically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44768" y="1828800"/>
            <a:ext cx="5479999" cy="548640"/>
          </a:xfrm>
          <a:prstGeom prst="roundRect">
            <a:avLst>
              <a:gd name="adj" fmla="val 11667"/>
            </a:avLst>
          </a:prstGeom>
          <a:solidFill>
            <a:srgbClr val="B14FD8"/>
          </a:solidFill>
          <a:ln/>
        </p:spPr>
      </p:sp>
      <p:sp>
        <p:nvSpPr>
          <p:cNvPr id="18" name="Text 16"/>
          <p:cNvSpPr/>
          <p:nvPr/>
        </p:nvSpPr>
        <p:spPr>
          <a:xfrm>
            <a:off x="6327648" y="1828800"/>
            <a:ext cx="51142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SDC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884768" y="2377440"/>
            <a:ext cx="0" cy="164592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44768" y="2578608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1" name="Text 19"/>
          <p:cNvSpPr/>
          <p:nvPr/>
        </p:nvSpPr>
        <p:spPr>
          <a:xfrm>
            <a:off x="6327648" y="2578608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managed Fabric workload (Toolkit)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884768" y="3081528"/>
            <a:ext cx="0" cy="146304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44768" y="3255264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4" name="Text 22"/>
          <p:cNvSpPr/>
          <p:nvPr/>
        </p:nvSpPr>
        <p:spPr>
          <a:xfrm>
            <a:off x="6327648" y="3255264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product / offer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003237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4476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1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03237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88476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02629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9945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8476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076629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907829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80981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76629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4608576"/>
            <a:ext cx="5479999" cy="640080"/>
          </a:xfrm>
          <a:prstGeom prst="roundRect">
            <a:avLst>
              <a:gd name="adj" fmla="val 10000"/>
            </a:avLst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6327648" y="4608576"/>
            <a:ext cx="51142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Fabric footprint — adoption &amp; ACR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2 (Workloads)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fixed, repeatable shape as Micro Hack 1 — but the artifact is a Fabric workload the SDC embeds in its offer.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a workload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every Fabric customer via the Workload Hub · run on OneLake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Extensibility Toolkit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structure · Entra app · Dev Gateway · manifest · OBO token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GreenGrid Scorecard running live inside Fabric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workload · OneLake data · backend call · UI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toolkit, Setup.ps1 (Entra app), dev server + gateway, Hello World, CreateNewItem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Files/sites.csv from OneLake, call the backend, render the scorecard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in the SDC offer + path to publish on the Workload Hub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artifact.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a Fabric workload the SDC embeds in its offer — so every customer adopts Fabric by design.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 reuse — we don’t rebuild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already exists. The motion packages it; the Micro Hack runs it.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938528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43584" y="1783080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· governance · single copy of data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69464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724912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157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43584" y="2569464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for business apps (data model = DB)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355848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511296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355848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Extensibility Toolkit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native workloads, distributed in Fabric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142232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88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43584" y="4142232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apps &amp; workloads fast, with validation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28616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084064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074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928616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a workload to every Fabric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53528" y="1417320"/>
            <a:ext cx="3971239" cy="4572000"/>
          </a:xfrm>
          <a:prstGeom prst="roundRect">
            <a:avLst>
              <a:gd name="adj" fmla="val 2303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7927848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522208" y="1627632"/>
            <a:ext cx="296539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map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946136" y="221284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— don’t rebuild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46136" y="2670048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46136" y="2889504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create-rayfin / Setup.ps1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46136" y="3328416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46136" y="3547872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data (model = DB) / sites.csv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946136" y="3986784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46136" y="4206240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dev · Dev Gateway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46136" y="4645152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946136" y="486460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up · Hello World item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946136" y="5303520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946136" y="5522976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KPIs — how we measure the motion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scoreboards, one north-star: the share of apps and workloads that are partner-led, not Microsoft-led.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55648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84708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782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(MSX), Stage 1 &amp;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7782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Micro Hacks repeated by the partner · # apps deployed · Fabric / Azure ACR pipeline.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5564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42492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Workloads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5566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5566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4" name="Text 22"/>
          <p:cNvSpPr/>
          <p:nvPr/>
        </p:nvSpPr>
        <p:spPr>
          <a:xfrm>
            <a:off x="660196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5566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5566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 · Fabric usage / ACR from SDC end-customers.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17720"/>
            <a:ext cx="11057839" cy="128016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09160"/>
            <a:ext cx="1050919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North-star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of Micro Hacks, apps and workloads that are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partner-led, not Microsoft-led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motion is healthy when partners repeat it without 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Execution Roadmap — FY27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FY starts in July. End of Q1: kit in the partner’s hands — the motion shifts from MS-build to partner-led repeat.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3542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8" name="Text 6"/>
          <p:cNvSpPr/>
          <p:nvPr/>
        </p:nvSpPr>
        <p:spPr>
          <a:xfrm>
            <a:off x="449884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Jul–Sep ’26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1690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0" name="Text 8"/>
          <p:cNvSpPr/>
          <p:nvPr/>
        </p:nvSpPr>
        <p:spPr>
          <a:xfrm>
            <a:off x="628032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Oct–Dec ’26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838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2" name="Text 10"/>
          <p:cNvSpPr/>
          <p:nvPr/>
        </p:nvSpPr>
        <p:spPr>
          <a:xfrm>
            <a:off x="806180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Jan–Mar ’27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9863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9843287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Apr–Jun ’27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19385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" y="1938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kit + facilitator pack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0" y="20299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reference scenarios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24871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28529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" y="2852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Sponsor + pursuit team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0" y="29443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33101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Co-deliver Run #1 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0" y="34015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B14FD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37673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" y="3767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SIs repeat (own customers)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3480" y="38587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224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Scale to other GSIs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3480" y="43159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46817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4681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first workloads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0" y="47731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" y="5138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Repeat across portfolio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3480" y="52303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5" name="Shape 33"/>
          <p:cNvSpPr/>
          <p:nvPr/>
        </p:nvSpPr>
        <p:spPr>
          <a:xfrm>
            <a:off x="628032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6180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43287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57607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" y="5760720"/>
            <a:ext cx="10509199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Key milestone — Run #1 co-delivered, end of Q1 (Sep ’26):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Micro Hack delivered live; partner pursuit team certified. Q2–Q3: partners repeat independently while we scale to other GSIs and SDCs.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this motion as the execution layer for building apps &amp; workloads on Fabric — not a parallel track.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1395946" y="182880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1395946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+ EPS leadership behind one ONE-Microsoft 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95396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95396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4414" y="1828800"/>
            <a:ext cx="914400" cy="91440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6" name="Text 14"/>
          <p:cNvSpPr/>
          <p:nvPr/>
        </p:nvSpPr>
        <p:spPr>
          <a:xfrm>
            <a:off x="4224414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95396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kit + scenarios and run the first co-delivered sessions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3864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23864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21" name="Shape 19"/>
          <p:cNvSpPr/>
          <p:nvPr/>
        </p:nvSpPr>
        <p:spPr>
          <a:xfrm>
            <a:off x="7052882" y="1828800"/>
            <a:ext cx="914400" cy="91440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2" name="Text 20"/>
          <p:cNvSpPr/>
          <p:nvPr/>
        </p:nvSpPr>
        <p:spPr>
          <a:xfrm>
            <a:off x="7052882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23864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6744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the Extensibility Toolkit roadmap and the Workload Hub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52331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52331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7" name="Shape 25"/>
          <p:cNvSpPr/>
          <p:nvPr/>
        </p:nvSpPr>
        <p:spPr>
          <a:xfrm>
            <a:off x="9881349" y="1828800"/>
            <a:ext cx="914400" cy="91440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28" name="Text 26"/>
          <p:cNvSpPr/>
          <p:nvPr/>
        </p:nvSpPr>
        <p:spPr>
          <a:xfrm>
            <a:off x="9881349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052331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Microsoft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5211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+ Advisory → one execution layer, not parallel tracks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63440"/>
            <a:ext cx="11057839" cy="1234440"/>
          </a:xfrm>
          <a:prstGeom prst="roundRect">
            <a:avLst>
              <a:gd name="adj" fmla="val 5926"/>
            </a:avLst>
          </a:prstGeom>
          <a:solidFill>
            <a:srgbClr val="1F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" y="4754880"/>
            <a:ext cx="1050919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“good” looks like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Fabric / app conversation becomes a real opportunity or a built workload —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 the Micro Hack, owned and repeated by the partner.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build it. The partner repeats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 · two paths · one repeatable vehicle — </a:t>
            </a:r>
            <a:pPr indent="0" marL="0">
              <a:buNone/>
            </a:pPr>
            <a:r>
              <a:rPr lang="en-US" sz="22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“Micro Hack”.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FY27 EMEA EPS — Fabric Apps Motion · June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2026-06-17T09:45:15Z</dcterms:created>
  <dcterms:modified xsi:type="dcterms:W3CDTF">2026-06-17T09:45:15Z</dcterms:modified>
</cp:coreProperties>
</file>