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114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l" indent="0" marL="0">
              <a:buNone/>
            </a:pPr>
            <a:r>
              <a:rPr lang="en-US" sz="1200" dirty="0">
                <a:solidFill>
                  <a:srgbClr val="BC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l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14884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FY27 EMEA EPS — Fabric Apps Motion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66928" y="320040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paths to Microsoft Fabric, enabled through </a:t>
            </a:r>
            <a:pPr indent="0" marL="0">
              <a:buNone/>
            </a:pPr>
            <a:r>
              <a:rPr lang="en-US" sz="2300" b="1" i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“Micro Hack”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4069080"/>
            <a:ext cx="6035040" cy="566928"/>
          </a:xfrm>
          <a:prstGeom prst="roundRect">
            <a:avLst>
              <a:gd name="adj" fmla="val 500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AEC9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4069080"/>
            <a:ext cx="5669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for v-team review · to be finalized end of June 2026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" y="4892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· Owner: EPS Tech / GTM · Two micro-hacks: Apps (Rayfin) + Workloads (Extensibility Toolkit)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5989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13087" y="63550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BC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Executive Summary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motion, two execution paths — both powered by a single, repeatable vehicle: the “Micro Hack”.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39496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" y="1481328"/>
            <a:ext cx="5394960" cy="1097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9" name="Shape 7"/>
          <p:cNvSpPr/>
          <p:nvPr/>
        </p:nvSpPr>
        <p:spPr>
          <a:xfrm>
            <a:off x="841248" y="1792224"/>
            <a:ext cx="868680" cy="86868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78308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🗄️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1892808" y="1792224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Apps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892808" y="2176272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6C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Integrators (SI / advisory) · start with the GSIs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77824" y="2807208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we drive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77824" y="3072384"/>
            <a:ext cx="48280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ship business apps on Microsoft Fabric with Rayfin — partner-led, on governed OneLake data.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77824" y="3813048"/>
            <a:ext cx="4773168" cy="530352"/>
          </a:xfrm>
          <a:prstGeom prst="roundRect">
            <a:avLst>
              <a:gd name="adj" fmla="val 8621"/>
            </a:avLst>
          </a:prstGeom>
          <a:solidFill>
            <a:srgbClr val="E7F1FB"/>
          </a:solidFill>
          <a:ln/>
        </p:spPr>
      </p:sp>
      <p:sp>
        <p:nvSpPr>
          <p:cNvPr id="16" name="Text 14"/>
          <p:cNvSpPr/>
          <p:nvPr/>
        </p:nvSpPr>
        <p:spPr>
          <a:xfrm>
            <a:off x="1024128" y="3813048"/>
            <a:ext cx="449884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6C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KPI   </a:t>
            </a:r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of opportunities created (MSX)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44768" y="1481328"/>
            <a:ext cx="539496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44768" y="1481328"/>
            <a:ext cx="5394960" cy="109728"/>
          </a:xfrm>
          <a:prstGeom prst="roundRect">
            <a:avLst>
              <a:gd name="adj" fmla="val 50000"/>
            </a:avLst>
          </a:prstGeom>
          <a:solidFill>
            <a:srgbClr val="B14FD8"/>
          </a:solidFill>
          <a:ln/>
        </p:spPr>
      </p:sp>
      <p:sp>
        <p:nvSpPr>
          <p:cNvPr id="19" name="Shape 17"/>
          <p:cNvSpPr/>
          <p:nvPr/>
        </p:nvSpPr>
        <p:spPr>
          <a:xfrm>
            <a:off x="6419088" y="1792224"/>
            <a:ext cx="868680" cy="868680"/>
          </a:xfrm>
          <a:prstGeom prst="ellipse">
            <a:avLst/>
          </a:prstGeom>
          <a:solidFill>
            <a:srgbClr val="B14FD8"/>
          </a:solidFill>
          <a:ln/>
        </p:spPr>
      </p:sp>
      <p:sp>
        <p:nvSpPr>
          <p:cNvPr id="20" name="Text 18"/>
          <p:cNvSpPr/>
          <p:nvPr/>
        </p:nvSpPr>
        <p:spPr>
          <a:xfrm>
            <a:off x="6419088" y="178308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🧩</a:t>
            </a:r>
            <a:endParaRPr lang="en-US" sz="2500" dirty="0"/>
          </a:p>
        </p:txBody>
      </p:sp>
      <p:sp>
        <p:nvSpPr>
          <p:cNvPr id="21" name="Text 19"/>
          <p:cNvSpPr/>
          <p:nvPr/>
        </p:nvSpPr>
        <p:spPr>
          <a:xfrm>
            <a:off x="7470648" y="1792224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Adoption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470648" y="2176272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1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Development Companies (SDC / ISV)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55664" y="2807208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we drive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55664" y="3072384"/>
            <a:ext cx="48280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managed SDC embeds a Fabric workload in its offer — so every customer consumes a data workload.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455664" y="3813048"/>
            <a:ext cx="4773168" cy="530352"/>
          </a:xfrm>
          <a:prstGeom prst="roundRect">
            <a:avLst>
              <a:gd name="adj" fmla="val 8621"/>
            </a:avLst>
          </a:prstGeom>
          <a:solidFill>
            <a:srgbClr val="F6EAFB"/>
          </a:solidFill>
          <a:ln/>
        </p:spPr>
      </p:sp>
      <p:sp>
        <p:nvSpPr>
          <p:cNvPr id="26" name="Text 24"/>
          <p:cNvSpPr/>
          <p:nvPr/>
        </p:nvSpPr>
        <p:spPr>
          <a:xfrm>
            <a:off x="6601968" y="3813048"/>
            <a:ext cx="449884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1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KPI   </a:t>
            </a:r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managed SDCs that built a workload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4645152"/>
            <a:ext cx="11057839" cy="1298448"/>
          </a:xfrm>
          <a:prstGeom prst="roundRect">
            <a:avLst>
              <a:gd name="adj" fmla="val 5634"/>
            </a:avLst>
          </a:prstGeom>
          <a:solidFill>
            <a:srgbClr val="1F3A5F"/>
          </a:solidFill>
          <a:ln/>
        </p:spPr>
      </p:sp>
      <p:sp>
        <p:nvSpPr>
          <p:cNvPr id="28" name="Text 26"/>
          <p:cNvSpPr/>
          <p:nvPr/>
        </p:nvSpPr>
        <p:spPr>
          <a:xfrm>
            <a:off x="841248" y="4736592"/>
            <a:ext cx="10509199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idea 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does not build new tooling — Fabric, Rayfin, the Extensibility Toolkit and the GitHub Copilot CLI already exist. We package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turnkey, repeatable vehicle — the “Micro Hack” — that an SI or SDC can run themselves.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Motion at a Glance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“We build it, the partner repeats it.” — one operational vehicle, two partner paths.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2468880" cy="1874520"/>
          </a:xfrm>
          <a:prstGeom prst="roundRect">
            <a:avLst>
              <a:gd name="adj" fmla="val 4878"/>
            </a:avLst>
          </a:prstGeom>
          <a:solidFill>
            <a:srgbClr val="1F3A5F"/>
          </a:solidFill>
          <a:ln/>
        </p:spPr>
      </p:sp>
      <p:sp>
        <p:nvSpPr>
          <p:cNvPr id="8" name="Shape 6"/>
          <p:cNvSpPr/>
          <p:nvPr/>
        </p:nvSpPr>
        <p:spPr>
          <a:xfrm>
            <a:off x="1435608" y="2377440"/>
            <a:ext cx="731520" cy="73152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9" name="Text 7"/>
          <p:cNvSpPr/>
          <p:nvPr/>
        </p:nvSpPr>
        <p:spPr>
          <a:xfrm>
            <a:off x="1435608" y="2368296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⚙️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566928" y="32004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EPS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49808" y="34747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the kit + reference scenarios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081528" y="3081528"/>
            <a:ext cx="548640" cy="0"/>
          </a:xfrm>
          <a:prstGeom prst="line">
            <a:avLst/>
          </a:prstGeom>
          <a:noFill/>
          <a:ln w="22225">
            <a:solidFill>
              <a:srgbClr val="0F6CBD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246120" y="1783080"/>
            <a:ext cx="37490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54880" y="1938528"/>
            <a:ext cx="731520" cy="73152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0" y="1929384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⚡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3246120" y="269748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Micro Hack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246120" y="30632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day · repeatable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474720" y="3419856"/>
            <a:ext cx="3291840" cy="502920"/>
          </a:xfrm>
          <a:prstGeom prst="roundRect">
            <a:avLst>
              <a:gd name="adj" fmla="val 9091"/>
            </a:avLst>
          </a:prstGeom>
          <a:solidFill>
            <a:srgbClr val="E7F1FB"/>
          </a:solidFill>
          <a:ln/>
        </p:spPr>
      </p:sp>
      <p:sp>
        <p:nvSpPr>
          <p:cNvPr id="19" name="Text 17"/>
          <p:cNvSpPr/>
          <p:nvPr/>
        </p:nvSpPr>
        <p:spPr>
          <a:xfrm>
            <a:off x="3611880" y="3419856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6C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 — Content  </a:t>
            </a:r>
            <a:pPr indent="0" marL="0">
              <a:buNone/>
            </a:pPr>
            <a:r>
              <a:rPr lang="en-US" sz="11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Fabric · Rayfin · Toolkit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474720" y="3986784"/>
            <a:ext cx="3291840" cy="502920"/>
          </a:xfrm>
          <a:prstGeom prst="roundRect">
            <a:avLst>
              <a:gd name="adj" fmla="val 9091"/>
            </a:avLst>
          </a:prstGeom>
          <a:solidFill>
            <a:srgbClr val="F6EAFB"/>
          </a:solidFill>
          <a:ln/>
        </p:spPr>
      </p:sp>
      <p:sp>
        <p:nvSpPr>
          <p:cNvPr id="21" name="Text 19"/>
          <p:cNvSpPr/>
          <p:nvPr/>
        </p:nvSpPr>
        <p:spPr>
          <a:xfrm>
            <a:off x="3611880" y="3986784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1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 — Build  </a:t>
            </a:r>
            <a:pPr indent="0" marL="0">
              <a:buNone/>
            </a:pPr>
            <a:r>
              <a:rPr lang="en-US" sz="11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in → app / workload out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995160" y="2468880"/>
            <a:ext cx="502920" cy="-45720"/>
          </a:xfrm>
          <a:prstGeom prst="line">
            <a:avLst/>
          </a:prstGeom>
          <a:noFill/>
          <a:ln w="22225">
            <a:solidFill>
              <a:srgbClr val="0F6CBD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995160" y="3886200"/>
            <a:ext cx="502920" cy="45720"/>
          </a:xfrm>
          <a:prstGeom prst="line">
            <a:avLst/>
          </a:prstGeom>
          <a:noFill/>
          <a:ln w="22225">
            <a:solidFill>
              <a:srgbClr val="B14FD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498080" y="1874520"/>
            <a:ext cx="4126687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98080" y="1874520"/>
            <a:ext cx="91440" cy="123444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26" name="Text 24"/>
          <p:cNvSpPr/>
          <p:nvPr/>
        </p:nvSpPr>
        <p:spPr>
          <a:xfrm>
            <a:off x="7726680" y="1975104"/>
            <a:ext cx="376092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SI / advisory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726680" y="2249424"/>
            <a:ext cx="371520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the Micro Hack with their own customers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726680" y="2615184"/>
            <a:ext cx="3669487" cy="402336"/>
          </a:xfrm>
          <a:prstGeom prst="roundRect">
            <a:avLst>
              <a:gd name="adj" fmla="val 11364"/>
            </a:avLst>
          </a:prstGeom>
          <a:solidFill>
            <a:srgbClr val="E7F1FB"/>
          </a:solidFill>
          <a:ln/>
        </p:spPr>
      </p:sp>
      <p:sp>
        <p:nvSpPr>
          <p:cNvPr id="29" name="Text 27"/>
          <p:cNvSpPr/>
          <p:nvPr/>
        </p:nvSpPr>
        <p:spPr>
          <a:xfrm>
            <a:off x="7872984" y="2615184"/>
            <a:ext cx="3395167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6C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 </a:t>
            </a:r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opportunities (MSX)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498080" y="3246120"/>
            <a:ext cx="4126687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98080" y="3246120"/>
            <a:ext cx="91440" cy="1325880"/>
          </a:xfrm>
          <a:prstGeom prst="rect">
            <a:avLst/>
          </a:prstGeom>
          <a:solidFill>
            <a:srgbClr val="B14FD8"/>
          </a:solidFill>
          <a:ln/>
        </p:spPr>
      </p:sp>
      <p:sp>
        <p:nvSpPr>
          <p:cNvPr id="32" name="Text 30"/>
          <p:cNvSpPr/>
          <p:nvPr/>
        </p:nvSpPr>
        <p:spPr>
          <a:xfrm>
            <a:off x="7726680" y="3346704"/>
            <a:ext cx="376092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SDC / ISV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726680" y="3621024"/>
            <a:ext cx="3715207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a Fabric workload → every customer adopts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726680" y="4078224"/>
            <a:ext cx="3669487" cy="402336"/>
          </a:xfrm>
          <a:prstGeom prst="roundRect">
            <a:avLst>
              <a:gd name="adj" fmla="val 11364"/>
            </a:avLst>
          </a:prstGeom>
          <a:solidFill>
            <a:srgbClr val="F6EAFB"/>
          </a:solidFill>
          <a:ln/>
        </p:spPr>
      </p:sp>
      <p:sp>
        <p:nvSpPr>
          <p:cNvPr id="35" name="Text 33"/>
          <p:cNvSpPr/>
          <p:nvPr/>
        </p:nvSpPr>
        <p:spPr>
          <a:xfrm>
            <a:off x="7872984" y="4078224"/>
            <a:ext cx="3395167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1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 </a:t>
            </a:r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workloads per SDC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66928" y="4983480"/>
            <a:ext cx="11057839" cy="914400"/>
          </a:xfrm>
          <a:prstGeom prst="roundRect">
            <a:avLst>
              <a:gd name="adj" fmla="val 8000"/>
            </a:avLst>
          </a:prstGeom>
          <a:solidFill>
            <a:srgbClr val="F1F6FC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41248" y="4983480"/>
            <a:ext cx="1050919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6C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principle   </a:t>
            </a:r>
            <a:pPr indent="0" marL="0">
              <a:buNone/>
            </a:pPr>
            <a:r>
              <a:rPr lang="en-US" sz="13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FY27 EPS motion we ship a highly operational vehicle (here: the Micro Hack). Microsoft builds and co-delivers the first run; the partner then owns and repeats it.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Strategic Context — the simplified “why now”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Enough to open a customer conversation, no more — the one-slide version of the narrative.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17320"/>
            <a:ext cx="2572436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" y="1417320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E0455E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1627632"/>
            <a:ext cx="25724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0455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60%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704088" y="2286000"/>
            <a:ext cx="22981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AI projects without AI-ready data will be abandoned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2962656"/>
            <a:ext cx="25724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Gartner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95396" y="1417320"/>
            <a:ext cx="2572436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95396" y="1417320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14" name="Text 12"/>
          <p:cNvSpPr/>
          <p:nvPr/>
        </p:nvSpPr>
        <p:spPr>
          <a:xfrm>
            <a:off x="3395396" y="1627632"/>
            <a:ext cx="25724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F6CB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83%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3532556" y="2286000"/>
            <a:ext cx="22981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leaders say stronger data infrastructure would speed AI adoption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95396" y="2962656"/>
            <a:ext cx="25724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Accenture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23864" y="1417320"/>
            <a:ext cx="2572436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23864" y="1417320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2E9CA8"/>
          </a:solidFill>
          <a:ln/>
        </p:spPr>
      </p:sp>
      <p:sp>
        <p:nvSpPr>
          <p:cNvPr id="19" name="Text 17"/>
          <p:cNvSpPr/>
          <p:nvPr/>
        </p:nvSpPr>
        <p:spPr>
          <a:xfrm>
            <a:off x="6223864" y="1627632"/>
            <a:ext cx="25724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E9C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+95.6%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6361024" y="2286000"/>
            <a:ext cx="22981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win rate when an opportunity is shared with a partner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23864" y="2962656"/>
            <a:ext cx="25724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effect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52331" y="1417320"/>
            <a:ext cx="2572436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052331" y="1417320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2E9E63"/>
          </a:solidFill>
          <a:ln/>
        </p:spPr>
      </p:sp>
      <p:sp>
        <p:nvSpPr>
          <p:cNvPr id="24" name="Text 22"/>
          <p:cNvSpPr/>
          <p:nvPr/>
        </p:nvSpPr>
        <p:spPr>
          <a:xfrm>
            <a:off x="9052331" y="1627632"/>
            <a:ext cx="25724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E9E6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+46%</a:t>
            </a:r>
            <a:endParaRPr lang="en-US" sz="3800" dirty="0"/>
          </a:p>
        </p:txBody>
      </p:sp>
      <p:sp>
        <p:nvSpPr>
          <p:cNvPr id="25" name="Text 23"/>
          <p:cNvSpPr/>
          <p:nvPr/>
        </p:nvSpPr>
        <p:spPr>
          <a:xfrm>
            <a:off x="9189491" y="2286000"/>
            <a:ext cx="22981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deal size when a partner is attached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052331" y="2962656"/>
            <a:ext cx="25724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effect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3456432"/>
            <a:ext cx="11057839" cy="841248"/>
          </a:xfrm>
          <a:prstGeom prst="roundRect">
            <a:avLst>
              <a:gd name="adj" fmla="val 8696"/>
            </a:avLst>
          </a:prstGeom>
          <a:solidFill>
            <a:srgbClr val="FFF6E6"/>
          </a:solidFill>
          <a:ln w="12700">
            <a:solidFill>
              <a:srgbClr val="E8B65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2960" y="3639312"/>
            <a:ext cx="475488" cy="475488"/>
          </a:xfrm>
          <a:prstGeom prst="ellipse">
            <a:avLst/>
          </a:prstGeom>
          <a:solidFill>
            <a:srgbClr val="D98A2B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363016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⏰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481328" y="3456432"/>
            <a:ext cx="9960559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are the new compelling event.   </a:t>
            </a:r>
            <a:pPr indent="0" marL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AI-era apps demand governed data. Fabric + Rayfin remove months of backend plumbing, so partners ship on OneLake — governed by default — instead of rebuilding infrastructure.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66928" y="44348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customer frictions to anchor on: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66928" y="4754880"/>
            <a:ext cx="3503066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95528" y="5029200"/>
            <a:ext cx="548640" cy="54864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34" name="Text 32"/>
          <p:cNvSpPr/>
          <p:nvPr/>
        </p:nvSpPr>
        <p:spPr>
          <a:xfrm>
            <a:off x="795528" y="502005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🛡️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481328" y="4754880"/>
            <a:ext cx="240578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Stay ahead of AI-era security &amp; governance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344314" y="4754880"/>
            <a:ext cx="3503066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572914" y="5029200"/>
            <a:ext cx="548640" cy="548640"/>
          </a:xfrm>
          <a:prstGeom prst="ellipse">
            <a:avLst/>
          </a:prstGeom>
          <a:solidFill>
            <a:srgbClr val="2E9CA8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914" y="502005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🗄️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5258714" y="4754880"/>
            <a:ext cx="240578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Cut the cost &amp; time of backend plumbing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8121701" y="4754880"/>
            <a:ext cx="3503066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8350301" y="5029200"/>
            <a:ext cx="548640" cy="548640"/>
          </a:xfrm>
          <a:prstGeom prst="ellipse">
            <a:avLst/>
          </a:prstGeom>
          <a:solidFill>
            <a:srgbClr val="B14FD8"/>
          </a:solidFill>
          <a:ln/>
        </p:spPr>
      </p:sp>
      <p:sp>
        <p:nvSpPr>
          <p:cNvPr id="42" name="Text 40"/>
          <p:cNvSpPr/>
          <p:nvPr/>
        </p:nvSpPr>
        <p:spPr>
          <a:xfrm>
            <a:off x="8350301" y="502005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🧠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9036101" y="4754880"/>
            <a:ext cx="240578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Unblock AI innovation on governed data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Path A — SI / Advisory (Apps)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GSIs first. Enable partners to build &amp; ship customer business apps on Fabric, partner-led.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41248" y="1737360"/>
            <a:ext cx="822960" cy="82296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728216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🎯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1847088" y="1847088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77824" y="2542032"/>
            <a:ext cx="479145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SIs to build and ship business apps on Microsoft Fabric with Rayfin, led by the partner — on governed OneLake data.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44768" y="146304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19088" y="1737360"/>
            <a:ext cx="822960" cy="822960"/>
          </a:xfrm>
          <a:prstGeom prst="ellipse">
            <a:avLst/>
          </a:prstGeom>
          <a:solidFill>
            <a:srgbClr val="2E9E63"/>
          </a:solidFill>
          <a:ln/>
        </p:spPr>
      </p:sp>
      <p:sp>
        <p:nvSpPr>
          <p:cNvPr id="14" name="Text 12"/>
          <p:cNvSpPr/>
          <p:nvPr/>
        </p:nvSpPr>
        <p:spPr>
          <a:xfrm>
            <a:off x="6419088" y="1728216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📈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7424928" y="1847088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KPI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55664" y="2542032"/>
            <a:ext cx="479145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opportunities created in MSX (partner-sourced or partner-shared) — ACR vision.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493008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41248" y="3767328"/>
            <a:ext cx="822960" cy="822960"/>
          </a:xfrm>
          <a:prstGeom prst="ellipse">
            <a:avLst/>
          </a:prstGeom>
          <a:solidFill>
            <a:srgbClr val="2E9CA8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" y="3758184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🔄</a:t>
            </a:r>
            <a:endParaRPr lang="en-US" sz="2300" dirty="0"/>
          </a:p>
        </p:txBody>
      </p:sp>
      <p:sp>
        <p:nvSpPr>
          <p:cNvPr id="20" name="Text 18"/>
          <p:cNvSpPr/>
          <p:nvPr/>
        </p:nvSpPr>
        <p:spPr>
          <a:xfrm>
            <a:off x="1847088" y="3877056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KPIs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77824" y="4572000"/>
            <a:ext cx="479145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of “Micro Hack” days repeated by the partner · # of apps deployed to Fabric · Azure/Fabric pipeline.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44768" y="3493008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19088" y="3767328"/>
            <a:ext cx="822960" cy="822960"/>
          </a:xfrm>
          <a:prstGeom prst="ellipse">
            <a:avLst/>
          </a:prstGeom>
          <a:solidFill>
            <a:srgbClr val="B14FD8"/>
          </a:solidFill>
          <a:ln/>
        </p:spPr>
      </p:sp>
      <p:sp>
        <p:nvSpPr>
          <p:cNvPr id="24" name="Text 22"/>
          <p:cNvSpPr/>
          <p:nvPr/>
        </p:nvSpPr>
        <p:spPr>
          <a:xfrm>
            <a:off x="6419088" y="3758184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👤</a:t>
            </a:r>
            <a:endParaRPr lang="en-US" sz="2300" dirty="0"/>
          </a:p>
        </p:txBody>
      </p:sp>
      <p:sp>
        <p:nvSpPr>
          <p:cNvPr id="25" name="Text 23"/>
          <p:cNvSpPr/>
          <p:nvPr/>
        </p:nvSpPr>
        <p:spPr>
          <a:xfrm>
            <a:off x="7424928" y="3877056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role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455664" y="4572000"/>
            <a:ext cx="479145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 per country + EPS (PDM / PSA), with one executive sponsor per SI / GSI.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Vehicle — Micro Hack 1 (Apps) agenda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fixed, repeatable one-day format. Microsoft co-delivers run #1; the SI repeats runs #2…N independently.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44752"/>
            <a:ext cx="5394960" cy="512064"/>
          </a:xfrm>
          <a:prstGeom prst="roundRect">
            <a:avLst>
              <a:gd name="adj" fmla="val 10714"/>
            </a:avLst>
          </a:prstGeom>
          <a:solidFill>
            <a:srgbClr val="0F6CBD"/>
          </a:solidFill>
          <a:ln/>
        </p:spPr>
      </p:sp>
      <p:sp>
        <p:nvSpPr>
          <p:cNvPr id="8" name="Text 6"/>
          <p:cNvSpPr/>
          <p:nvPr/>
        </p:nvSpPr>
        <p:spPr>
          <a:xfrm>
            <a:off x="694944" y="1444752"/>
            <a:ext cx="457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☀️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70432" y="1444752"/>
            <a:ext cx="4663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 — Content  (MS → Partner)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44768" y="1444752"/>
            <a:ext cx="5394960" cy="512064"/>
          </a:xfrm>
          <a:prstGeom prst="roundRect">
            <a:avLst>
              <a:gd name="adj" fmla="val 10714"/>
            </a:avLst>
          </a:prstGeom>
          <a:solidFill>
            <a:srgbClr val="B14FD8"/>
          </a:solidFill>
          <a:ln/>
        </p:spPr>
      </p:sp>
      <p:sp>
        <p:nvSpPr>
          <p:cNvPr id="11" name="Text 9"/>
          <p:cNvSpPr/>
          <p:nvPr/>
        </p:nvSpPr>
        <p:spPr>
          <a:xfrm>
            <a:off x="6272784" y="1444752"/>
            <a:ext cx="457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🤖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748272" y="1444752"/>
            <a:ext cx="4663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 — Build + Demo  (MS → Partner)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66928" y="2084832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" y="2203704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5" name="Text 13"/>
          <p:cNvSpPr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25296" y="2084832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build on Fabric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backend · governance on OneLake · time-to-app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2798064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916936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" y="29077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25296" y="2798064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Rayfin foundations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 = database · auth, APIs, hosting · deploy in one command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511296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3232" y="3630168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36210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25296" y="3511296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Helios Bicycle Studio built live with the GitHub Copilot CLI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224528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3232" y="4343400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27" name="Text 25"/>
          <p:cNvSpPr/>
          <p:nvPr/>
        </p:nvSpPr>
        <p:spPr>
          <a:xfrm>
            <a:off x="713232" y="43342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25296" y="4224528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the build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scenario · data model · screens · roles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44768" y="2084832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91072" y="2203704"/>
            <a:ext cx="384048" cy="384048"/>
          </a:xfrm>
          <a:prstGeom prst="ellipse">
            <a:avLst/>
          </a:prstGeom>
          <a:solidFill>
            <a:srgbClr val="B14FD8"/>
          </a:solidFill>
          <a:ln/>
        </p:spPr>
      </p:sp>
      <p:sp>
        <p:nvSpPr>
          <p:cNvPr id="31" name="Text 29"/>
          <p:cNvSpPr/>
          <p:nvPr/>
        </p:nvSpPr>
        <p:spPr>
          <a:xfrm>
            <a:off x="6291072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03136" y="2084832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sprint 1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scaffold, declare the data model (Rayfin provisions the DB), core screens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144768" y="2798064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6E6"/>
          </a:solidFill>
          <a:ln w="12700">
            <a:solidFill>
              <a:srgbClr val="E8B65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291072" y="2916936"/>
            <a:ext cx="384048" cy="384048"/>
          </a:xfrm>
          <a:prstGeom prst="ellipse">
            <a:avLst/>
          </a:prstGeom>
          <a:solidFill>
            <a:srgbClr val="D98A2B"/>
          </a:solidFill>
          <a:ln/>
        </p:spPr>
      </p:sp>
      <p:sp>
        <p:nvSpPr>
          <p:cNvPr id="35" name="Text 33"/>
          <p:cNvSpPr/>
          <p:nvPr/>
        </p:nvSpPr>
        <p:spPr>
          <a:xfrm>
            <a:off x="6291072" y="29077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03136" y="2798064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Build sprint 2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extend, polish, deploy to Fabric (rayfin up), demo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144768" y="3511296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91072" y="3630168"/>
            <a:ext cx="384048" cy="384048"/>
          </a:xfrm>
          <a:prstGeom prst="ellipse">
            <a:avLst/>
          </a:prstGeom>
          <a:solidFill>
            <a:srgbClr val="B14FD8"/>
          </a:solidFill>
          <a:ln/>
        </p:spPr>
      </p:sp>
      <p:sp>
        <p:nvSpPr>
          <p:cNvPr id="39" name="Text 37"/>
          <p:cNvSpPr/>
          <p:nvPr/>
        </p:nvSpPr>
        <p:spPr>
          <a:xfrm>
            <a:off x="6291072" y="36210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803136" y="3511296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&amp; next steps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app into an MSX opportunity + a 90-day plan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5486400"/>
            <a:ext cx="11057839" cy="713232"/>
          </a:xfrm>
          <a:prstGeom prst="roundRect">
            <a:avLst>
              <a:gd name="adj" fmla="val 10256"/>
            </a:avLst>
          </a:prstGeom>
          <a:solidFill>
            <a:srgbClr val="1F3A5F"/>
          </a:solidFill>
          <a:ln/>
        </p:spPr>
      </p:sp>
      <p:sp>
        <p:nvSpPr>
          <p:cNvPr id="42" name="Text 40"/>
          <p:cNvSpPr/>
          <p:nvPr/>
        </p:nvSpPr>
        <p:spPr>
          <a:xfrm>
            <a:off x="822960" y="5486400"/>
            <a:ext cx="365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252728" y="5486400"/>
            <a:ext cx="10143439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afternoon is the differentiator.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ship a real working app on Fabric — the artifact the SI uses to open and qualify a real opportunity.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Repeatability — the partner runs its own Micro Hack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motion only scales if the partner repeats it without us. We ship a “Micro Hack in a Box”.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258615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475956" y="1664208"/>
            <a:ext cx="768096" cy="768096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9" name="Text 7"/>
          <p:cNvSpPr/>
          <p:nvPr/>
        </p:nvSpPr>
        <p:spPr>
          <a:xfrm>
            <a:off x="1475956" y="1655064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📖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2505456"/>
            <a:ext cx="2586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 kit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2816352"/>
            <a:ext cx="2256968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deck (morning), demo script, timing guide, FAQ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90824" y="1463040"/>
            <a:ext cx="258615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99852" y="1664208"/>
            <a:ext cx="768096" cy="768096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4" name="Text 12"/>
          <p:cNvSpPr/>
          <p:nvPr/>
        </p:nvSpPr>
        <p:spPr>
          <a:xfrm>
            <a:off x="4299852" y="1655064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🤖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390824" y="2505456"/>
            <a:ext cx="2586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CLI access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555416" y="2816352"/>
            <a:ext cx="2256968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guided way to build the app / workload with the GitHub Copilot CLI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4720" y="1463040"/>
            <a:ext cx="258615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123748" y="1664208"/>
            <a:ext cx="768096" cy="768096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9" name="Text 17"/>
          <p:cNvSpPr/>
          <p:nvPr/>
        </p:nvSpPr>
        <p:spPr>
          <a:xfrm>
            <a:off x="7123748" y="1655064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👥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214720" y="2505456"/>
            <a:ext cx="2586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Train-the-trainer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79312" y="2816352"/>
            <a:ext cx="2256968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#1 co-delivered; we certify a partner pursuit team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038615" y="1463040"/>
            <a:ext cx="258615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947643" y="1664208"/>
            <a:ext cx="768096" cy="768096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24" name="Text 22"/>
          <p:cNvSpPr/>
          <p:nvPr/>
        </p:nvSpPr>
        <p:spPr>
          <a:xfrm>
            <a:off x="9947643" y="1655064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📈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038615" y="2505456"/>
            <a:ext cx="2586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Repeatability KPI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203207" y="2816352"/>
            <a:ext cx="2256968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of partner-led sessions and opportunities they generate (MSX)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6928" y="3657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scales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66928" y="4023360"/>
            <a:ext cx="2421560" cy="1783080"/>
          </a:xfrm>
          <a:prstGeom prst="roundRect">
            <a:avLst>
              <a:gd name="adj" fmla="val 4103"/>
            </a:avLst>
          </a:prstGeom>
          <a:solidFill>
            <a:srgbClr val="1F3A5F"/>
          </a:solidFill>
          <a:ln/>
        </p:spPr>
      </p:sp>
      <p:sp>
        <p:nvSpPr>
          <p:cNvPr id="29" name="Shape 27"/>
          <p:cNvSpPr/>
          <p:nvPr/>
        </p:nvSpPr>
        <p:spPr>
          <a:xfrm>
            <a:off x="1411948" y="4224528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1411948" y="422452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⚙️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658368" y="5010912"/>
            <a:ext cx="2238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EPS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704088" y="5321808"/>
            <a:ext cx="21472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kit + scenarios + facilitator pack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043352" y="4914900"/>
            <a:ext cx="347472" cy="0"/>
          </a:xfrm>
          <a:prstGeom prst="line">
            <a:avLst/>
          </a:prstGeom>
          <a:noFill/>
          <a:ln w="22225">
            <a:solidFill>
              <a:srgbClr val="93A6BE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3445688" y="4023360"/>
            <a:ext cx="2421560" cy="1783080"/>
          </a:xfrm>
          <a:prstGeom prst="roundRect">
            <a:avLst>
              <a:gd name="adj" fmla="val 4103"/>
            </a:avLst>
          </a:prstGeom>
          <a:solidFill>
            <a:srgbClr val="0F6CBD"/>
          </a:solidFill>
          <a:ln/>
        </p:spPr>
      </p:sp>
      <p:sp>
        <p:nvSpPr>
          <p:cNvPr id="35" name="Shape 33"/>
          <p:cNvSpPr/>
          <p:nvPr/>
        </p:nvSpPr>
        <p:spPr>
          <a:xfrm>
            <a:off x="4290708" y="4224528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290708" y="422452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🤝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3537128" y="5010912"/>
            <a:ext cx="2238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Co-deliver Run #1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3582848" y="5321808"/>
            <a:ext cx="21472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Train-the-trainer with the partner team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922112" y="4914900"/>
            <a:ext cx="347472" cy="0"/>
          </a:xfrm>
          <a:prstGeom prst="line">
            <a:avLst/>
          </a:prstGeom>
          <a:noFill/>
          <a:ln w="22225">
            <a:solidFill>
              <a:srgbClr val="93A6BE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6324448" y="4023360"/>
            <a:ext cx="2421560" cy="1783080"/>
          </a:xfrm>
          <a:prstGeom prst="roundRect">
            <a:avLst>
              <a:gd name="adj" fmla="val 4103"/>
            </a:avLst>
          </a:prstGeom>
          <a:solidFill>
            <a:srgbClr val="2E9CA8"/>
          </a:solidFill>
          <a:ln/>
        </p:spPr>
      </p:sp>
      <p:sp>
        <p:nvSpPr>
          <p:cNvPr id="41" name="Shape 39"/>
          <p:cNvSpPr/>
          <p:nvPr/>
        </p:nvSpPr>
        <p:spPr>
          <a:xfrm>
            <a:off x="7169467" y="4224528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7169467" y="422452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🔄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6415888" y="5010912"/>
            <a:ext cx="2238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#2…N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6461608" y="5321808"/>
            <a:ext cx="21472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delivers independently to its customers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8800871" y="4914900"/>
            <a:ext cx="347472" cy="0"/>
          </a:xfrm>
          <a:prstGeom prst="line">
            <a:avLst/>
          </a:prstGeom>
          <a:noFill/>
          <a:ln w="22225">
            <a:solidFill>
              <a:srgbClr val="93A6BE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9203207" y="4023360"/>
            <a:ext cx="2421560" cy="1783080"/>
          </a:xfrm>
          <a:prstGeom prst="roundRect">
            <a:avLst>
              <a:gd name="adj" fmla="val 4103"/>
            </a:avLst>
          </a:prstGeom>
          <a:solidFill>
            <a:srgbClr val="2E9E63"/>
          </a:solidFill>
          <a:ln/>
        </p:spPr>
      </p:sp>
      <p:sp>
        <p:nvSpPr>
          <p:cNvPr id="47" name="Shape 45"/>
          <p:cNvSpPr/>
          <p:nvPr/>
        </p:nvSpPr>
        <p:spPr>
          <a:xfrm>
            <a:off x="10048227" y="4224528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10048227" y="422452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🎯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9294647" y="5010912"/>
            <a:ext cx="2238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</a:t>
            </a:r>
            <a:endParaRPr lang="en-US" sz="1350" dirty="0"/>
          </a:p>
        </p:txBody>
      </p:sp>
      <p:sp>
        <p:nvSpPr>
          <p:cNvPr id="50" name="Text 48"/>
          <p:cNvSpPr/>
          <p:nvPr/>
        </p:nvSpPr>
        <p:spPr>
          <a:xfrm>
            <a:off x="9340367" y="5321808"/>
            <a:ext cx="21472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&amp; workloads → created / shared in MSX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Micro Hack kit — the one asset we build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reusable enablement kit, not a product — used live in the day, then repeated by the partner.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1732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E6F5EC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417320"/>
            <a:ext cx="5394960" cy="91440"/>
          </a:xfrm>
          <a:prstGeom prst="roundRect">
            <a:avLst>
              <a:gd name="adj" fmla="val 50000"/>
            </a:avLst>
          </a:prstGeom>
          <a:solidFill>
            <a:srgbClr val="2E9E6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55448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59536" y="1993392"/>
            <a:ext cx="237744" cy="237744"/>
          </a:xfrm>
          <a:prstGeom prst="ellipse">
            <a:avLst/>
          </a:prstGeom>
          <a:solidFill>
            <a:srgbClr val="2E9E63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1975104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25296" y="19385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ready-to-run kit: prompts, scripts, reference code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59536" y="2377440"/>
            <a:ext cx="237744" cy="237744"/>
          </a:xfrm>
          <a:prstGeom prst="ellipse">
            <a:avLst/>
          </a:prstGeom>
          <a:solidFill>
            <a:srgbClr val="2E9E63"/>
          </a:solidFill>
          <a:ln/>
        </p:spPr>
      </p:sp>
      <p:sp>
        <p:nvSpPr>
          <p:cNvPr id="14" name="Text 12"/>
          <p:cNvSpPr/>
          <p:nvPr/>
        </p:nvSpPr>
        <p:spPr>
          <a:xfrm>
            <a:off x="859536" y="2359152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25296" y="232257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scenarios — a Rayfin app and a Fabric workload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59536" y="2761488"/>
            <a:ext cx="237744" cy="237744"/>
          </a:xfrm>
          <a:prstGeom prst="ellipse">
            <a:avLst/>
          </a:prstGeom>
          <a:solidFill>
            <a:srgbClr val="2E9E63"/>
          </a:solidFill>
          <a:ln/>
        </p:spPr>
      </p:sp>
      <p:sp>
        <p:nvSpPr>
          <p:cNvPr id="17" name="Text 15"/>
          <p:cNvSpPr/>
          <p:nvPr/>
        </p:nvSpPr>
        <p:spPr>
          <a:xfrm>
            <a:off x="859536" y="2743200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25296" y="270662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 materials to repeat the day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44768" y="141732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BEAED"/>
          </a:solidFill>
          <a:ln/>
        </p:spPr>
      </p:sp>
      <p:sp>
        <p:nvSpPr>
          <p:cNvPr id="20" name="Shape 18"/>
          <p:cNvSpPr/>
          <p:nvPr/>
        </p:nvSpPr>
        <p:spPr>
          <a:xfrm>
            <a:off x="6144768" y="1417320"/>
            <a:ext cx="5394960" cy="91440"/>
          </a:xfrm>
          <a:prstGeom prst="roundRect">
            <a:avLst>
              <a:gd name="adj" fmla="val 50000"/>
            </a:avLst>
          </a:prstGeom>
          <a:solidFill>
            <a:srgbClr val="E0455E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155448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4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37376" y="1993392"/>
            <a:ext cx="237744" cy="237744"/>
          </a:xfrm>
          <a:prstGeom prst="ellipse">
            <a:avLst/>
          </a:prstGeom>
          <a:solidFill>
            <a:srgbClr val="E0455E"/>
          </a:solidFill>
          <a:ln/>
        </p:spPr>
      </p:sp>
      <p:sp>
        <p:nvSpPr>
          <p:cNvPr id="23" name="Text 21"/>
          <p:cNvSpPr/>
          <p:nvPr/>
        </p:nvSpPr>
        <p:spPr>
          <a:xfrm>
            <a:off x="6437376" y="1975104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03136" y="19385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product or platform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37376" y="2377440"/>
            <a:ext cx="237744" cy="237744"/>
          </a:xfrm>
          <a:prstGeom prst="ellipse">
            <a:avLst/>
          </a:prstGeom>
          <a:solidFill>
            <a:srgbClr val="E0455E"/>
          </a:solidFill>
          <a:ln/>
        </p:spPr>
      </p:sp>
      <p:sp>
        <p:nvSpPr>
          <p:cNvPr id="26" name="Text 24"/>
          <p:cNvSpPr/>
          <p:nvPr/>
        </p:nvSpPr>
        <p:spPr>
          <a:xfrm>
            <a:off x="6437376" y="2359152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03136" y="232257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replacement for Rayfin / the Extensibility Toolkit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37376" y="2761488"/>
            <a:ext cx="237744" cy="237744"/>
          </a:xfrm>
          <a:prstGeom prst="ellipse">
            <a:avLst/>
          </a:prstGeom>
          <a:solidFill>
            <a:srgbClr val="E0455E"/>
          </a:solidFill>
          <a:ln/>
        </p:spPr>
      </p:sp>
      <p:sp>
        <p:nvSpPr>
          <p:cNvPr id="29" name="Text 27"/>
          <p:cNvSpPr/>
          <p:nvPr/>
        </p:nvSpPr>
        <p:spPr>
          <a:xfrm>
            <a:off x="6437376" y="2743200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3136" y="270662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one-off custom build for a single customer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3456432"/>
            <a:ext cx="3320186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66928" y="3456432"/>
            <a:ext cx="3320186" cy="512064"/>
          </a:xfrm>
          <a:prstGeom prst="roundRect">
            <a:avLst>
              <a:gd name="adj" fmla="val 10714"/>
            </a:avLst>
          </a:prstGeom>
          <a:solidFill>
            <a:srgbClr val="0F6CBD"/>
          </a:solidFill>
          <a:ln/>
        </p:spPr>
      </p:sp>
      <p:sp>
        <p:nvSpPr>
          <p:cNvPr id="33" name="Text 31"/>
          <p:cNvSpPr/>
          <p:nvPr/>
        </p:nvSpPr>
        <p:spPr>
          <a:xfrm>
            <a:off x="713232" y="3456432"/>
            <a:ext cx="302757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— Fixed scenario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22960" y="4114800"/>
            <a:ext cx="286298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+ sample data + target users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Apps: Helios · Workloads: GreenGrid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start for every run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3960266" y="4713732"/>
            <a:ext cx="384048" cy="0"/>
          </a:xfrm>
          <a:prstGeom prst="line">
            <a:avLst/>
          </a:prstGeom>
          <a:noFill/>
          <a:ln w="22225">
            <a:solidFill>
              <a:srgbClr val="93A6BE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4435754" y="3456432"/>
            <a:ext cx="3320186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5754" y="3456432"/>
            <a:ext cx="3320186" cy="512064"/>
          </a:xfrm>
          <a:prstGeom prst="roundRect">
            <a:avLst>
              <a:gd name="adj" fmla="val 10714"/>
            </a:avLst>
          </a:prstGeom>
          <a:solidFill>
            <a:srgbClr val="B14FD8"/>
          </a:solidFill>
          <a:ln/>
        </p:spPr>
      </p:sp>
      <p:sp>
        <p:nvSpPr>
          <p:cNvPr id="38" name="Text 36"/>
          <p:cNvSpPr/>
          <p:nvPr/>
        </p:nvSpPr>
        <p:spPr>
          <a:xfrm>
            <a:off x="4582058" y="3456432"/>
            <a:ext cx="302757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— Copilot CLI + Rayfin / Toolkit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4691786" y="4114800"/>
            <a:ext cx="286298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Scaffold, declare data model / workload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Screens, roles, OneLake read (OBO)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Validate: build + tests green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7829093" y="4713732"/>
            <a:ext cx="384048" cy="0"/>
          </a:xfrm>
          <a:prstGeom prst="line">
            <a:avLst/>
          </a:prstGeom>
          <a:noFill/>
          <a:ln w="22225">
            <a:solidFill>
              <a:srgbClr val="93A6BE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304581" y="3456432"/>
            <a:ext cx="3320186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304581" y="3456432"/>
            <a:ext cx="3320186" cy="512064"/>
          </a:xfrm>
          <a:prstGeom prst="roundRect">
            <a:avLst>
              <a:gd name="adj" fmla="val 10714"/>
            </a:avLst>
          </a:prstGeom>
          <a:solidFill>
            <a:srgbClr val="2E9CA8"/>
          </a:solidFill>
          <a:ln/>
        </p:spPr>
      </p:sp>
      <p:sp>
        <p:nvSpPr>
          <p:cNvPr id="43" name="Text 41"/>
          <p:cNvSpPr/>
          <p:nvPr/>
        </p:nvSpPr>
        <p:spPr>
          <a:xfrm>
            <a:off x="8450885" y="3456432"/>
            <a:ext cx="302757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— Working app / workload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8560613" y="4114800"/>
            <a:ext cx="286298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to Fabric, governed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Demo-ready, partner-owned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→ opportunity / adoption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Path B — SDC / ISV (Workloads)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the Fabric footprint through ISV offers: embed once, consume mechanically across the ISV’s customer base.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" y="1463040"/>
            <a:ext cx="5212080" cy="109728"/>
          </a:xfrm>
          <a:prstGeom prst="roundRect">
            <a:avLst>
              <a:gd name="adj" fmla="val 50000"/>
            </a:avLst>
          </a:prstGeom>
          <a:solidFill>
            <a:srgbClr val="B14FD8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173736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77824" y="2176272"/>
            <a:ext cx="46085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every Microsoft-managed SDC to embed a Fabric workload (Extensibility Toolkit) inside its commercial offer — so every time a customer uses the product, a Fabric data workload is consumed by design.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77824" y="3200400"/>
            <a:ext cx="4590288" cy="868680"/>
          </a:xfrm>
          <a:prstGeom prst="roundRect">
            <a:avLst>
              <a:gd name="adj" fmla="val 6316"/>
            </a:avLst>
          </a:prstGeom>
          <a:solidFill>
            <a:srgbClr val="F6EAFB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416" y="3200400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1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once, adopt many.   </a:t>
            </a:r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SDC standardizes on a Fabric workload, its entire customer base becomes ongoing Fabric adoption.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77824" y="4187952"/>
            <a:ext cx="4590288" cy="640080"/>
          </a:xfrm>
          <a:prstGeom prst="roundRect">
            <a:avLst>
              <a:gd name="adj" fmla="val 8571"/>
            </a:avLst>
          </a:prstGeom>
          <a:solidFill>
            <a:srgbClr val="1F3A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42416" y="4187952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KPI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managed SDCs that built a Fabric workload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77824" y="4956048"/>
            <a:ext cx="460857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adoption &amp; mechanical consumption — not repeated workshops. The win is the embed and the footprint it generates.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144768" y="1444752"/>
            <a:ext cx="547999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once </a:t>
            </a:r>
            <a:pPr indent="0" marL="0">
              <a:buNone/>
            </a:pPr>
            <a:r>
              <a:rPr lang="en-US" sz="13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adopt mechanically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144768" y="1828800"/>
            <a:ext cx="5479999" cy="548640"/>
          </a:xfrm>
          <a:prstGeom prst="roundRect">
            <a:avLst>
              <a:gd name="adj" fmla="val 11667"/>
            </a:avLst>
          </a:prstGeom>
          <a:solidFill>
            <a:srgbClr val="B14FD8"/>
          </a:solidFill>
          <a:ln/>
        </p:spPr>
      </p:sp>
      <p:sp>
        <p:nvSpPr>
          <p:cNvPr id="18" name="Text 16"/>
          <p:cNvSpPr/>
          <p:nvPr/>
        </p:nvSpPr>
        <p:spPr>
          <a:xfrm>
            <a:off x="6327648" y="1828800"/>
            <a:ext cx="51142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Microsoft-managed SDC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884768" y="2377440"/>
            <a:ext cx="0" cy="164592"/>
          </a:xfrm>
          <a:prstGeom prst="line">
            <a:avLst/>
          </a:prstGeom>
          <a:noFill/>
          <a:ln w="22225">
            <a:solidFill>
              <a:srgbClr val="B14FD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144768" y="2578608"/>
            <a:ext cx="5479999" cy="502920"/>
          </a:xfrm>
          <a:prstGeom prst="roundRect">
            <a:avLst>
              <a:gd name="adj" fmla="val 12727"/>
            </a:avLst>
          </a:prstGeom>
          <a:solidFill>
            <a:srgbClr val="E7F1FB"/>
          </a:solidFill>
          <a:ln/>
        </p:spPr>
      </p:sp>
      <p:sp>
        <p:nvSpPr>
          <p:cNvPr id="21" name="Text 19"/>
          <p:cNvSpPr/>
          <p:nvPr/>
        </p:nvSpPr>
        <p:spPr>
          <a:xfrm>
            <a:off x="6327648" y="2578608"/>
            <a:ext cx="5114239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a managed Fabric workload (Toolkit)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884768" y="3081528"/>
            <a:ext cx="0" cy="146304"/>
          </a:xfrm>
          <a:prstGeom prst="line">
            <a:avLst/>
          </a:prstGeom>
          <a:noFill/>
          <a:ln w="22225">
            <a:solidFill>
              <a:srgbClr val="0F6CBD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144768" y="3255264"/>
            <a:ext cx="5479999" cy="502920"/>
          </a:xfrm>
          <a:prstGeom prst="roundRect">
            <a:avLst>
              <a:gd name="adj" fmla="val 12727"/>
            </a:avLst>
          </a:prstGeom>
          <a:solidFill>
            <a:srgbClr val="E7F1FB"/>
          </a:solidFill>
          <a:ln/>
        </p:spPr>
      </p:sp>
      <p:sp>
        <p:nvSpPr>
          <p:cNvPr id="24" name="Text 22"/>
          <p:cNvSpPr/>
          <p:nvPr/>
        </p:nvSpPr>
        <p:spPr>
          <a:xfrm>
            <a:off x="6327648" y="3255264"/>
            <a:ext cx="5114239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SDC product / offer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7003237" y="3749040"/>
            <a:ext cx="0" cy="146304"/>
          </a:xfrm>
          <a:prstGeom prst="line">
            <a:avLst/>
          </a:prstGeom>
          <a:noFill/>
          <a:ln w="22225">
            <a:solidFill>
              <a:srgbClr val="2E9CA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144768" y="3895344"/>
            <a:ext cx="1716938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0" y="3895344"/>
            <a:ext cx="15706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1</a:t>
            </a:r>
            <a:endParaRPr lang="en-US" sz="11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2E9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workload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003237" y="4443984"/>
            <a:ext cx="0" cy="146304"/>
          </a:xfrm>
          <a:prstGeom prst="line">
            <a:avLst/>
          </a:prstGeom>
          <a:noFill/>
          <a:ln w="22225">
            <a:solidFill>
              <a:srgbClr val="2E9CA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884768" y="3749040"/>
            <a:ext cx="0" cy="146304"/>
          </a:xfrm>
          <a:prstGeom prst="line">
            <a:avLst/>
          </a:prstGeom>
          <a:noFill/>
          <a:ln w="22225">
            <a:solidFill>
              <a:srgbClr val="2E9CA8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8026298" y="3895344"/>
            <a:ext cx="1716938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99450" y="3895344"/>
            <a:ext cx="15706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2</a:t>
            </a:r>
            <a:endParaRPr lang="en-US" sz="11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2E9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workload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884768" y="4443984"/>
            <a:ext cx="0" cy="146304"/>
          </a:xfrm>
          <a:prstGeom prst="line">
            <a:avLst/>
          </a:prstGeom>
          <a:noFill/>
          <a:ln w="22225">
            <a:solidFill>
              <a:srgbClr val="2E9CA8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10766298" y="3749040"/>
            <a:ext cx="0" cy="146304"/>
          </a:xfrm>
          <a:prstGeom prst="line">
            <a:avLst/>
          </a:prstGeom>
          <a:noFill/>
          <a:ln w="22225">
            <a:solidFill>
              <a:srgbClr val="2E9CA8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9907829" y="3895344"/>
            <a:ext cx="1716938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980981" y="3895344"/>
            <a:ext cx="15706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N</a:t>
            </a:r>
            <a:endParaRPr lang="en-US" sz="11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2E9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workload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0766298" y="4443984"/>
            <a:ext cx="0" cy="146304"/>
          </a:xfrm>
          <a:prstGeom prst="line">
            <a:avLst/>
          </a:prstGeom>
          <a:noFill/>
          <a:ln w="22225">
            <a:solidFill>
              <a:srgbClr val="2E9CA8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6144768" y="4608576"/>
            <a:ext cx="5479999" cy="640080"/>
          </a:xfrm>
          <a:prstGeom prst="roundRect">
            <a:avLst>
              <a:gd name="adj" fmla="val 10000"/>
            </a:avLst>
          </a:prstGeom>
          <a:solidFill>
            <a:srgbClr val="2E9CA8"/>
          </a:solidFill>
          <a:ln/>
        </p:spPr>
      </p:sp>
      <p:sp>
        <p:nvSpPr>
          <p:cNvPr id="38" name="Text 36"/>
          <p:cNvSpPr/>
          <p:nvPr/>
        </p:nvSpPr>
        <p:spPr>
          <a:xfrm>
            <a:off x="6327648" y="4608576"/>
            <a:ext cx="511423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Fabric footprint — adoption &amp; ACR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Vehicle — Micro Hack 2 (Workloads) agenda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fixed, repeatable shape as Micro Hack 1 — but the artifact is a Fabric workload the SDC embeds in its offer.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44752"/>
            <a:ext cx="5394960" cy="512064"/>
          </a:xfrm>
          <a:prstGeom prst="roundRect">
            <a:avLst>
              <a:gd name="adj" fmla="val 10714"/>
            </a:avLst>
          </a:prstGeom>
          <a:solidFill>
            <a:srgbClr val="0F6CBD"/>
          </a:solidFill>
          <a:ln/>
        </p:spPr>
      </p:sp>
      <p:sp>
        <p:nvSpPr>
          <p:cNvPr id="8" name="Text 6"/>
          <p:cNvSpPr/>
          <p:nvPr/>
        </p:nvSpPr>
        <p:spPr>
          <a:xfrm>
            <a:off x="694944" y="1444752"/>
            <a:ext cx="457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☀️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70432" y="1444752"/>
            <a:ext cx="4663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 — Content  (MS → Partner)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44768" y="1444752"/>
            <a:ext cx="5394960" cy="512064"/>
          </a:xfrm>
          <a:prstGeom prst="roundRect">
            <a:avLst>
              <a:gd name="adj" fmla="val 10714"/>
            </a:avLst>
          </a:prstGeom>
          <a:solidFill>
            <a:srgbClr val="B14FD8"/>
          </a:solidFill>
          <a:ln/>
        </p:spPr>
      </p:sp>
      <p:sp>
        <p:nvSpPr>
          <p:cNvPr id="11" name="Text 9"/>
          <p:cNvSpPr/>
          <p:nvPr/>
        </p:nvSpPr>
        <p:spPr>
          <a:xfrm>
            <a:off x="6272784" y="1444752"/>
            <a:ext cx="457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🤖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748272" y="1444752"/>
            <a:ext cx="4663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 — Build + Demo  (MS → Partner)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66928" y="2084832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" y="2203704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5" name="Text 13"/>
          <p:cNvSpPr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25296" y="2084832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build a workload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every Fabric customer via the Workload Hub · run on OneLake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2798064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916936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" y="29077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25296" y="2798064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Extensibility Toolkit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structure · Entra app · Dev Gateway · manifest · OBO token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511296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3232" y="3630168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36210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25296" y="3511296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GreenGrid Scorecard running live inside Fabric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224528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3232" y="4343400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27" name="Text 25"/>
          <p:cNvSpPr/>
          <p:nvPr/>
        </p:nvSpPr>
        <p:spPr>
          <a:xfrm>
            <a:off x="713232" y="43342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25296" y="4224528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the build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workload · OneLake data · backend call · UI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44768" y="2084832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91072" y="2203704"/>
            <a:ext cx="384048" cy="384048"/>
          </a:xfrm>
          <a:prstGeom prst="ellipse">
            <a:avLst/>
          </a:prstGeom>
          <a:solidFill>
            <a:srgbClr val="B14FD8"/>
          </a:solidFill>
          <a:ln/>
        </p:spPr>
      </p:sp>
      <p:sp>
        <p:nvSpPr>
          <p:cNvPr id="31" name="Text 29"/>
          <p:cNvSpPr/>
          <p:nvPr/>
        </p:nvSpPr>
        <p:spPr>
          <a:xfrm>
            <a:off x="6291072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03136" y="2084832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sprint 1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toolkit, Setup.ps1 (Entra app), dev server + gateway, Hello World, CreateNewItem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144768" y="2798064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6E6"/>
          </a:solidFill>
          <a:ln w="12700">
            <a:solidFill>
              <a:srgbClr val="E8B65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291072" y="2916936"/>
            <a:ext cx="384048" cy="384048"/>
          </a:xfrm>
          <a:prstGeom prst="ellipse">
            <a:avLst/>
          </a:prstGeom>
          <a:solidFill>
            <a:srgbClr val="D98A2B"/>
          </a:solidFill>
          <a:ln/>
        </p:spPr>
      </p:sp>
      <p:sp>
        <p:nvSpPr>
          <p:cNvPr id="35" name="Text 33"/>
          <p:cNvSpPr/>
          <p:nvPr/>
        </p:nvSpPr>
        <p:spPr>
          <a:xfrm>
            <a:off x="6291072" y="29077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03136" y="2798064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Build sprint 2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Files/sites.csv from OneLake, call the backend, render the scorecard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144768" y="3511296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91072" y="3630168"/>
            <a:ext cx="384048" cy="384048"/>
          </a:xfrm>
          <a:prstGeom prst="ellipse">
            <a:avLst/>
          </a:prstGeom>
          <a:solidFill>
            <a:srgbClr val="B14FD8"/>
          </a:solidFill>
          <a:ln/>
        </p:spPr>
      </p:sp>
      <p:sp>
        <p:nvSpPr>
          <p:cNvPr id="39" name="Text 37"/>
          <p:cNvSpPr/>
          <p:nvPr/>
        </p:nvSpPr>
        <p:spPr>
          <a:xfrm>
            <a:off x="6291072" y="36210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803136" y="3511296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&amp; next steps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in the SDC offer + path to publish on the Workload Hub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5486400"/>
            <a:ext cx="11057839" cy="713232"/>
          </a:xfrm>
          <a:prstGeom prst="roundRect">
            <a:avLst>
              <a:gd name="adj" fmla="val 10256"/>
            </a:avLst>
          </a:prstGeom>
          <a:solidFill>
            <a:srgbClr val="1F3A5F"/>
          </a:solidFill>
          <a:ln/>
        </p:spPr>
      </p:sp>
      <p:sp>
        <p:nvSpPr>
          <p:cNvPr id="42" name="Text 40"/>
          <p:cNvSpPr/>
          <p:nvPr/>
        </p:nvSpPr>
        <p:spPr>
          <a:xfrm>
            <a:off x="822960" y="5486400"/>
            <a:ext cx="365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252728" y="5486400"/>
            <a:ext cx="10143439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shape, different artifact.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 is a Fabric workload the SDC embeds in its offer — so every customer adopts Fabric by design.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we reuse — we don’t rebuild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below already exists. The motion packages it; the Micro Hack runs it.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417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blocks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1783080"/>
            <a:ext cx="676656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938528"/>
            <a:ext cx="365760" cy="36576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92938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43584" y="1783080"/>
            <a:ext cx="59436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Fabric   </a:t>
            </a:r>
            <a:pPr indent="0" marL="0">
              <a:buNone/>
            </a:pPr>
            <a:r>
              <a:rPr lang="en-US" sz="12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OneLake · governance · single copy of data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2569464"/>
            <a:ext cx="676656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2724912"/>
            <a:ext cx="365760" cy="36576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157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43584" y="2569464"/>
            <a:ext cx="59436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Rayfin   </a:t>
            </a:r>
            <a:pPr indent="0" marL="0">
              <a:buNone/>
            </a:pPr>
            <a:r>
              <a:rPr lang="en-US" sz="12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backend for business apps (data model = DB)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355848"/>
            <a:ext cx="676656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3511296"/>
            <a:ext cx="365760" cy="36576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50215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43584" y="3355848"/>
            <a:ext cx="59436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Extensibility Toolkit   </a:t>
            </a:r>
            <a:pPr indent="0" marL="0">
              <a:buNone/>
            </a:pPr>
            <a:r>
              <a:rPr lang="en-US" sz="12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native workloads, distributed in Fabric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4142232"/>
            <a:ext cx="676656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4297680"/>
            <a:ext cx="365760" cy="36576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428853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43584" y="4142232"/>
            <a:ext cx="59436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CLI   </a:t>
            </a:r>
            <a:pPr indent="0" marL="0">
              <a:buNone/>
            </a:pPr>
            <a:r>
              <a:rPr lang="en-US" sz="12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apps &amp; workloads fast, with validation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66928" y="4928616"/>
            <a:ext cx="676656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5084064"/>
            <a:ext cx="365760" cy="36576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5074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243584" y="4928616"/>
            <a:ext cx="59436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Hub   </a:t>
            </a:r>
            <a:pPr indent="0" marL="0">
              <a:buNone/>
            </a:pPr>
            <a:r>
              <a:rPr lang="en-US" sz="12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 a workload to every Fabric customer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7653528" y="1417320"/>
            <a:ext cx="3971239" cy="4572000"/>
          </a:xfrm>
          <a:prstGeom prst="roundRect">
            <a:avLst>
              <a:gd name="adj" fmla="val 2303"/>
            </a:avLst>
          </a:prstGeom>
          <a:solidFill>
            <a:srgbClr val="1F3A5F"/>
          </a:solidFill>
          <a:ln/>
        </p:spPr>
      </p:sp>
      <p:sp>
        <p:nvSpPr>
          <p:cNvPr id="29" name="Text 27"/>
          <p:cNvSpPr/>
          <p:nvPr/>
        </p:nvSpPr>
        <p:spPr>
          <a:xfrm>
            <a:off x="7927848" y="16276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⚙️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8522208" y="1627632"/>
            <a:ext cx="296539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map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7946136" y="2212848"/>
            <a:ext cx="3422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— don’t rebuild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46136" y="2670048"/>
            <a:ext cx="342259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946136" y="2889504"/>
            <a:ext cx="3422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create-rayfin / Setup.ps1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946136" y="3328416"/>
            <a:ext cx="342259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946136" y="3547872"/>
            <a:ext cx="3422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rayfin data (model = DB) / sites.csv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7946136" y="3986784"/>
            <a:ext cx="342259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946136" y="4206240"/>
            <a:ext cx="3422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run dev · Dev Gateway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946136" y="4645152"/>
            <a:ext cx="342259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946136" y="4864608"/>
            <a:ext cx="3422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rayfin up · Hello World item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946136" y="5303520"/>
            <a:ext cx="342259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946136" y="5522976"/>
            <a:ext cx="3422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Hub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KPIs — how we measure the motion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scoreboards, one north-star: the share of apps and workloads that are partner-led, not Microsoft-led.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39496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" y="1481328"/>
            <a:ext cx="5394960" cy="1097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9" name="Shape 7"/>
          <p:cNvSpPr/>
          <p:nvPr/>
        </p:nvSpPr>
        <p:spPr>
          <a:xfrm>
            <a:off x="841248" y="1755648"/>
            <a:ext cx="822960" cy="82296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746504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🗄️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847088" y="1865376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Apps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77824" y="2743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KPI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77824" y="3017520"/>
            <a:ext cx="4773168" cy="502920"/>
          </a:xfrm>
          <a:prstGeom prst="roundRect">
            <a:avLst>
              <a:gd name="adj" fmla="val 9091"/>
            </a:avLst>
          </a:prstGeom>
          <a:solidFill>
            <a:srgbClr val="E7F1FB"/>
          </a:solidFill>
          <a:ln/>
        </p:spPr>
      </p:sp>
      <p:sp>
        <p:nvSpPr>
          <p:cNvPr id="14" name="Text 12"/>
          <p:cNvSpPr/>
          <p:nvPr/>
        </p:nvSpPr>
        <p:spPr>
          <a:xfrm>
            <a:off x="1024128" y="3017520"/>
            <a:ext cx="4498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6C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of opportunities created (MSX), Stage 1 &amp; 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77824" y="363931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77824" y="3895344"/>
            <a:ext cx="479145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Micro Hacks repeated by the partner · # apps deployed · Fabric / Azure ACR pipeline.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44768" y="1481328"/>
            <a:ext cx="539496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44768" y="1481328"/>
            <a:ext cx="5394960" cy="109728"/>
          </a:xfrm>
          <a:prstGeom prst="roundRect">
            <a:avLst>
              <a:gd name="adj" fmla="val 50000"/>
            </a:avLst>
          </a:prstGeom>
          <a:solidFill>
            <a:srgbClr val="B14FD8"/>
          </a:solidFill>
          <a:ln/>
        </p:spPr>
      </p:sp>
      <p:sp>
        <p:nvSpPr>
          <p:cNvPr id="19" name="Shape 17"/>
          <p:cNvSpPr/>
          <p:nvPr/>
        </p:nvSpPr>
        <p:spPr>
          <a:xfrm>
            <a:off x="6419088" y="1755648"/>
            <a:ext cx="822960" cy="822960"/>
          </a:xfrm>
          <a:prstGeom prst="ellipse">
            <a:avLst/>
          </a:prstGeom>
          <a:solidFill>
            <a:srgbClr val="B14FD8"/>
          </a:solidFill>
          <a:ln/>
        </p:spPr>
      </p:sp>
      <p:sp>
        <p:nvSpPr>
          <p:cNvPr id="20" name="Text 18"/>
          <p:cNvSpPr/>
          <p:nvPr/>
        </p:nvSpPr>
        <p:spPr>
          <a:xfrm>
            <a:off x="6419088" y="1746504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🧩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7424928" y="1865376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Workloads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455664" y="2743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KPI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55664" y="3017520"/>
            <a:ext cx="4773168" cy="502920"/>
          </a:xfrm>
          <a:prstGeom prst="roundRect">
            <a:avLst>
              <a:gd name="adj" fmla="val 9091"/>
            </a:avLst>
          </a:prstGeom>
          <a:solidFill>
            <a:srgbClr val="F6EAFB"/>
          </a:solidFill>
          <a:ln/>
        </p:spPr>
      </p:sp>
      <p:sp>
        <p:nvSpPr>
          <p:cNvPr id="24" name="Text 22"/>
          <p:cNvSpPr/>
          <p:nvPr/>
        </p:nvSpPr>
        <p:spPr>
          <a:xfrm>
            <a:off x="6601968" y="3017520"/>
            <a:ext cx="4498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1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managed SDCs that built a Fabric workload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55664" y="363931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55664" y="3895344"/>
            <a:ext cx="479145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workloads per SDC · Fabric usage / ACR from SDC end-customers.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617720"/>
            <a:ext cx="11057839" cy="1280160"/>
          </a:xfrm>
          <a:prstGeom prst="roundRect">
            <a:avLst>
              <a:gd name="adj" fmla="val 5714"/>
            </a:avLst>
          </a:prstGeom>
          <a:solidFill>
            <a:srgbClr val="1F3A5F"/>
          </a:solidFill>
          <a:ln/>
        </p:spPr>
      </p:sp>
      <p:sp>
        <p:nvSpPr>
          <p:cNvPr id="28" name="Text 26"/>
          <p:cNvSpPr/>
          <p:nvPr/>
        </p:nvSpPr>
        <p:spPr>
          <a:xfrm>
            <a:off x="841248" y="4709160"/>
            <a:ext cx="10509199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North-star 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 of Micro Hacks, apps and workloads that are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partner-led, not Microsoft-led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motion is healthy when partners repeat it without us.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Execution Roadmap — FY27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FY starts in July. End of Q1: kit in the partner’s hands — the motion shifts from MS-build to partner-led repeat.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35424" y="1481328"/>
            <a:ext cx="1708328" cy="457200"/>
          </a:xfrm>
          <a:prstGeom prst="roundRect">
            <a:avLst>
              <a:gd name="adj" fmla="val 8000"/>
            </a:avLst>
          </a:prstGeom>
          <a:solidFill>
            <a:srgbClr val="E7F1FB"/>
          </a:solidFill>
          <a:ln/>
        </p:spPr>
      </p:sp>
      <p:sp>
        <p:nvSpPr>
          <p:cNvPr id="8" name="Text 6"/>
          <p:cNvSpPr/>
          <p:nvPr/>
        </p:nvSpPr>
        <p:spPr>
          <a:xfrm>
            <a:off x="4498848" y="1481328"/>
            <a:ext cx="178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· Jul–Sep ’26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16904" y="1481328"/>
            <a:ext cx="1708328" cy="457200"/>
          </a:xfrm>
          <a:prstGeom prst="roundRect">
            <a:avLst>
              <a:gd name="adj" fmla="val 8000"/>
            </a:avLst>
          </a:prstGeom>
          <a:solidFill>
            <a:srgbClr val="E7F1FB"/>
          </a:solidFill>
          <a:ln/>
        </p:spPr>
      </p:sp>
      <p:sp>
        <p:nvSpPr>
          <p:cNvPr id="10" name="Text 8"/>
          <p:cNvSpPr/>
          <p:nvPr/>
        </p:nvSpPr>
        <p:spPr>
          <a:xfrm>
            <a:off x="6280328" y="1481328"/>
            <a:ext cx="178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· Oct–Dec ’26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98384" y="1481328"/>
            <a:ext cx="1708328" cy="457200"/>
          </a:xfrm>
          <a:prstGeom prst="roundRect">
            <a:avLst>
              <a:gd name="adj" fmla="val 8000"/>
            </a:avLst>
          </a:prstGeom>
          <a:solidFill>
            <a:srgbClr val="E7F1FB"/>
          </a:solidFill>
          <a:ln/>
        </p:spPr>
      </p:sp>
      <p:sp>
        <p:nvSpPr>
          <p:cNvPr id="12" name="Text 10"/>
          <p:cNvSpPr/>
          <p:nvPr/>
        </p:nvSpPr>
        <p:spPr>
          <a:xfrm>
            <a:off x="8061808" y="1481328"/>
            <a:ext cx="178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· Jan–Mar ’27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879863" y="1481328"/>
            <a:ext cx="1708328" cy="457200"/>
          </a:xfrm>
          <a:prstGeom prst="roundRect">
            <a:avLst>
              <a:gd name="adj" fmla="val 8000"/>
            </a:avLst>
          </a:prstGeom>
          <a:solidFill>
            <a:srgbClr val="E7F1FB"/>
          </a:solidFill>
          <a:ln/>
        </p:spPr>
      </p:sp>
      <p:sp>
        <p:nvSpPr>
          <p:cNvPr id="14" name="Text 12"/>
          <p:cNvSpPr/>
          <p:nvPr/>
        </p:nvSpPr>
        <p:spPr>
          <a:xfrm>
            <a:off x="9843287" y="1481328"/>
            <a:ext cx="178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· Apr–Jun ’27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1938528"/>
            <a:ext cx="11057839" cy="457200"/>
          </a:xfrm>
          <a:prstGeom prst="rect">
            <a:avLst/>
          </a:prstGeom>
          <a:solidFill>
            <a:srgbClr val="F1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612648" y="19385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— kit + facilitator pack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0" y="2029968"/>
            <a:ext cx="1635176" cy="274320"/>
          </a:xfrm>
          <a:prstGeom prst="roundRect">
            <a:avLst>
              <a:gd name="adj" fmla="val 16667"/>
            </a:avLst>
          </a:prstGeom>
          <a:solidFill>
            <a:srgbClr val="0F6CBD"/>
          </a:solidFill>
          <a:ln/>
        </p:spPr>
      </p:sp>
      <p:sp>
        <p:nvSpPr>
          <p:cNvPr id="18" name="Text 16"/>
          <p:cNvSpPr/>
          <p:nvPr/>
        </p:nvSpPr>
        <p:spPr>
          <a:xfrm>
            <a:off x="612648" y="23957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— reference scenarios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0" y="2487168"/>
            <a:ext cx="1635176" cy="274320"/>
          </a:xfrm>
          <a:prstGeom prst="roundRect">
            <a:avLst>
              <a:gd name="adj" fmla="val 16667"/>
            </a:avLst>
          </a:prstGeom>
          <a:solidFill>
            <a:srgbClr val="0F6CBD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2852928"/>
            <a:ext cx="11057839" cy="457200"/>
          </a:xfrm>
          <a:prstGeom prst="rect">
            <a:avLst/>
          </a:prstGeom>
          <a:solidFill>
            <a:srgbClr val="F1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612648" y="28529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Sponsor + pursuit team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0" y="2944368"/>
            <a:ext cx="1635176" cy="274320"/>
          </a:xfrm>
          <a:prstGeom prst="roundRect">
            <a:avLst>
              <a:gd name="adj" fmla="val 16667"/>
            </a:avLst>
          </a:prstGeom>
          <a:solidFill>
            <a:srgbClr val="2E9CA8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" y="33101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Co-deliver Run #1 ◆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0" y="3401568"/>
            <a:ext cx="1635176" cy="274320"/>
          </a:xfrm>
          <a:prstGeom prst="roundRect">
            <a:avLst>
              <a:gd name="adj" fmla="val 16667"/>
            </a:avLst>
          </a:prstGeom>
          <a:solidFill>
            <a:srgbClr val="B14FD8"/>
          </a:solidFill>
          <a:ln/>
        </p:spPr>
      </p:sp>
      <p:sp>
        <p:nvSpPr>
          <p:cNvPr id="25" name="Shape 23"/>
          <p:cNvSpPr/>
          <p:nvPr/>
        </p:nvSpPr>
        <p:spPr>
          <a:xfrm>
            <a:off x="566928" y="3767328"/>
            <a:ext cx="11057839" cy="457200"/>
          </a:xfrm>
          <a:prstGeom prst="rect">
            <a:avLst/>
          </a:prstGeom>
          <a:solidFill>
            <a:srgbClr val="F1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" y="37673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SIs repeat (own customers)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353480" y="3858768"/>
            <a:ext cx="3416656" cy="274320"/>
          </a:xfrm>
          <a:prstGeom prst="roundRect">
            <a:avLst>
              <a:gd name="adj" fmla="val 16667"/>
            </a:avLst>
          </a:prstGeom>
          <a:solidFill>
            <a:srgbClr val="2E9CA8"/>
          </a:solidFill>
          <a:ln/>
        </p:spPr>
      </p:sp>
      <p:sp>
        <p:nvSpPr>
          <p:cNvPr id="28" name="Text 26"/>
          <p:cNvSpPr/>
          <p:nvPr/>
        </p:nvSpPr>
        <p:spPr>
          <a:xfrm>
            <a:off x="612648" y="42245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Scale to other GSIs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353480" y="4315968"/>
            <a:ext cx="5198135" cy="274320"/>
          </a:xfrm>
          <a:prstGeom prst="roundRect">
            <a:avLst>
              <a:gd name="adj" fmla="val 16667"/>
            </a:avLst>
          </a:prstGeom>
          <a:solidFill>
            <a:srgbClr val="2E9CA8"/>
          </a:solidFill>
          <a:ln/>
        </p:spPr>
      </p:sp>
      <p:sp>
        <p:nvSpPr>
          <p:cNvPr id="30" name="Shape 28"/>
          <p:cNvSpPr/>
          <p:nvPr/>
        </p:nvSpPr>
        <p:spPr>
          <a:xfrm>
            <a:off x="566928" y="4681728"/>
            <a:ext cx="11057839" cy="457200"/>
          </a:xfrm>
          <a:prstGeom prst="rect">
            <a:avLst/>
          </a:prstGeom>
          <a:solidFill>
            <a:srgbClr val="F1F6FC"/>
          </a:solidFill>
          <a:ln/>
        </p:spPr>
      </p:sp>
      <p:sp>
        <p:nvSpPr>
          <p:cNvPr id="31" name="Text 29"/>
          <p:cNvSpPr/>
          <p:nvPr/>
        </p:nvSpPr>
        <p:spPr>
          <a:xfrm>
            <a:off x="612648" y="46817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SDC first workloads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572000" y="4773168"/>
            <a:ext cx="3416656" cy="274320"/>
          </a:xfrm>
          <a:prstGeom prst="roundRect">
            <a:avLst>
              <a:gd name="adj" fmla="val 16667"/>
            </a:avLst>
          </a:prstGeom>
          <a:solidFill>
            <a:srgbClr val="2E9E63"/>
          </a:solidFill>
          <a:ln/>
        </p:spPr>
      </p:sp>
      <p:sp>
        <p:nvSpPr>
          <p:cNvPr id="33" name="Text 31"/>
          <p:cNvSpPr/>
          <p:nvPr/>
        </p:nvSpPr>
        <p:spPr>
          <a:xfrm>
            <a:off x="612648" y="51389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Repeat across portfolio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353480" y="5230368"/>
            <a:ext cx="5198135" cy="274320"/>
          </a:xfrm>
          <a:prstGeom prst="roundRect">
            <a:avLst>
              <a:gd name="adj" fmla="val 16667"/>
            </a:avLst>
          </a:prstGeom>
          <a:solidFill>
            <a:srgbClr val="2E9E63"/>
          </a:solidFill>
          <a:ln/>
        </p:spPr>
      </p:sp>
      <p:sp>
        <p:nvSpPr>
          <p:cNvPr id="35" name="Shape 33"/>
          <p:cNvSpPr/>
          <p:nvPr/>
        </p:nvSpPr>
        <p:spPr>
          <a:xfrm>
            <a:off x="6280328" y="1481328"/>
            <a:ext cx="0" cy="4114800"/>
          </a:xfrm>
          <a:prstGeom prst="line">
            <a:avLst/>
          </a:prstGeom>
          <a:noFill/>
          <a:ln w="12700">
            <a:solidFill>
              <a:srgbClr val="E3EDF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61808" y="1481328"/>
            <a:ext cx="0" cy="4114800"/>
          </a:xfrm>
          <a:prstGeom prst="line">
            <a:avLst/>
          </a:prstGeom>
          <a:noFill/>
          <a:ln w="12700">
            <a:solidFill>
              <a:srgbClr val="E3EDF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843287" y="1481328"/>
            <a:ext cx="0" cy="4114800"/>
          </a:xfrm>
          <a:prstGeom prst="line">
            <a:avLst/>
          </a:prstGeom>
          <a:noFill/>
          <a:ln w="12700">
            <a:solidFill>
              <a:srgbClr val="E3EDF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66928" y="5760720"/>
            <a:ext cx="11057839" cy="749808"/>
          </a:xfrm>
          <a:prstGeom prst="roundRect">
            <a:avLst>
              <a:gd name="adj" fmla="val 9756"/>
            </a:avLst>
          </a:prstGeom>
          <a:solidFill>
            <a:srgbClr val="FFF6E6"/>
          </a:solidFill>
          <a:ln w="12700">
            <a:solidFill>
              <a:srgbClr val="E8B65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41248" y="5760720"/>
            <a:ext cx="10509199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Key milestone — Run #1 co-delivered, end of Q1 (Sep ’26):  </a:t>
            </a:r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Micro Hack delivered live; partner pursuit team certified. Q2–Q3: partners repeat independently while we scale to other GSIs and SDCs.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Ask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this motion as the execution layer for building apps &amp; workloads on Fabric — not a parallel track.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2572436" cy="2926080"/>
          </a:xfrm>
          <a:prstGeom prst="roundRect">
            <a:avLst>
              <a:gd name="adj" fmla="val 284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" y="1481328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9" name="Shape 7"/>
          <p:cNvSpPr/>
          <p:nvPr/>
        </p:nvSpPr>
        <p:spPr>
          <a:xfrm>
            <a:off x="1395946" y="1828800"/>
            <a:ext cx="914400" cy="91440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0" name="Text 8"/>
          <p:cNvSpPr/>
          <p:nvPr/>
        </p:nvSpPr>
        <p:spPr>
          <a:xfrm>
            <a:off x="1395946" y="1819656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👤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66928" y="2926080"/>
            <a:ext cx="25724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Sponsorship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346704"/>
            <a:ext cx="22066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 + EPS leadership behind one ONE-Microsoft motion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395396" y="1481328"/>
            <a:ext cx="2572436" cy="2926080"/>
          </a:xfrm>
          <a:prstGeom prst="roundRect">
            <a:avLst>
              <a:gd name="adj" fmla="val 284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395396" y="1481328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2E9CA8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4414" y="1828800"/>
            <a:ext cx="914400" cy="914400"/>
          </a:xfrm>
          <a:prstGeom prst="ellipse">
            <a:avLst/>
          </a:prstGeom>
          <a:solidFill>
            <a:srgbClr val="2E9CA8"/>
          </a:solidFill>
          <a:ln/>
        </p:spPr>
      </p:sp>
      <p:sp>
        <p:nvSpPr>
          <p:cNvPr id="16" name="Text 14"/>
          <p:cNvSpPr/>
          <p:nvPr/>
        </p:nvSpPr>
        <p:spPr>
          <a:xfrm>
            <a:off x="4224414" y="1819656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💵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395396" y="2926080"/>
            <a:ext cx="25724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578276" y="3346704"/>
            <a:ext cx="22066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kit + scenarios and run the first co-delivered sessions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23864" y="1481328"/>
            <a:ext cx="2572436" cy="2926080"/>
          </a:xfrm>
          <a:prstGeom prst="roundRect">
            <a:avLst>
              <a:gd name="adj" fmla="val 284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23864" y="1481328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B14FD8"/>
          </a:solidFill>
          <a:ln/>
        </p:spPr>
      </p:sp>
      <p:sp>
        <p:nvSpPr>
          <p:cNvPr id="21" name="Shape 19"/>
          <p:cNvSpPr/>
          <p:nvPr/>
        </p:nvSpPr>
        <p:spPr>
          <a:xfrm>
            <a:off x="7052882" y="1828800"/>
            <a:ext cx="914400" cy="914400"/>
          </a:xfrm>
          <a:prstGeom prst="ellipse">
            <a:avLst/>
          </a:prstGeom>
          <a:solidFill>
            <a:srgbClr val="B14FD8"/>
          </a:solidFill>
          <a:ln/>
        </p:spPr>
      </p:sp>
      <p:sp>
        <p:nvSpPr>
          <p:cNvPr id="22" name="Text 20"/>
          <p:cNvSpPr/>
          <p:nvPr/>
        </p:nvSpPr>
        <p:spPr>
          <a:xfrm>
            <a:off x="7052882" y="1819656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🤖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223864" y="2926080"/>
            <a:ext cx="25724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Workloads PM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06744" y="3346704"/>
            <a:ext cx="22066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with the Extensibility Toolkit roadmap and the Workload Hub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052331" y="1481328"/>
            <a:ext cx="2572436" cy="2926080"/>
          </a:xfrm>
          <a:prstGeom prst="roundRect">
            <a:avLst>
              <a:gd name="adj" fmla="val 284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052331" y="1481328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2E9E63"/>
          </a:solidFill>
          <a:ln/>
        </p:spPr>
      </p:sp>
      <p:sp>
        <p:nvSpPr>
          <p:cNvPr id="27" name="Shape 25"/>
          <p:cNvSpPr/>
          <p:nvPr/>
        </p:nvSpPr>
        <p:spPr>
          <a:xfrm>
            <a:off x="9881349" y="1828800"/>
            <a:ext cx="914400" cy="914400"/>
          </a:xfrm>
          <a:prstGeom prst="ellipse">
            <a:avLst/>
          </a:prstGeom>
          <a:solidFill>
            <a:srgbClr val="2E9E63"/>
          </a:solidFill>
          <a:ln/>
        </p:spPr>
      </p:sp>
      <p:sp>
        <p:nvSpPr>
          <p:cNvPr id="28" name="Text 26"/>
          <p:cNvSpPr/>
          <p:nvPr/>
        </p:nvSpPr>
        <p:spPr>
          <a:xfrm>
            <a:off x="9881349" y="1819656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🔗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9052331" y="2926080"/>
            <a:ext cx="25724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Microsoft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235211" y="3346704"/>
            <a:ext cx="22066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SDC + Advisory → one execution layer, not parallel tracks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4663440"/>
            <a:ext cx="11057839" cy="1234440"/>
          </a:xfrm>
          <a:prstGeom prst="roundRect">
            <a:avLst>
              <a:gd name="adj" fmla="val 5926"/>
            </a:avLst>
          </a:prstGeom>
          <a:solidFill>
            <a:srgbClr val="1F3A5F"/>
          </a:solidFill>
          <a:ln/>
        </p:spPr>
      </p:sp>
      <p:sp>
        <p:nvSpPr>
          <p:cNvPr id="32" name="Text 30"/>
          <p:cNvSpPr/>
          <p:nvPr/>
        </p:nvSpPr>
        <p:spPr>
          <a:xfrm>
            <a:off x="841248" y="4754880"/>
            <a:ext cx="1050919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“good” looks like 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Fabric / app conversation becomes a real opportunity or a built workload —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in the Micro Hack, owned and repeated by the partner.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114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l" indent="0" marL="0">
              <a:buNone/>
            </a:pPr>
            <a:r>
              <a:rPr lang="en-US" sz="1200" dirty="0">
                <a:solidFill>
                  <a:srgbClr val="BC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l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688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 build it. The partner repeats it.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3520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motion · two paths · one repeatable vehicle — </a:t>
            </a:r>
            <a:pPr indent="0" marL="0">
              <a:buNone/>
            </a:pPr>
            <a:r>
              <a:rPr lang="en-US" sz="2200" b="1" i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“Micro Hack”.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59436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for v-team review · FY27 EMEA EPS — Fabric Apps Motion · June 2026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13087" y="63550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BC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2026-06-17T09:35:15Z</dcterms:created>
  <dcterms:modified xsi:type="dcterms:W3CDTF">2026-06-17T09:35:15Z</dcterms:modified>
</cp:coreProperties>
</file>