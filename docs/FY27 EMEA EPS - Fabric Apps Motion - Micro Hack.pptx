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11480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EMEA </a:t>
            </a:r>
            <a:pPr algn="l" indent="0" marL="0">
              <a:buNone/>
            </a:pPr>
            <a:r>
              <a:rPr lang="en-US" sz="1200" dirty="0">
                <a:solidFill>
                  <a:srgbClr val="BCD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| </a:t>
            </a:r>
            <a:pPr algn="l" indent="0" marL="0">
              <a:buNone/>
            </a:pPr>
            <a:r>
              <a:rPr lang="en-US" sz="1200" b="1" dirty="0">
                <a:solidFill>
                  <a:srgbClr val="2FB6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EPS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2148840"/>
            <a:ext cx="107899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FY27 EMEA EPS — Fabric Apps Motion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566928" y="3200400"/>
            <a:ext cx="10789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3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paths to Microsoft Fabric, enabled through </a:t>
            </a:r>
            <a:pPr indent="0" marL="0">
              <a:buNone/>
            </a:pPr>
            <a:r>
              <a:rPr lang="en-US" sz="2300" b="1" i="1" dirty="0">
                <a:solidFill>
                  <a:srgbClr val="2FB6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“Micro Hack”</a:t>
            </a:r>
            <a:endParaRPr lang="en-US" sz="2300" dirty="0"/>
          </a:p>
        </p:txBody>
      </p:sp>
      <p:sp>
        <p:nvSpPr>
          <p:cNvPr id="5" name="Shape 3"/>
          <p:cNvSpPr/>
          <p:nvPr/>
        </p:nvSpPr>
        <p:spPr>
          <a:xfrm>
            <a:off x="566928" y="4069080"/>
            <a:ext cx="6035040" cy="566928"/>
          </a:xfrm>
          <a:prstGeom prst="roundRect">
            <a:avLst>
              <a:gd name="adj" fmla="val 50000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AEC9E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95528" y="4069080"/>
            <a:ext cx="566928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AF2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Draft for v-team review · to be finalized end of June 2026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566928" y="489204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BFD6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EMEA · Owner: EPS Tech / GTM · Two micro-hacks: Apps (Rayfin) + Workloads (Extensibility Toolkit)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566928" y="5989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June 2026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9613087" y="6355080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EMEA </a:t>
            </a:r>
            <a:pPr algn="r" indent="0" marL="0">
              <a:buNone/>
            </a:pPr>
            <a:r>
              <a:rPr lang="en-US" sz="1200" dirty="0">
                <a:solidFill>
                  <a:srgbClr val="BCD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| </a:t>
            </a:r>
            <a:pPr algn="r" indent="0" marL="0">
              <a:buNone/>
            </a:pPr>
            <a:r>
              <a:rPr lang="en-US" sz="1200" b="1" dirty="0">
                <a:solidFill>
                  <a:srgbClr val="2FB6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EPS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11057839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F3A5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Executive Summary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66928" y="914400"/>
            <a:ext cx="11057839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i="1" dirty="0">
                <a:solidFill>
                  <a:srgbClr val="5E7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motion, two execution paths — both powered by a single, repeatable vehicle: the “Micro Hack”.</a:t>
            </a:r>
            <a:endParaRPr lang="en-US" sz="1450" dirty="0"/>
          </a:p>
        </p:txBody>
      </p:sp>
      <p:sp>
        <p:nvSpPr>
          <p:cNvPr id="4" name="Text 2"/>
          <p:cNvSpPr/>
          <p:nvPr/>
        </p:nvSpPr>
        <p:spPr>
          <a:xfrm>
            <a:off x="566928" y="6519672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E7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FY27 EMEA EPS · Fabric Apps Motion — the “Micro Hack”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638648" y="6519672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E7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9613087" y="6501384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EMEA </a:t>
            </a:r>
            <a:pPr algn="r" indent="0" marL="0">
              <a:buNone/>
            </a:pPr>
            <a:r>
              <a:rPr lang="en-US" sz="1200" dirty="0">
                <a:solidFill>
                  <a:srgbClr val="5E7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| </a:t>
            </a:r>
            <a:pPr algn="r" indent="0" marL="0">
              <a:buNone/>
            </a:pPr>
            <a:r>
              <a:rPr lang="en-US" sz="1200" b="1" dirty="0">
                <a:solidFill>
                  <a:srgbClr val="2FB6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EPS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66928" y="1481328"/>
            <a:ext cx="5394960" cy="3017520"/>
          </a:xfrm>
          <a:prstGeom prst="roundRect">
            <a:avLst>
              <a:gd name="adj" fmla="val 2424"/>
            </a:avLst>
          </a:prstGeom>
          <a:solidFill>
            <a:srgbClr val="FFFFFF"/>
          </a:solidFill>
          <a:ln w="12700">
            <a:solidFill>
              <a:srgbClr val="D6E2F0"/>
            </a:solidFill>
            <a:prstDash val="solid"/>
          </a:ln>
          <a:effectLst>
            <a:outerShdw sx="100000" sy="100000" kx="0" ky="0" algn="bl" rotWithShape="0" blurRad="88900" dist="25400" dir="5400000">
              <a:srgbClr val="8AA0BC">
                <a:alpha val="28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566928" y="1481328"/>
            <a:ext cx="5394960" cy="109728"/>
          </a:xfrm>
          <a:prstGeom prst="roundRect">
            <a:avLst>
              <a:gd name="adj" fmla="val 50000"/>
            </a:avLst>
          </a:prstGeom>
          <a:solidFill>
            <a:srgbClr val="0F6CBD"/>
          </a:solidFill>
          <a:ln/>
        </p:spPr>
      </p:sp>
      <p:sp>
        <p:nvSpPr>
          <p:cNvPr id="9" name="Shape 7"/>
          <p:cNvSpPr/>
          <p:nvPr/>
        </p:nvSpPr>
        <p:spPr>
          <a:xfrm>
            <a:off x="841248" y="1792224"/>
            <a:ext cx="868680" cy="868680"/>
          </a:xfrm>
          <a:prstGeom prst="ellipse">
            <a:avLst/>
          </a:prstGeom>
          <a:solidFill>
            <a:srgbClr val="0F6CBD"/>
          </a:solidFill>
          <a:ln/>
        </p:spPr>
      </p:sp>
      <p:sp>
        <p:nvSpPr>
          <p:cNvPr id="10" name="Text 8"/>
          <p:cNvSpPr/>
          <p:nvPr/>
        </p:nvSpPr>
        <p:spPr>
          <a:xfrm>
            <a:off x="841248" y="1783080"/>
            <a:ext cx="8686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500" dirty="0">
                <a:solidFill>
                  <a:srgbClr val="FFFFFF"/>
                </a:solidFill>
                <a:latin typeface="Segoe UI Emoji" pitchFamily="34" charset="0"/>
                <a:ea typeface="Segoe UI Emoji" pitchFamily="34" charset="-122"/>
                <a:cs typeface="Segoe UI Emoji" pitchFamily="34" charset="-120"/>
              </a:rPr>
              <a:t>🗄️</a:t>
            </a:r>
            <a:endParaRPr lang="en-US" sz="2500" dirty="0"/>
          </a:p>
        </p:txBody>
      </p:sp>
      <p:sp>
        <p:nvSpPr>
          <p:cNvPr id="11" name="Text 9"/>
          <p:cNvSpPr/>
          <p:nvPr/>
        </p:nvSpPr>
        <p:spPr>
          <a:xfrm>
            <a:off x="1892808" y="1792224"/>
            <a:ext cx="39319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Path A — Apps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1892808" y="2176272"/>
            <a:ext cx="39319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6C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 Integrators (SI / advisory) · start with the GSIs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877824" y="2807208"/>
            <a:ext cx="4846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E7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Outcome we drive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877824" y="3072384"/>
            <a:ext cx="4828032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1F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&amp; ship business apps on Microsoft Fabric with Rayfin — partner-led, on governed OneLake data.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877824" y="3813048"/>
            <a:ext cx="4773168" cy="530352"/>
          </a:xfrm>
          <a:prstGeom prst="roundRect">
            <a:avLst>
              <a:gd name="adj" fmla="val 8621"/>
            </a:avLst>
          </a:prstGeom>
          <a:solidFill>
            <a:srgbClr val="E7F1FB"/>
          </a:solidFill>
          <a:ln/>
        </p:spPr>
      </p:sp>
      <p:sp>
        <p:nvSpPr>
          <p:cNvPr id="16" name="Text 14"/>
          <p:cNvSpPr/>
          <p:nvPr/>
        </p:nvSpPr>
        <p:spPr>
          <a:xfrm>
            <a:off x="1024128" y="3813048"/>
            <a:ext cx="4498848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F6C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PRIMARY KPI   </a:t>
            </a:r>
            <a:pPr indent="0" marL="0">
              <a:buNone/>
            </a:pPr>
            <a:r>
              <a:rPr lang="en-US" sz="1250" b="1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# of opportunities created (MSX)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6144768" y="1481328"/>
            <a:ext cx="5394960" cy="3017520"/>
          </a:xfrm>
          <a:prstGeom prst="roundRect">
            <a:avLst>
              <a:gd name="adj" fmla="val 2424"/>
            </a:avLst>
          </a:prstGeom>
          <a:solidFill>
            <a:srgbClr val="FFFFFF"/>
          </a:solidFill>
          <a:ln w="12700">
            <a:solidFill>
              <a:srgbClr val="D6E2F0"/>
            </a:solidFill>
            <a:prstDash val="solid"/>
          </a:ln>
          <a:effectLst>
            <a:outerShdw sx="100000" sy="100000" kx="0" ky="0" algn="bl" rotWithShape="0" blurRad="88900" dist="25400" dir="5400000">
              <a:srgbClr val="8AA0BC">
                <a:alpha val="28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144768" y="1481328"/>
            <a:ext cx="5394960" cy="109728"/>
          </a:xfrm>
          <a:prstGeom prst="roundRect">
            <a:avLst>
              <a:gd name="adj" fmla="val 50000"/>
            </a:avLst>
          </a:prstGeom>
          <a:solidFill>
            <a:srgbClr val="B14FD8"/>
          </a:solidFill>
          <a:ln/>
        </p:spPr>
      </p:sp>
      <p:sp>
        <p:nvSpPr>
          <p:cNvPr id="19" name="Shape 17"/>
          <p:cNvSpPr/>
          <p:nvPr/>
        </p:nvSpPr>
        <p:spPr>
          <a:xfrm>
            <a:off x="6419088" y="1792224"/>
            <a:ext cx="868680" cy="868680"/>
          </a:xfrm>
          <a:prstGeom prst="ellipse">
            <a:avLst/>
          </a:prstGeom>
          <a:solidFill>
            <a:srgbClr val="B14FD8"/>
          </a:solidFill>
          <a:ln/>
        </p:spPr>
      </p:sp>
      <p:sp>
        <p:nvSpPr>
          <p:cNvPr id="20" name="Text 18"/>
          <p:cNvSpPr/>
          <p:nvPr/>
        </p:nvSpPr>
        <p:spPr>
          <a:xfrm>
            <a:off x="6419088" y="1783080"/>
            <a:ext cx="8686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500" dirty="0">
                <a:solidFill>
                  <a:srgbClr val="FFFFFF"/>
                </a:solidFill>
                <a:latin typeface="Segoe UI Emoji" pitchFamily="34" charset="0"/>
                <a:ea typeface="Segoe UI Emoji" pitchFamily="34" charset="-122"/>
                <a:cs typeface="Segoe UI Emoji" pitchFamily="34" charset="-120"/>
              </a:rPr>
              <a:t>🧩</a:t>
            </a:r>
            <a:endParaRPr lang="en-US" sz="2500" dirty="0"/>
          </a:p>
        </p:txBody>
      </p:sp>
      <p:sp>
        <p:nvSpPr>
          <p:cNvPr id="21" name="Text 19"/>
          <p:cNvSpPr/>
          <p:nvPr/>
        </p:nvSpPr>
        <p:spPr>
          <a:xfrm>
            <a:off x="7470648" y="1792224"/>
            <a:ext cx="39319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Path B — Adoption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7470648" y="2176272"/>
            <a:ext cx="39319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14F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Development Companies (SDC / ISV)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6455664" y="2807208"/>
            <a:ext cx="4846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E7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Outcome we drive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6455664" y="3072384"/>
            <a:ext cx="4828032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1F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managed SDC embeds a Fabric workload in its offer — so every customer consumes a data workload.</a:t>
            </a:r>
            <a:endParaRPr lang="en-US" sz="1350" dirty="0"/>
          </a:p>
        </p:txBody>
      </p:sp>
      <p:sp>
        <p:nvSpPr>
          <p:cNvPr id="25" name="Shape 23"/>
          <p:cNvSpPr/>
          <p:nvPr/>
        </p:nvSpPr>
        <p:spPr>
          <a:xfrm>
            <a:off x="6455664" y="3813048"/>
            <a:ext cx="4773168" cy="530352"/>
          </a:xfrm>
          <a:prstGeom prst="roundRect">
            <a:avLst>
              <a:gd name="adj" fmla="val 8621"/>
            </a:avLst>
          </a:prstGeom>
          <a:solidFill>
            <a:srgbClr val="F6EAFB"/>
          </a:solidFill>
          <a:ln/>
        </p:spPr>
      </p:sp>
      <p:sp>
        <p:nvSpPr>
          <p:cNvPr id="26" name="Text 24"/>
          <p:cNvSpPr/>
          <p:nvPr/>
        </p:nvSpPr>
        <p:spPr>
          <a:xfrm>
            <a:off x="6601968" y="3813048"/>
            <a:ext cx="4498848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B14F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PRIMARY KPI   </a:t>
            </a:r>
            <a:pPr indent="0" marL="0">
              <a:buNone/>
            </a:pPr>
            <a:r>
              <a:rPr lang="en-US" sz="1250" b="1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% of managed SDCs that built a workload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566928" y="4645152"/>
            <a:ext cx="11057839" cy="1298448"/>
          </a:xfrm>
          <a:prstGeom prst="roundRect">
            <a:avLst>
              <a:gd name="adj" fmla="val 5634"/>
            </a:avLst>
          </a:prstGeom>
          <a:solidFill>
            <a:srgbClr val="1F3A5F"/>
          </a:solidFill>
          <a:ln/>
        </p:spPr>
      </p:sp>
      <p:sp>
        <p:nvSpPr>
          <p:cNvPr id="28" name="Text 26"/>
          <p:cNvSpPr/>
          <p:nvPr/>
        </p:nvSpPr>
        <p:spPr>
          <a:xfrm>
            <a:off x="841248" y="4736592"/>
            <a:ext cx="10509199" cy="11155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FB6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idea   </a:t>
            </a:r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Microsoft does not build new tooling — Fabric, Rayfin, the Extensibility Toolkit and the GitHub Copilot CLI already exist. We package </a:t>
            </a:r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turnkey, repeatable vehicle — the “Micro Hack” — that an SI or SDC can run themselves.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11057839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F3A5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The Motion at a Glance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66928" y="914400"/>
            <a:ext cx="11057839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i="1" dirty="0">
                <a:solidFill>
                  <a:srgbClr val="5E7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“We build it, the partner repeats it.” — one operational vehicle, two partner paths.</a:t>
            </a:r>
            <a:endParaRPr lang="en-US" sz="1450" dirty="0"/>
          </a:p>
        </p:txBody>
      </p:sp>
      <p:sp>
        <p:nvSpPr>
          <p:cNvPr id="4" name="Text 2"/>
          <p:cNvSpPr/>
          <p:nvPr/>
        </p:nvSpPr>
        <p:spPr>
          <a:xfrm>
            <a:off x="566928" y="6519672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E7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FY27 EMEA EPS · Fabric Apps Motion — the “Micro Hack”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638648" y="6519672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E7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9613087" y="6501384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EMEA </a:t>
            </a:r>
            <a:pPr algn="r" indent="0" marL="0">
              <a:buNone/>
            </a:pPr>
            <a:r>
              <a:rPr lang="en-US" sz="1200" dirty="0">
                <a:solidFill>
                  <a:srgbClr val="5E7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| </a:t>
            </a:r>
            <a:pPr algn="r" indent="0" marL="0">
              <a:buNone/>
            </a:pPr>
            <a:r>
              <a:rPr lang="en-US" sz="1200" b="1" dirty="0">
                <a:solidFill>
                  <a:srgbClr val="2FB6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EPS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66928" y="2148840"/>
            <a:ext cx="2468880" cy="1874520"/>
          </a:xfrm>
          <a:prstGeom prst="roundRect">
            <a:avLst>
              <a:gd name="adj" fmla="val 4878"/>
            </a:avLst>
          </a:prstGeom>
          <a:solidFill>
            <a:srgbClr val="1F3A5F"/>
          </a:solidFill>
          <a:ln/>
        </p:spPr>
      </p:sp>
      <p:sp>
        <p:nvSpPr>
          <p:cNvPr id="8" name="Shape 6"/>
          <p:cNvSpPr/>
          <p:nvPr/>
        </p:nvSpPr>
        <p:spPr>
          <a:xfrm>
            <a:off x="1435608" y="2377440"/>
            <a:ext cx="731520" cy="731520"/>
          </a:xfrm>
          <a:prstGeom prst="ellipse">
            <a:avLst/>
          </a:prstGeom>
          <a:solidFill>
            <a:srgbClr val="0F6CBD"/>
          </a:solidFill>
          <a:ln/>
        </p:spPr>
      </p:sp>
      <p:sp>
        <p:nvSpPr>
          <p:cNvPr id="9" name="Text 7"/>
          <p:cNvSpPr/>
          <p:nvPr/>
        </p:nvSpPr>
        <p:spPr>
          <a:xfrm>
            <a:off x="1435608" y="2368296"/>
            <a:ext cx="731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100" dirty="0">
                <a:solidFill>
                  <a:srgbClr val="FFFFFF"/>
                </a:solidFill>
                <a:latin typeface="Segoe UI Emoji" pitchFamily="34" charset="0"/>
                <a:ea typeface="Segoe UI Emoji" pitchFamily="34" charset="-122"/>
                <a:cs typeface="Segoe UI Emoji" pitchFamily="34" charset="-120"/>
              </a:rPr>
              <a:t>⚙️</a:t>
            </a:r>
            <a:endParaRPr lang="en-US" sz="2100" dirty="0"/>
          </a:p>
        </p:txBody>
      </p:sp>
      <p:sp>
        <p:nvSpPr>
          <p:cNvPr id="10" name="Text 8"/>
          <p:cNvSpPr/>
          <p:nvPr/>
        </p:nvSpPr>
        <p:spPr>
          <a:xfrm>
            <a:off x="566928" y="3200400"/>
            <a:ext cx="2468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Microsoft EPS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749808" y="347472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FE0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builds the kit + reference scenarios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3081528" y="3081528"/>
            <a:ext cx="548640" cy="0"/>
          </a:xfrm>
          <a:prstGeom prst="line">
            <a:avLst/>
          </a:prstGeom>
          <a:noFill/>
          <a:ln w="22225">
            <a:solidFill>
              <a:srgbClr val="0F6CBD"/>
            </a:solidFill>
            <a:prstDash val="solid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3246120" y="1783080"/>
            <a:ext cx="37490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9050">
            <a:solidFill>
              <a:srgbClr val="0F6CBD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754880" y="1938528"/>
            <a:ext cx="731520" cy="731520"/>
          </a:xfrm>
          <a:prstGeom prst="ellipse">
            <a:avLst/>
          </a:prstGeom>
          <a:solidFill>
            <a:srgbClr val="0F6CBD"/>
          </a:solidFill>
          <a:ln/>
        </p:spPr>
      </p:sp>
      <p:sp>
        <p:nvSpPr>
          <p:cNvPr id="15" name="Text 13"/>
          <p:cNvSpPr/>
          <p:nvPr/>
        </p:nvSpPr>
        <p:spPr>
          <a:xfrm>
            <a:off x="4754880" y="1929384"/>
            <a:ext cx="731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100" dirty="0">
                <a:solidFill>
                  <a:srgbClr val="FFFFFF"/>
                </a:solidFill>
                <a:latin typeface="Segoe UI Emoji" pitchFamily="34" charset="0"/>
                <a:ea typeface="Segoe UI Emoji" pitchFamily="34" charset="-122"/>
                <a:cs typeface="Segoe UI Emoji" pitchFamily="34" charset="-120"/>
              </a:rPr>
              <a:t>⚡</a:t>
            </a:r>
            <a:endParaRPr lang="en-US" sz="2100" dirty="0"/>
          </a:p>
        </p:txBody>
      </p:sp>
      <p:sp>
        <p:nvSpPr>
          <p:cNvPr id="16" name="Text 14"/>
          <p:cNvSpPr/>
          <p:nvPr/>
        </p:nvSpPr>
        <p:spPr>
          <a:xfrm>
            <a:off x="3246120" y="2697480"/>
            <a:ext cx="3749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F3A5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Micro Hack</a:t>
            </a:r>
            <a:endParaRPr lang="en-US" sz="2200" dirty="0"/>
          </a:p>
        </p:txBody>
      </p:sp>
      <p:sp>
        <p:nvSpPr>
          <p:cNvPr id="17" name="Text 15"/>
          <p:cNvSpPr/>
          <p:nvPr/>
        </p:nvSpPr>
        <p:spPr>
          <a:xfrm>
            <a:off x="3246120" y="3063240"/>
            <a:ext cx="3749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5E7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day · repeatable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3474720" y="3419856"/>
            <a:ext cx="3291840" cy="502920"/>
          </a:xfrm>
          <a:prstGeom prst="roundRect">
            <a:avLst>
              <a:gd name="adj" fmla="val 9091"/>
            </a:avLst>
          </a:prstGeom>
          <a:solidFill>
            <a:srgbClr val="E7F1FB"/>
          </a:solidFill>
          <a:ln/>
        </p:spPr>
      </p:sp>
      <p:sp>
        <p:nvSpPr>
          <p:cNvPr id="19" name="Text 17"/>
          <p:cNvSpPr/>
          <p:nvPr/>
        </p:nvSpPr>
        <p:spPr>
          <a:xfrm>
            <a:off x="3611880" y="3419856"/>
            <a:ext cx="31089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6C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Morning — Content  </a:t>
            </a:r>
            <a:pPr indent="0" marL="0">
              <a:buNone/>
            </a:pPr>
            <a:r>
              <a:rPr lang="en-US" sz="1100" dirty="0">
                <a:solidFill>
                  <a:srgbClr val="1F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Fabric · Rayfin · Toolkit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3474720" y="3986784"/>
            <a:ext cx="3291840" cy="502920"/>
          </a:xfrm>
          <a:prstGeom prst="roundRect">
            <a:avLst>
              <a:gd name="adj" fmla="val 9091"/>
            </a:avLst>
          </a:prstGeom>
          <a:solidFill>
            <a:srgbClr val="F6EAFB"/>
          </a:solidFill>
          <a:ln/>
        </p:spPr>
      </p:sp>
      <p:sp>
        <p:nvSpPr>
          <p:cNvPr id="21" name="Text 19"/>
          <p:cNvSpPr/>
          <p:nvPr/>
        </p:nvSpPr>
        <p:spPr>
          <a:xfrm>
            <a:off x="3611880" y="3986784"/>
            <a:ext cx="31089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14F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Afternoon — Build  </a:t>
            </a:r>
            <a:pPr indent="0" marL="0">
              <a:buNone/>
            </a:pPr>
            <a:r>
              <a:rPr lang="en-US" sz="1100" dirty="0">
                <a:solidFill>
                  <a:srgbClr val="1F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scenario in → app / workload out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6995160" y="2468880"/>
            <a:ext cx="502920" cy="-45720"/>
          </a:xfrm>
          <a:prstGeom prst="line">
            <a:avLst/>
          </a:prstGeom>
          <a:noFill/>
          <a:ln w="22225">
            <a:solidFill>
              <a:srgbClr val="0F6CBD"/>
            </a:solidFill>
            <a:prstDash val="solid"/>
            <a:tailEnd type="triangle"/>
          </a:ln>
        </p:spPr>
      </p:sp>
      <p:sp>
        <p:nvSpPr>
          <p:cNvPr id="23" name="Shape 21"/>
          <p:cNvSpPr/>
          <p:nvPr/>
        </p:nvSpPr>
        <p:spPr>
          <a:xfrm>
            <a:off x="6995160" y="3886200"/>
            <a:ext cx="502920" cy="45720"/>
          </a:xfrm>
          <a:prstGeom prst="line">
            <a:avLst/>
          </a:prstGeom>
          <a:noFill/>
          <a:ln w="22225">
            <a:solidFill>
              <a:srgbClr val="B14FD8"/>
            </a:solidFill>
            <a:prstDash val="solid"/>
            <a:tailEnd type="triangle"/>
          </a:ln>
        </p:spPr>
      </p:sp>
      <p:sp>
        <p:nvSpPr>
          <p:cNvPr id="24" name="Shape 22"/>
          <p:cNvSpPr/>
          <p:nvPr/>
        </p:nvSpPr>
        <p:spPr>
          <a:xfrm>
            <a:off x="7498080" y="1874520"/>
            <a:ext cx="4126687" cy="123444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12700">
            <a:solidFill>
              <a:srgbClr val="D6E2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498080" y="1874520"/>
            <a:ext cx="91440" cy="1234440"/>
          </a:xfrm>
          <a:prstGeom prst="rect">
            <a:avLst/>
          </a:prstGeom>
          <a:solidFill>
            <a:srgbClr val="0F6CBD"/>
          </a:solidFill>
          <a:ln/>
        </p:spPr>
      </p:sp>
      <p:sp>
        <p:nvSpPr>
          <p:cNvPr id="26" name="Text 24"/>
          <p:cNvSpPr/>
          <p:nvPr/>
        </p:nvSpPr>
        <p:spPr>
          <a:xfrm>
            <a:off x="7726680" y="1975104"/>
            <a:ext cx="3760927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Path A — SI / advisory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7726680" y="2249424"/>
            <a:ext cx="3715207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E7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repeat the Micro Hack with their own customers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7726680" y="2615184"/>
            <a:ext cx="3669487" cy="402336"/>
          </a:xfrm>
          <a:prstGeom prst="roundRect">
            <a:avLst>
              <a:gd name="adj" fmla="val 11364"/>
            </a:avLst>
          </a:prstGeom>
          <a:solidFill>
            <a:srgbClr val="E7F1FB"/>
          </a:solidFill>
          <a:ln/>
        </p:spPr>
      </p:sp>
      <p:sp>
        <p:nvSpPr>
          <p:cNvPr id="29" name="Text 27"/>
          <p:cNvSpPr/>
          <p:nvPr/>
        </p:nvSpPr>
        <p:spPr>
          <a:xfrm>
            <a:off x="7872984" y="2615184"/>
            <a:ext cx="3395167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F6C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KPI   </a:t>
            </a:r>
            <a:pPr indent="0" marL="0">
              <a:buNone/>
            </a:pPr>
            <a:r>
              <a:rPr lang="en-US" sz="1250" b="1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# opportunities (MSX)</a:t>
            </a:r>
            <a:endParaRPr lang="en-US" sz="1050" dirty="0"/>
          </a:p>
        </p:txBody>
      </p:sp>
      <p:sp>
        <p:nvSpPr>
          <p:cNvPr id="30" name="Shape 28"/>
          <p:cNvSpPr/>
          <p:nvPr/>
        </p:nvSpPr>
        <p:spPr>
          <a:xfrm>
            <a:off x="7498080" y="3246120"/>
            <a:ext cx="4126687" cy="1325880"/>
          </a:xfrm>
          <a:prstGeom prst="roundRect">
            <a:avLst>
              <a:gd name="adj" fmla="val 5517"/>
            </a:avLst>
          </a:prstGeom>
          <a:solidFill>
            <a:srgbClr val="FFFFFF"/>
          </a:solidFill>
          <a:ln w="12700">
            <a:solidFill>
              <a:srgbClr val="D6E2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7498080" y="3246120"/>
            <a:ext cx="91440" cy="1325880"/>
          </a:xfrm>
          <a:prstGeom prst="rect">
            <a:avLst/>
          </a:prstGeom>
          <a:solidFill>
            <a:srgbClr val="B14FD8"/>
          </a:solidFill>
          <a:ln/>
        </p:spPr>
      </p:sp>
      <p:sp>
        <p:nvSpPr>
          <p:cNvPr id="32" name="Text 30"/>
          <p:cNvSpPr/>
          <p:nvPr/>
        </p:nvSpPr>
        <p:spPr>
          <a:xfrm>
            <a:off x="7726680" y="3346704"/>
            <a:ext cx="3760927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Path B — SDC / ISV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7726680" y="3621024"/>
            <a:ext cx="3715207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E7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embed a Fabric workload → every customer adopts</a:t>
            </a:r>
            <a:endParaRPr lang="en-US" sz="1150" dirty="0"/>
          </a:p>
        </p:txBody>
      </p:sp>
      <p:sp>
        <p:nvSpPr>
          <p:cNvPr id="34" name="Shape 32"/>
          <p:cNvSpPr/>
          <p:nvPr/>
        </p:nvSpPr>
        <p:spPr>
          <a:xfrm>
            <a:off x="7726680" y="4078224"/>
            <a:ext cx="3669487" cy="402336"/>
          </a:xfrm>
          <a:prstGeom prst="roundRect">
            <a:avLst>
              <a:gd name="adj" fmla="val 11364"/>
            </a:avLst>
          </a:prstGeom>
          <a:solidFill>
            <a:srgbClr val="F6EAFB"/>
          </a:solidFill>
          <a:ln/>
        </p:spPr>
      </p:sp>
      <p:sp>
        <p:nvSpPr>
          <p:cNvPr id="35" name="Text 33"/>
          <p:cNvSpPr/>
          <p:nvPr/>
        </p:nvSpPr>
        <p:spPr>
          <a:xfrm>
            <a:off x="7872984" y="4078224"/>
            <a:ext cx="3395167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B14F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KPI   </a:t>
            </a:r>
            <a:pPr indent="0" marL="0">
              <a:buNone/>
            </a:pPr>
            <a:r>
              <a:rPr lang="en-US" sz="1250" b="1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# workloads per SDC</a:t>
            </a:r>
            <a:endParaRPr lang="en-US" sz="1050" dirty="0"/>
          </a:p>
        </p:txBody>
      </p:sp>
      <p:sp>
        <p:nvSpPr>
          <p:cNvPr id="36" name="Shape 34"/>
          <p:cNvSpPr/>
          <p:nvPr/>
        </p:nvSpPr>
        <p:spPr>
          <a:xfrm>
            <a:off x="566928" y="4983480"/>
            <a:ext cx="11057839" cy="914400"/>
          </a:xfrm>
          <a:prstGeom prst="roundRect">
            <a:avLst>
              <a:gd name="adj" fmla="val 8000"/>
            </a:avLst>
          </a:prstGeom>
          <a:solidFill>
            <a:srgbClr val="F1F6FC"/>
          </a:solidFill>
          <a:ln w="12700">
            <a:solidFill>
              <a:srgbClr val="D6E2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841248" y="4983480"/>
            <a:ext cx="10509199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F6C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Operating principle   </a:t>
            </a:r>
            <a:pPr indent="0" marL="0">
              <a:buNone/>
            </a:pPr>
            <a:r>
              <a:rPr lang="en-US" sz="1300" dirty="0">
                <a:solidFill>
                  <a:srgbClr val="1F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every FY27 EPS motion we ship a highly operational vehicle (here: the Micro Hack). Microsoft builds and co-delivers the first run; the partner then owns and repeats it.</a:t>
            </a:r>
            <a:endParaRPr lang="en-US" sz="13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11057839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F3A5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Strategic Context — the simplified “why now”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66928" y="914400"/>
            <a:ext cx="11057839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i="1" dirty="0">
                <a:solidFill>
                  <a:srgbClr val="5E7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Enough to open a customer conversation, no more — the one-slide version of the narrative.</a:t>
            </a:r>
            <a:endParaRPr lang="en-US" sz="1450" dirty="0"/>
          </a:p>
        </p:txBody>
      </p:sp>
      <p:sp>
        <p:nvSpPr>
          <p:cNvPr id="4" name="Text 2"/>
          <p:cNvSpPr/>
          <p:nvPr/>
        </p:nvSpPr>
        <p:spPr>
          <a:xfrm>
            <a:off x="566928" y="6519672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E7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FY27 EMEA EPS · Fabric Apps Motion — the “Micro Hack”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638648" y="6519672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E7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9613087" y="6501384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EMEA </a:t>
            </a:r>
            <a:pPr algn="r" indent="0" marL="0">
              <a:buNone/>
            </a:pPr>
            <a:r>
              <a:rPr lang="en-US" sz="1200" dirty="0">
                <a:solidFill>
                  <a:srgbClr val="5E7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| </a:t>
            </a:r>
            <a:pPr algn="r" indent="0" marL="0">
              <a:buNone/>
            </a:pPr>
            <a:r>
              <a:rPr lang="en-US" sz="1200" b="1" dirty="0">
                <a:solidFill>
                  <a:srgbClr val="2FB6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EPS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66928" y="1417320"/>
            <a:ext cx="2572436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6E2F0"/>
            </a:solidFill>
            <a:prstDash val="solid"/>
          </a:ln>
          <a:effectLst>
            <a:outerShdw sx="100000" sy="100000" kx="0" ky="0" algn="bl" rotWithShape="0" blurRad="88900" dist="25400" dir="5400000">
              <a:srgbClr val="8AA0BC">
                <a:alpha val="28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566928" y="1417320"/>
            <a:ext cx="2572436" cy="109728"/>
          </a:xfrm>
          <a:prstGeom prst="roundRect">
            <a:avLst>
              <a:gd name="adj" fmla="val 50000"/>
            </a:avLst>
          </a:prstGeom>
          <a:solidFill>
            <a:srgbClr val="E0455E"/>
          </a:solidFill>
          <a:ln/>
        </p:spPr>
      </p:sp>
      <p:sp>
        <p:nvSpPr>
          <p:cNvPr id="9" name="Text 7"/>
          <p:cNvSpPr/>
          <p:nvPr/>
        </p:nvSpPr>
        <p:spPr>
          <a:xfrm>
            <a:off x="566928" y="1627632"/>
            <a:ext cx="2572436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E0455E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60%</a:t>
            </a:r>
            <a:endParaRPr lang="en-US" sz="3800" dirty="0"/>
          </a:p>
        </p:txBody>
      </p:sp>
      <p:sp>
        <p:nvSpPr>
          <p:cNvPr id="10" name="Text 8"/>
          <p:cNvSpPr/>
          <p:nvPr/>
        </p:nvSpPr>
        <p:spPr>
          <a:xfrm>
            <a:off x="704088" y="2286000"/>
            <a:ext cx="2298116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AI projects without AI-ready data will be abandoned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566928" y="2962656"/>
            <a:ext cx="2572436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5E7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Gartner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395396" y="1417320"/>
            <a:ext cx="2572436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6E2F0"/>
            </a:solidFill>
            <a:prstDash val="solid"/>
          </a:ln>
          <a:effectLst>
            <a:outerShdw sx="100000" sy="100000" kx="0" ky="0" algn="bl" rotWithShape="0" blurRad="88900" dist="25400" dir="5400000">
              <a:srgbClr val="8AA0BC">
                <a:alpha val="28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3395396" y="1417320"/>
            <a:ext cx="2572436" cy="109728"/>
          </a:xfrm>
          <a:prstGeom prst="roundRect">
            <a:avLst>
              <a:gd name="adj" fmla="val 50000"/>
            </a:avLst>
          </a:prstGeom>
          <a:solidFill>
            <a:srgbClr val="0F6CBD"/>
          </a:solidFill>
          <a:ln/>
        </p:spPr>
      </p:sp>
      <p:sp>
        <p:nvSpPr>
          <p:cNvPr id="14" name="Text 12"/>
          <p:cNvSpPr/>
          <p:nvPr/>
        </p:nvSpPr>
        <p:spPr>
          <a:xfrm>
            <a:off x="3395396" y="1627632"/>
            <a:ext cx="2572436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0F6CBD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83%</a:t>
            </a:r>
            <a:endParaRPr lang="en-US" sz="3800" dirty="0"/>
          </a:p>
        </p:txBody>
      </p:sp>
      <p:sp>
        <p:nvSpPr>
          <p:cNvPr id="15" name="Text 13"/>
          <p:cNvSpPr/>
          <p:nvPr/>
        </p:nvSpPr>
        <p:spPr>
          <a:xfrm>
            <a:off x="3532556" y="2286000"/>
            <a:ext cx="2298116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leaders say stronger data infrastructure would speed AI adoption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3395396" y="2962656"/>
            <a:ext cx="2572436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5E7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Accenture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6223864" y="1417320"/>
            <a:ext cx="2572436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6E2F0"/>
            </a:solidFill>
            <a:prstDash val="solid"/>
          </a:ln>
          <a:effectLst>
            <a:outerShdw sx="100000" sy="100000" kx="0" ky="0" algn="bl" rotWithShape="0" blurRad="88900" dist="25400" dir="5400000">
              <a:srgbClr val="8AA0BC">
                <a:alpha val="28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223864" y="1417320"/>
            <a:ext cx="2572436" cy="109728"/>
          </a:xfrm>
          <a:prstGeom prst="roundRect">
            <a:avLst>
              <a:gd name="adj" fmla="val 50000"/>
            </a:avLst>
          </a:prstGeom>
          <a:solidFill>
            <a:srgbClr val="2E9CA8"/>
          </a:solidFill>
          <a:ln/>
        </p:spPr>
      </p:sp>
      <p:sp>
        <p:nvSpPr>
          <p:cNvPr id="19" name="Text 17"/>
          <p:cNvSpPr/>
          <p:nvPr/>
        </p:nvSpPr>
        <p:spPr>
          <a:xfrm>
            <a:off x="6223864" y="1627632"/>
            <a:ext cx="2572436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2E9CA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+95.6%</a:t>
            </a:r>
            <a:endParaRPr lang="en-US" sz="3800" dirty="0"/>
          </a:p>
        </p:txBody>
      </p:sp>
      <p:sp>
        <p:nvSpPr>
          <p:cNvPr id="20" name="Text 18"/>
          <p:cNvSpPr/>
          <p:nvPr/>
        </p:nvSpPr>
        <p:spPr>
          <a:xfrm>
            <a:off x="6361024" y="2286000"/>
            <a:ext cx="2298116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higher win rate when an opportunity is shared with a partner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6223864" y="2962656"/>
            <a:ext cx="2572436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5E7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Partner effect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9052331" y="1417320"/>
            <a:ext cx="2572436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6E2F0"/>
            </a:solidFill>
            <a:prstDash val="solid"/>
          </a:ln>
          <a:effectLst>
            <a:outerShdw sx="100000" sy="100000" kx="0" ky="0" algn="bl" rotWithShape="0" blurRad="88900" dist="25400" dir="5400000">
              <a:srgbClr val="8AA0BC">
                <a:alpha val="28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9052331" y="1417320"/>
            <a:ext cx="2572436" cy="109728"/>
          </a:xfrm>
          <a:prstGeom prst="roundRect">
            <a:avLst>
              <a:gd name="adj" fmla="val 50000"/>
            </a:avLst>
          </a:prstGeom>
          <a:solidFill>
            <a:srgbClr val="2E9E63"/>
          </a:solidFill>
          <a:ln/>
        </p:spPr>
      </p:sp>
      <p:sp>
        <p:nvSpPr>
          <p:cNvPr id="24" name="Text 22"/>
          <p:cNvSpPr/>
          <p:nvPr/>
        </p:nvSpPr>
        <p:spPr>
          <a:xfrm>
            <a:off x="9052331" y="1627632"/>
            <a:ext cx="2572436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2E9E63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+46%</a:t>
            </a:r>
            <a:endParaRPr lang="en-US" sz="3800" dirty="0"/>
          </a:p>
        </p:txBody>
      </p:sp>
      <p:sp>
        <p:nvSpPr>
          <p:cNvPr id="25" name="Text 23"/>
          <p:cNvSpPr/>
          <p:nvPr/>
        </p:nvSpPr>
        <p:spPr>
          <a:xfrm>
            <a:off x="9189491" y="2286000"/>
            <a:ext cx="2298116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larger deal size when a partner is attached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9052331" y="2962656"/>
            <a:ext cx="2572436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5E7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Partner effect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566928" y="3456432"/>
            <a:ext cx="11057839" cy="841248"/>
          </a:xfrm>
          <a:prstGeom prst="roundRect">
            <a:avLst>
              <a:gd name="adj" fmla="val 8696"/>
            </a:avLst>
          </a:prstGeom>
          <a:solidFill>
            <a:srgbClr val="FFF6E6"/>
          </a:solidFill>
          <a:ln w="12700">
            <a:solidFill>
              <a:srgbClr val="E8B65A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822960" y="3639312"/>
            <a:ext cx="475488" cy="475488"/>
          </a:xfrm>
          <a:prstGeom prst="ellipse">
            <a:avLst/>
          </a:prstGeom>
          <a:solidFill>
            <a:srgbClr val="D98A2B"/>
          </a:solidFill>
          <a:ln/>
        </p:spPr>
      </p:sp>
      <p:sp>
        <p:nvSpPr>
          <p:cNvPr id="29" name="Text 27"/>
          <p:cNvSpPr/>
          <p:nvPr/>
        </p:nvSpPr>
        <p:spPr>
          <a:xfrm>
            <a:off x="822960" y="3630168"/>
            <a:ext cx="47548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Segoe UI Emoji" pitchFamily="34" charset="0"/>
                <a:ea typeface="Segoe UI Emoji" pitchFamily="34" charset="-122"/>
                <a:cs typeface="Segoe UI Emoji" pitchFamily="34" charset="-120"/>
              </a:rPr>
              <a:t>⏰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1481328" y="3456432"/>
            <a:ext cx="9960559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9A5B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Apps are the new compelling event.   </a:t>
            </a:r>
            <a:pPr indent="0" marL="0">
              <a:buNone/>
            </a:pPr>
            <a:r>
              <a:rPr lang="en-US" sz="1250" dirty="0">
                <a:solidFill>
                  <a:srgbClr val="1F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AI-era apps demand governed data. Fabric + Rayfin remove months of backend plumbing, so partners ship on OneLake — governed by default — instead of rebuilding infrastructure.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566928" y="44348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customer frictions to anchor on:</a:t>
            </a:r>
            <a:endParaRPr lang="en-US" sz="1300" dirty="0"/>
          </a:p>
        </p:txBody>
      </p:sp>
      <p:sp>
        <p:nvSpPr>
          <p:cNvPr id="32" name="Shape 30"/>
          <p:cNvSpPr/>
          <p:nvPr/>
        </p:nvSpPr>
        <p:spPr>
          <a:xfrm>
            <a:off x="566928" y="4754880"/>
            <a:ext cx="3503066" cy="109728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D6E2F0"/>
            </a:solidFill>
            <a:prstDash val="solid"/>
          </a:ln>
          <a:effectLst>
            <a:outerShdw sx="100000" sy="100000" kx="0" ky="0" algn="bl" rotWithShape="0" blurRad="76200" dist="25400" dir="5400000">
              <a:srgbClr val="8AA0BC">
                <a:alpha val="25000"/>
              </a:srgbClr>
            </a:outerShdw>
          </a:effectLst>
        </p:spPr>
      </p:sp>
      <p:sp>
        <p:nvSpPr>
          <p:cNvPr id="33" name="Shape 31"/>
          <p:cNvSpPr/>
          <p:nvPr/>
        </p:nvSpPr>
        <p:spPr>
          <a:xfrm>
            <a:off x="795528" y="5029200"/>
            <a:ext cx="548640" cy="548640"/>
          </a:xfrm>
          <a:prstGeom prst="ellipse">
            <a:avLst/>
          </a:prstGeom>
          <a:solidFill>
            <a:srgbClr val="0F6CBD"/>
          </a:solidFill>
          <a:ln/>
        </p:spPr>
      </p:sp>
      <p:sp>
        <p:nvSpPr>
          <p:cNvPr id="34" name="Text 32"/>
          <p:cNvSpPr/>
          <p:nvPr/>
        </p:nvSpPr>
        <p:spPr>
          <a:xfrm>
            <a:off x="795528" y="5020056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Segoe UI Emoji" pitchFamily="34" charset="0"/>
                <a:ea typeface="Segoe UI Emoji" pitchFamily="34" charset="-122"/>
                <a:cs typeface="Segoe UI Emoji" pitchFamily="34" charset="-120"/>
              </a:rPr>
              <a:t>🛡️</a:t>
            </a:r>
            <a:endParaRPr lang="en-US" sz="1600" dirty="0"/>
          </a:p>
        </p:txBody>
      </p:sp>
      <p:sp>
        <p:nvSpPr>
          <p:cNvPr id="35" name="Text 33"/>
          <p:cNvSpPr/>
          <p:nvPr/>
        </p:nvSpPr>
        <p:spPr>
          <a:xfrm>
            <a:off x="1481328" y="4754880"/>
            <a:ext cx="2405786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Stay ahead of AI-era security &amp; governance</a:t>
            </a:r>
            <a:endParaRPr lang="en-US" sz="1300" dirty="0"/>
          </a:p>
        </p:txBody>
      </p:sp>
      <p:sp>
        <p:nvSpPr>
          <p:cNvPr id="36" name="Shape 34"/>
          <p:cNvSpPr/>
          <p:nvPr/>
        </p:nvSpPr>
        <p:spPr>
          <a:xfrm>
            <a:off x="4344314" y="4754880"/>
            <a:ext cx="3503066" cy="109728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D6E2F0"/>
            </a:solidFill>
            <a:prstDash val="solid"/>
          </a:ln>
          <a:effectLst>
            <a:outerShdw sx="100000" sy="100000" kx="0" ky="0" algn="bl" rotWithShape="0" blurRad="76200" dist="25400" dir="5400000">
              <a:srgbClr val="8AA0BC">
                <a:alpha val="25000"/>
              </a:srgbClr>
            </a:outerShdw>
          </a:effectLst>
        </p:spPr>
      </p:sp>
      <p:sp>
        <p:nvSpPr>
          <p:cNvPr id="37" name="Shape 35"/>
          <p:cNvSpPr/>
          <p:nvPr/>
        </p:nvSpPr>
        <p:spPr>
          <a:xfrm>
            <a:off x="4572914" y="5029200"/>
            <a:ext cx="548640" cy="548640"/>
          </a:xfrm>
          <a:prstGeom prst="ellipse">
            <a:avLst/>
          </a:prstGeom>
          <a:solidFill>
            <a:srgbClr val="2E9CA8"/>
          </a:solidFill>
          <a:ln/>
        </p:spPr>
      </p:sp>
      <p:sp>
        <p:nvSpPr>
          <p:cNvPr id="38" name="Text 36"/>
          <p:cNvSpPr/>
          <p:nvPr/>
        </p:nvSpPr>
        <p:spPr>
          <a:xfrm>
            <a:off x="4572914" y="5020056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Segoe UI Emoji" pitchFamily="34" charset="0"/>
                <a:ea typeface="Segoe UI Emoji" pitchFamily="34" charset="-122"/>
                <a:cs typeface="Segoe UI Emoji" pitchFamily="34" charset="-120"/>
              </a:rPr>
              <a:t>🗄️</a:t>
            </a:r>
            <a:endParaRPr lang="en-US" sz="1600" dirty="0"/>
          </a:p>
        </p:txBody>
      </p:sp>
      <p:sp>
        <p:nvSpPr>
          <p:cNvPr id="39" name="Text 37"/>
          <p:cNvSpPr/>
          <p:nvPr/>
        </p:nvSpPr>
        <p:spPr>
          <a:xfrm>
            <a:off x="5258714" y="4754880"/>
            <a:ext cx="2405786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Cut the cost &amp; time of backend plumbing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8121701" y="4754880"/>
            <a:ext cx="3503066" cy="109728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D6E2F0"/>
            </a:solidFill>
            <a:prstDash val="solid"/>
          </a:ln>
          <a:effectLst>
            <a:outerShdw sx="100000" sy="100000" kx="0" ky="0" algn="bl" rotWithShape="0" blurRad="76200" dist="25400" dir="5400000">
              <a:srgbClr val="8AA0BC">
                <a:alpha val="25000"/>
              </a:srgbClr>
            </a:outerShdw>
          </a:effectLst>
        </p:spPr>
      </p:sp>
      <p:sp>
        <p:nvSpPr>
          <p:cNvPr id="41" name="Shape 39"/>
          <p:cNvSpPr/>
          <p:nvPr/>
        </p:nvSpPr>
        <p:spPr>
          <a:xfrm>
            <a:off x="8350301" y="5029200"/>
            <a:ext cx="548640" cy="548640"/>
          </a:xfrm>
          <a:prstGeom prst="ellipse">
            <a:avLst/>
          </a:prstGeom>
          <a:solidFill>
            <a:srgbClr val="B14FD8"/>
          </a:solidFill>
          <a:ln/>
        </p:spPr>
      </p:sp>
      <p:sp>
        <p:nvSpPr>
          <p:cNvPr id="42" name="Text 40"/>
          <p:cNvSpPr/>
          <p:nvPr/>
        </p:nvSpPr>
        <p:spPr>
          <a:xfrm>
            <a:off x="8350301" y="5020056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Segoe UI Emoji" pitchFamily="34" charset="0"/>
                <a:ea typeface="Segoe UI Emoji" pitchFamily="34" charset="-122"/>
                <a:cs typeface="Segoe UI Emoji" pitchFamily="34" charset="-120"/>
              </a:rPr>
              <a:t>🧠</a:t>
            </a:r>
            <a:endParaRPr lang="en-US" sz="1600" dirty="0"/>
          </a:p>
        </p:txBody>
      </p:sp>
      <p:sp>
        <p:nvSpPr>
          <p:cNvPr id="43" name="Text 41"/>
          <p:cNvSpPr/>
          <p:nvPr/>
        </p:nvSpPr>
        <p:spPr>
          <a:xfrm>
            <a:off x="9036101" y="4754880"/>
            <a:ext cx="2405786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Unblock AI innovation on governed data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11057839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F3A5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Path A — SI / Advisory (Apps)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66928" y="914400"/>
            <a:ext cx="11057839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i="1" dirty="0">
                <a:solidFill>
                  <a:srgbClr val="5E7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Focus: GSIs first. Enable partners to build &amp; ship customer business apps on Fabric, partner-led.</a:t>
            </a:r>
            <a:endParaRPr lang="en-US" sz="1450" dirty="0"/>
          </a:p>
        </p:txBody>
      </p:sp>
      <p:sp>
        <p:nvSpPr>
          <p:cNvPr id="4" name="Text 2"/>
          <p:cNvSpPr/>
          <p:nvPr/>
        </p:nvSpPr>
        <p:spPr>
          <a:xfrm>
            <a:off x="566928" y="6519672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E7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FY27 EMEA EPS · Fabric Apps Motion — the “Micro Hack”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638648" y="6519672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E7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9613087" y="6501384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EMEA </a:t>
            </a:r>
            <a:pPr algn="r" indent="0" marL="0">
              <a:buNone/>
            </a:pPr>
            <a:r>
              <a:rPr lang="en-US" sz="1200" dirty="0">
                <a:solidFill>
                  <a:srgbClr val="5E7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| </a:t>
            </a:r>
            <a:pPr algn="r" indent="0" marL="0">
              <a:buNone/>
            </a:pPr>
            <a:r>
              <a:rPr lang="en-US" sz="1200" b="1" dirty="0">
                <a:solidFill>
                  <a:srgbClr val="2FB6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EPS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66928" y="1463040"/>
            <a:ext cx="539496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6E2F0"/>
            </a:solidFill>
            <a:prstDash val="solid"/>
          </a:ln>
          <a:effectLst>
            <a:outerShdw sx="100000" sy="100000" kx="0" ky="0" algn="bl" rotWithShape="0" blurRad="76200" dist="25400" dir="5400000">
              <a:srgbClr val="8AA0BC">
                <a:alpha val="25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841248" y="1737360"/>
            <a:ext cx="822960" cy="822960"/>
          </a:xfrm>
          <a:prstGeom prst="ellipse">
            <a:avLst/>
          </a:prstGeom>
          <a:solidFill>
            <a:srgbClr val="0F6CBD"/>
          </a:solidFill>
          <a:ln/>
        </p:spPr>
      </p:sp>
      <p:sp>
        <p:nvSpPr>
          <p:cNvPr id="9" name="Text 7"/>
          <p:cNvSpPr/>
          <p:nvPr/>
        </p:nvSpPr>
        <p:spPr>
          <a:xfrm>
            <a:off x="841248" y="1728216"/>
            <a:ext cx="822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300" dirty="0">
                <a:solidFill>
                  <a:srgbClr val="FFFFFF"/>
                </a:solidFill>
                <a:latin typeface="Segoe UI Emoji" pitchFamily="34" charset="0"/>
                <a:ea typeface="Segoe UI Emoji" pitchFamily="34" charset="-122"/>
                <a:cs typeface="Segoe UI Emoji" pitchFamily="34" charset="-120"/>
              </a:rPr>
              <a:t>🎯</a:t>
            </a:r>
            <a:endParaRPr lang="en-US" sz="2300" dirty="0"/>
          </a:p>
        </p:txBody>
      </p:sp>
      <p:sp>
        <p:nvSpPr>
          <p:cNvPr id="10" name="Text 8"/>
          <p:cNvSpPr/>
          <p:nvPr/>
        </p:nvSpPr>
        <p:spPr>
          <a:xfrm>
            <a:off x="1847088" y="1847088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Objective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877824" y="2542032"/>
            <a:ext cx="4791456" cy="6766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F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Enable SIs to build and ship business apps on Microsoft Fabric with Rayfin, led by the partner — on governed OneLake data.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6144768" y="1463040"/>
            <a:ext cx="539496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6E2F0"/>
            </a:solidFill>
            <a:prstDash val="solid"/>
          </a:ln>
          <a:effectLst>
            <a:outerShdw sx="100000" sy="100000" kx="0" ky="0" algn="bl" rotWithShape="0" blurRad="76200" dist="25400" dir="5400000">
              <a:srgbClr val="8AA0BC">
                <a:alpha val="25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6419088" y="1737360"/>
            <a:ext cx="822960" cy="822960"/>
          </a:xfrm>
          <a:prstGeom prst="ellipse">
            <a:avLst/>
          </a:prstGeom>
          <a:solidFill>
            <a:srgbClr val="2E9E63"/>
          </a:solidFill>
          <a:ln/>
        </p:spPr>
      </p:sp>
      <p:sp>
        <p:nvSpPr>
          <p:cNvPr id="14" name="Text 12"/>
          <p:cNvSpPr/>
          <p:nvPr/>
        </p:nvSpPr>
        <p:spPr>
          <a:xfrm>
            <a:off x="6419088" y="1728216"/>
            <a:ext cx="822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300" dirty="0">
                <a:solidFill>
                  <a:srgbClr val="FFFFFF"/>
                </a:solidFill>
                <a:latin typeface="Segoe UI Emoji" pitchFamily="34" charset="0"/>
                <a:ea typeface="Segoe UI Emoji" pitchFamily="34" charset="-122"/>
                <a:cs typeface="Segoe UI Emoji" pitchFamily="34" charset="-120"/>
              </a:rPr>
              <a:t>📈</a:t>
            </a:r>
            <a:endParaRPr lang="en-US" sz="2300" dirty="0"/>
          </a:p>
        </p:txBody>
      </p:sp>
      <p:sp>
        <p:nvSpPr>
          <p:cNvPr id="15" name="Text 13"/>
          <p:cNvSpPr/>
          <p:nvPr/>
        </p:nvSpPr>
        <p:spPr>
          <a:xfrm>
            <a:off x="7424928" y="1847088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Primary KPI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6455664" y="2542032"/>
            <a:ext cx="4791456" cy="6766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F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Number of opportunities created in MSX (partner-sourced or partner-shared) — ACR vision.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566928" y="3493008"/>
            <a:ext cx="539496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6E2F0"/>
            </a:solidFill>
            <a:prstDash val="solid"/>
          </a:ln>
          <a:effectLst>
            <a:outerShdw sx="100000" sy="100000" kx="0" ky="0" algn="bl" rotWithShape="0" blurRad="76200" dist="25400" dir="5400000">
              <a:srgbClr val="8AA0BC">
                <a:alpha val="25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841248" y="3767328"/>
            <a:ext cx="822960" cy="822960"/>
          </a:xfrm>
          <a:prstGeom prst="ellipse">
            <a:avLst/>
          </a:prstGeom>
          <a:solidFill>
            <a:srgbClr val="2E9CA8"/>
          </a:solidFill>
          <a:ln/>
        </p:spPr>
      </p:sp>
      <p:sp>
        <p:nvSpPr>
          <p:cNvPr id="19" name="Text 17"/>
          <p:cNvSpPr/>
          <p:nvPr/>
        </p:nvSpPr>
        <p:spPr>
          <a:xfrm>
            <a:off x="841248" y="3758184"/>
            <a:ext cx="822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300" dirty="0">
                <a:solidFill>
                  <a:srgbClr val="FFFFFF"/>
                </a:solidFill>
                <a:latin typeface="Segoe UI Emoji" pitchFamily="34" charset="0"/>
                <a:ea typeface="Segoe UI Emoji" pitchFamily="34" charset="-122"/>
                <a:cs typeface="Segoe UI Emoji" pitchFamily="34" charset="-120"/>
              </a:rPr>
              <a:t>🔄</a:t>
            </a:r>
            <a:endParaRPr lang="en-US" sz="2300" dirty="0"/>
          </a:p>
        </p:txBody>
      </p:sp>
      <p:sp>
        <p:nvSpPr>
          <p:cNvPr id="20" name="Text 18"/>
          <p:cNvSpPr/>
          <p:nvPr/>
        </p:nvSpPr>
        <p:spPr>
          <a:xfrm>
            <a:off x="1847088" y="3877056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Secondary KPIs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877824" y="4572000"/>
            <a:ext cx="4791456" cy="6766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F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# of “Micro Hack” days repeated by the partner · # of apps deployed to Fabric · Azure/Fabric pipeline.</a:t>
            </a:r>
            <a:endParaRPr lang="en-US" sz="1250" dirty="0"/>
          </a:p>
        </p:txBody>
      </p:sp>
      <p:sp>
        <p:nvSpPr>
          <p:cNvPr id="22" name="Shape 20"/>
          <p:cNvSpPr/>
          <p:nvPr/>
        </p:nvSpPr>
        <p:spPr>
          <a:xfrm>
            <a:off x="6144768" y="3493008"/>
            <a:ext cx="539496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6E2F0"/>
            </a:solidFill>
            <a:prstDash val="solid"/>
          </a:ln>
          <a:effectLst>
            <a:outerShdw sx="100000" sy="100000" kx="0" ky="0" algn="bl" rotWithShape="0" blurRad="76200" dist="25400" dir="5400000">
              <a:srgbClr val="8AA0BC">
                <a:alpha val="25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6419088" y="3767328"/>
            <a:ext cx="822960" cy="822960"/>
          </a:xfrm>
          <a:prstGeom prst="ellipse">
            <a:avLst/>
          </a:prstGeom>
          <a:solidFill>
            <a:srgbClr val="B14FD8"/>
          </a:solidFill>
          <a:ln/>
        </p:spPr>
      </p:sp>
      <p:sp>
        <p:nvSpPr>
          <p:cNvPr id="24" name="Text 22"/>
          <p:cNvSpPr/>
          <p:nvPr/>
        </p:nvSpPr>
        <p:spPr>
          <a:xfrm>
            <a:off x="6419088" y="3758184"/>
            <a:ext cx="822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300" dirty="0">
                <a:solidFill>
                  <a:srgbClr val="FFFFFF"/>
                </a:solidFill>
                <a:latin typeface="Segoe UI Emoji" pitchFamily="34" charset="0"/>
                <a:ea typeface="Segoe UI Emoji" pitchFamily="34" charset="-122"/>
                <a:cs typeface="Segoe UI Emoji" pitchFamily="34" charset="-120"/>
              </a:rPr>
              <a:t>👤</a:t>
            </a:r>
            <a:endParaRPr lang="en-US" sz="2300" dirty="0"/>
          </a:p>
        </p:txBody>
      </p:sp>
      <p:sp>
        <p:nvSpPr>
          <p:cNvPr id="25" name="Text 23"/>
          <p:cNvSpPr/>
          <p:nvPr/>
        </p:nvSpPr>
        <p:spPr>
          <a:xfrm>
            <a:off x="7424928" y="3877056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 role</a:t>
            </a:r>
            <a:endParaRPr lang="en-US" sz="1800" dirty="0"/>
          </a:p>
        </p:txBody>
      </p:sp>
      <p:sp>
        <p:nvSpPr>
          <p:cNvPr id="26" name="Text 24"/>
          <p:cNvSpPr/>
          <p:nvPr/>
        </p:nvSpPr>
        <p:spPr>
          <a:xfrm>
            <a:off x="6455664" y="4572000"/>
            <a:ext cx="4791456" cy="6766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F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 per country + EPS (PDM / PSA), with one executive sponsor per SI / GSI.</a:t>
            </a:r>
            <a:endParaRPr lang="en-US" sz="12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11057839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F3A5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The Vehicle — Micro Hack 1 (Apps) agenda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66928" y="914400"/>
            <a:ext cx="11057839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i="1" dirty="0">
                <a:solidFill>
                  <a:srgbClr val="5E7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fixed, repeatable one-day format. Microsoft co-delivers run #1; the SI repeats runs #2…N independently.</a:t>
            </a:r>
            <a:endParaRPr lang="en-US" sz="1450" dirty="0"/>
          </a:p>
        </p:txBody>
      </p:sp>
      <p:sp>
        <p:nvSpPr>
          <p:cNvPr id="4" name="Text 2"/>
          <p:cNvSpPr/>
          <p:nvPr/>
        </p:nvSpPr>
        <p:spPr>
          <a:xfrm>
            <a:off x="566928" y="6519672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E7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FY27 EMEA EPS · Fabric Apps Motion — the “Micro Hack”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638648" y="6519672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E7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9613087" y="6501384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EMEA </a:t>
            </a:r>
            <a:pPr algn="r" indent="0" marL="0">
              <a:buNone/>
            </a:pPr>
            <a:r>
              <a:rPr lang="en-US" sz="1200" dirty="0">
                <a:solidFill>
                  <a:srgbClr val="5E7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| </a:t>
            </a:r>
            <a:pPr algn="r" indent="0" marL="0">
              <a:buNone/>
            </a:pPr>
            <a:r>
              <a:rPr lang="en-US" sz="1200" b="1" dirty="0">
                <a:solidFill>
                  <a:srgbClr val="2FB6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EPS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66928" y="1444752"/>
            <a:ext cx="5394960" cy="512064"/>
          </a:xfrm>
          <a:prstGeom prst="roundRect">
            <a:avLst>
              <a:gd name="adj" fmla="val 10714"/>
            </a:avLst>
          </a:prstGeom>
          <a:solidFill>
            <a:srgbClr val="0F6CBD"/>
          </a:solidFill>
          <a:ln/>
        </p:spPr>
      </p:sp>
      <p:sp>
        <p:nvSpPr>
          <p:cNvPr id="8" name="Text 6"/>
          <p:cNvSpPr/>
          <p:nvPr/>
        </p:nvSpPr>
        <p:spPr>
          <a:xfrm>
            <a:off x="694944" y="1444752"/>
            <a:ext cx="45720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Segoe UI Emoji" pitchFamily="34" charset="0"/>
                <a:ea typeface="Segoe UI Emoji" pitchFamily="34" charset="-122"/>
                <a:cs typeface="Segoe UI Emoji" pitchFamily="34" charset="-120"/>
              </a:rPr>
              <a:t>☀️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1170432" y="1444752"/>
            <a:ext cx="466344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MORNING — Content  (MS → Partner)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6144768" y="1444752"/>
            <a:ext cx="5394960" cy="512064"/>
          </a:xfrm>
          <a:prstGeom prst="roundRect">
            <a:avLst>
              <a:gd name="adj" fmla="val 10714"/>
            </a:avLst>
          </a:prstGeom>
          <a:solidFill>
            <a:srgbClr val="B14FD8"/>
          </a:solidFill>
          <a:ln/>
        </p:spPr>
      </p:sp>
      <p:sp>
        <p:nvSpPr>
          <p:cNvPr id="11" name="Text 9"/>
          <p:cNvSpPr/>
          <p:nvPr/>
        </p:nvSpPr>
        <p:spPr>
          <a:xfrm>
            <a:off x="6272784" y="1444752"/>
            <a:ext cx="45720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Segoe UI Emoji" pitchFamily="34" charset="0"/>
                <a:ea typeface="Segoe UI Emoji" pitchFamily="34" charset="-122"/>
                <a:cs typeface="Segoe UI Emoji" pitchFamily="34" charset="-120"/>
              </a:rPr>
              <a:t>🤖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6748272" y="1444752"/>
            <a:ext cx="466344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AFTERNOON — Build + Demo  (MS → Partner)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566928" y="2084832"/>
            <a:ext cx="5394960" cy="621792"/>
          </a:xfrm>
          <a:prstGeom prst="roundRect">
            <a:avLst>
              <a:gd name="adj" fmla="val 8824"/>
            </a:avLst>
          </a:prstGeom>
          <a:solidFill>
            <a:srgbClr val="FFFFFF"/>
          </a:solidFill>
          <a:ln w="12700">
            <a:solidFill>
              <a:srgbClr val="D6E2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13232" y="2203704"/>
            <a:ext cx="384048" cy="384048"/>
          </a:xfrm>
          <a:prstGeom prst="ellipse">
            <a:avLst/>
          </a:prstGeom>
          <a:solidFill>
            <a:srgbClr val="0F6CBD"/>
          </a:solidFill>
          <a:ln/>
        </p:spPr>
      </p:sp>
      <p:sp>
        <p:nvSpPr>
          <p:cNvPr id="15" name="Text 13"/>
          <p:cNvSpPr/>
          <p:nvPr/>
        </p:nvSpPr>
        <p:spPr>
          <a:xfrm>
            <a:off x="713232" y="219456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1225296" y="2084832"/>
            <a:ext cx="461772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build on Fabric   </a:t>
            </a:r>
            <a:pPr indent="0" marL="0">
              <a:buNone/>
            </a:pPr>
            <a:r>
              <a:rPr lang="en-US" sz="1150" dirty="0">
                <a:solidFill>
                  <a:srgbClr val="5E7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managed backend · governance on OneLake · time-to-app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566928" y="2798064"/>
            <a:ext cx="5394960" cy="621792"/>
          </a:xfrm>
          <a:prstGeom prst="roundRect">
            <a:avLst>
              <a:gd name="adj" fmla="val 8824"/>
            </a:avLst>
          </a:prstGeom>
          <a:solidFill>
            <a:srgbClr val="FFFFFF"/>
          </a:solidFill>
          <a:ln w="12700">
            <a:solidFill>
              <a:srgbClr val="D6E2F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916936"/>
            <a:ext cx="384048" cy="384048"/>
          </a:xfrm>
          <a:prstGeom prst="ellipse">
            <a:avLst/>
          </a:prstGeom>
          <a:solidFill>
            <a:srgbClr val="0F6CBD"/>
          </a:solidFill>
          <a:ln/>
        </p:spPr>
      </p:sp>
      <p:sp>
        <p:nvSpPr>
          <p:cNvPr id="19" name="Text 17"/>
          <p:cNvSpPr/>
          <p:nvPr/>
        </p:nvSpPr>
        <p:spPr>
          <a:xfrm>
            <a:off x="713232" y="2907792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1225296" y="2798064"/>
            <a:ext cx="461772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Rayfin foundations   </a:t>
            </a:r>
            <a:pPr indent="0" marL="0">
              <a:buNone/>
            </a:pPr>
            <a:r>
              <a:rPr lang="en-US" sz="1150" dirty="0">
                <a:solidFill>
                  <a:srgbClr val="5E7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model = database · auth, APIs, hosting · deploy in one command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566928" y="3511296"/>
            <a:ext cx="5394960" cy="621792"/>
          </a:xfrm>
          <a:prstGeom prst="roundRect">
            <a:avLst>
              <a:gd name="adj" fmla="val 8824"/>
            </a:avLst>
          </a:prstGeom>
          <a:solidFill>
            <a:srgbClr val="FFFFFF"/>
          </a:solidFill>
          <a:ln w="12700">
            <a:solidFill>
              <a:srgbClr val="D6E2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713232" y="3630168"/>
            <a:ext cx="384048" cy="384048"/>
          </a:xfrm>
          <a:prstGeom prst="ellipse">
            <a:avLst/>
          </a:prstGeom>
          <a:solidFill>
            <a:srgbClr val="0F6CBD"/>
          </a:solidFill>
          <a:ln/>
        </p:spPr>
      </p:sp>
      <p:sp>
        <p:nvSpPr>
          <p:cNvPr id="23" name="Text 21"/>
          <p:cNvSpPr/>
          <p:nvPr/>
        </p:nvSpPr>
        <p:spPr>
          <a:xfrm>
            <a:off x="713232" y="3621024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1225296" y="3511296"/>
            <a:ext cx="461772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   </a:t>
            </a:r>
            <a:pPr indent="0" marL="0">
              <a:buNone/>
            </a:pPr>
            <a:r>
              <a:rPr lang="en-US" sz="1150" dirty="0">
                <a:solidFill>
                  <a:srgbClr val="5E7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Helios Bicycle Studio built live with the GitHub Copilot CLI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566928" y="4224528"/>
            <a:ext cx="5394960" cy="621792"/>
          </a:xfrm>
          <a:prstGeom prst="roundRect">
            <a:avLst>
              <a:gd name="adj" fmla="val 8824"/>
            </a:avLst>
          </a:prstGeom>
          <a:solidFill>
            <a:srgbClr val="FFFFFF"/>
          </a:solidFill>
          <a:ln w="12700">
            <a:solidFill>
              <a:srgbClr val="D6E2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713232" y="4343400"/>
            <a:ext cx="384048" cy="384048"/>
          </a:xfrm>
          <a:prstGeom prst="ellipse">
            <a:avLst/>
          </a:prstGeom>
          <a:solidFill>
            <a:srgbClr val="0F6CBD"/>
          </a:solidFill>
          <a:ln/>
        </p:spPr>
      </p:sp>
      <p:sp>
        <p:nvSpPr>
          <p:cNvPr id="27" name="Text 25"/>
          <p:cNvSpPr/>
          <p:nvPr/>
        </p:nvSpPr>
        <p:spPr>
          <a:xfrm>
            <a:off x="713232" y="4334256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1225296" y="4224528"/>
            <a:ext cx="461772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 the build   </a:t>
            </a:r>
            <a:pPr indent="0" marL="0">
              <a:buNone/>
            </a:pPr>
            <a:r>
              <a:rPr lang="en-US" sz="1150" dirty="0">
                <a:solidFill>
                  <a:srgbClr val="5E7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pick the scenario · data model · screens · roles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6144768" y="2084832"/>
            <a:ext cx="5394960" cy="621792"/>
          </a:xfrm>
          <a:prstGeom prst="roundRect">
            <a:avLst>
              <a:gd name="adj" fmla="val 8824"/>
            </a:avLst>
          </a:prstGeom>
          <a:solidFill>
            <a:srgbClr val="FFFFFF"/>
          </a:solidFill>
          <a:ln w="12700">
            <a:solidFill>
              <a:srgbClr val="D6E2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291072" y="2203704"/>
            <a:ext cx="384048" cy="384048"/>
          </a:xfrm>
          <a:prstGeom prst="ellipse">
            <a:avLst/>
          </a:prstGeom>
          <a:solidFill>
            <a:srgbClr val="B14FD8"/>
          </a:solidFill>
          <a:ln/>
        </p:spPr>
      </p:sp>
      <p:sp>
        <p:nvSpPr>
          <p:cNvPr id="31" name="Text 29"/>
          <p:cNvSpPr/>
          <p:nvPr/>
        </p:nvSpPr>
        <p:spPr>
          <a:xfrm>
            <a:off x="6291072" y="219456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6803136" y="2084832"/>
            <a:ext cx="461772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sprint 1   </a:t>
            </a:r>
            <a:pPr indent="0" marL="0">
              <a:buNone/>
            </a:pPr>
            <a:r>
              <a:rPr lang="en-US" sz="1150" dirty="0">
                <a:solidFill>
                  <a:srgbClr val="5E7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scaffold, declare the data model (Rayfin provisions the DB), core screens</a:t>
            </a:r>
            <a:endParaRPr lang="en-US" sz="1150" dirty="0"/>
          </a:p>
        </p:txBody>
      </p:sp>
      <p:sp>
        <p:nvSpPr>
          <p:cNvPr id="33" name="Shape 31"/>
          <p:cNvSpPr/>
          <p:nvPr/>
        </p:nvSpPr>
        <p:spPr>
          <a:xfrm>
            <a:off x="6144768" y="2798064"/>
            <a:ext cx="5394960" cy="621792"/>
          </a:xfrm>
          <a:prstGeom prst="roundRect">
            <a:avLst>
              <a:gd name="adj" fmla="val 8824"/>
            </a:avLst>
          </a:prstGeom>
          <a:solidFill>
            <a:srgbClr val="FFF6E6"/>
          </a:solidFill>
          <a:ln w="12700">
            <a:solidFill>
              <a:srgbClr val="E8B65A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6291072" y="2916936"/>
            <a:ext cx="384048" cy="384048"/>
          </a:xfrm>
          <a:prstGeom prst="ellipse">
            <a:avLst/>
          </a:prstGeom>
          <a:solidFill>
            <a:srgbClr val="D98A2B"/>
          </a:solidFill>
          <a:ln/>
        </p:spPr>
      </p:sp>
      <p:sp>
        <p:nvSpPr>
          <p:cNvPr id="35" name="Text 33"/>
          <p:cNvSpPr/>
          <p:nvPr/>
        </p:nvSpPr>
        <p:spPr>
          <a:xfrm>
            <a:off x="6291072" y="2907792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300" dirty="0"/>
          </a:p>
        </p:txBody>
      </p:sp>
      <p:sp>
        <p:nvSpPr>
          <p:cNvPr id="36" name="Text 34"/>
          <p:cNvSpPr/>
          <p:nvPr/>
        </p:nvSpPr>
        <p:spPr>
          <a:xfrm>
            <a:off x="6803136" y="2798064"/>
            <a:ext cx="461772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★ Build sprint 2   </a:t>
            </a:r>
            <a:pPr indent="0" marL="0">
              <a:buNone/>
            </a:pPr>
            <a:r>
              <a:rPr lang="en-US" sz="1150" dirty="0">
                <a:solidFill>
                  <a:srgbClr val="5E7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extend, polish, deploy to Fabric (rayfin up), demo</a:t>
            </a:r>
            <a:endParaRPr lang="en-US" sz="1150" dirty="0"/>
          </a:p>
        </p:txBody>
      </p:sp>
      <p:sp>
        <p:nvSpPr>
          <p:cNvPr id="37" name="Shape 35"/>
          <p:cNvSpPr/>
          <p:nvPr/>
        </p:nvSpPr>
        <p:spPr>
          <a:xfrm>
            <a:off x="6144768" y="3511296"/>
            <a:ext cx="5394960" cy="621792"/>
          </a:xfrm>
          <a:prstGeom prst="roundRect">
            <a:avLst>
              <a:gd name="adj" fmla="val 8824"/>
            </a:avLst>
          </a:prstGeom>
          <a:solidFill>
            <a:srgbClr val="FFFFFF"/>
          </a:solidFill>
          <a:ln w="12700">
            <a:solidFill>
              <a:srgbClr val="D6E2F0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6291072" y="3630168"/>
            <a:ext cx="384048" cy="384048"/>
          </a:xfrm>
          <a:prstGeom prst="ellipse">
            <a:avLst/>
          </a:prstGeom>
          <a:solidFill>
            <a:srgbClr val="B14FD8"/>
          </a:solidFill>
          <a:ln/>
        </p:spPr>
      </p:sp>
      <p:sp>
        <p:nvSpPr>
          <p:cNvPr id="39" name="Text 37"/>
          <p:cNvSpPr/>
          <p:nvPr/>
        </p:nvSpPr>
        <p:spPr>
          <a:xfrm>
            <a:off x="6291072" y="3621024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300" dirty="0"/>
          </a:p>
        </p:txBody>
      </p:sp>
      <p:sp>
        <p:nvSpPr>
          <p:cNvPr id="40" name="Text 38"/>
          <p:cNvSpPr/>
          <p:nvPr/>
        </p:nvSpPr>
        <p:spPr>
          <a:xfrm>
            <a:off x="6803136" y="3511296"/>
            <a:ext cx="461772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 &amp; next steps   </a:t>
            </a:r>
            <a:pPr indent="0" marL="0">
              <a:buNone/>
            </a:pPr>
            <a:r>
              <a:rPr lang="en-US" sz="1150" dirty="0">
                <a:solidFill>
                  <a:srgbClr val="5E7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turn the app into an MSX opportunity + a 90-day plan</a:t>
            </a:r>
            <a:endParaRPr lang="en-US" sz="1150" dirty="0"/>
          </a:p>
        </p:txBody>
      </p:sp>
      <p:sp>
        <p:nvSpPr>
          <p:cNvPr id="41" name="Shape 39"/>
          <p:cNvSpPr/>
          <p:nvPr/>
        </p:nvSpPr>
        <p:spPr>
          <a:xfrm>
            <a:off x="566928" y="5486400"/>
            <a:ext cx="11057839" cy="713232"/>
          </a:xfrm>
          <a:prstGeom prst="roundRect">
            <a:avLst>
              <a:gd name="adj" fmla="val 10256"/>
            </a:avLst>
          </a:prstGeom>
          <a:solidFill>
            <a:srgbClr val="1F3A5F"/>
          </a:solidFill>
          <a:ln/>
        </p:spPr>
      </p:sp>
      <p:sp>
        <p:nvSpPr>
          <p:cNvPr id="42" name="Text 40"/>
          <p:cNvSpPr/>
          <p:nvPr/>
        </p:nvSpPr>
        <p:spPr>
          <a:xfrm>
            <a:off x="822960" y="5486400"/>
            <a:ext cx="36576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D98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★</a:t>
            </a:r>
            <a:endParaRPr lang="en-US" sz="1600" dirty="0"/>
          </a:p>
        </p:txBody>
      </p:sp>
      <p:sp>
        <p:nvSpPr>
          <p:cNvPr id="43" name="Text 41"/>
          <p:cNvSpPr/>
          <p:nvPr/>
        </p:nvSpPr>
        <p:spPr>
          <a:xfrm>
            <a:off x="1252728" y="5486400"/>
            <a:ext cx="10143439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98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afternoon is the differentiator.   </a:t>
            </a:r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Teams ship a real working app on Fabric — the artifact the SI uses to open and qualify a real opportunity.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11057839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F3A5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Repeatability — the partner runs its own Micro Hack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66928" y="914400"/>
            <a:ext cx="11057839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i="1" dirty="0">
                <a:solidFill>
                  <a:srgbClr val="5E7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motion only scales if the partner repeats it without us. We ship a “Micro Hack in a Box”.</a:t>
            </a:r>
            <a:endParaRPr lang="en-US" sz="1450" dirty="0"/>
          </a:p>
        </p:txBody>
      </p:sp>
      <p:sp>
        <p:nvSpPr>
          <p:cNvPr id="4" name="Text 2"/>
          <p:cNvSpPr/>
          <p:nvPr/>
        </p:nvSpPr>
        <p:spPr>
          <a:xfrm>
            <a:off x="566928" y="6519672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E7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FY27 EMEA EPS · Fabric Apps Motion — the “Micro Hack”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638648" y="6519672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E7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9613087" y="6501384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EMEA </a:t>
            </a:r>
            <a:pPr algn="r" indent="0" marL="0">
              <a:buNone/>
            </a:pPr>
            <a:r>
              <a:rPr lang="en-US" sz="1200" dirty="0">
                <a:solidFill>
                  <a:srgbClr val="5E7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| </a:t>
            </a:r>
            <a:pPr algn="r" indent="0" marL="0">
              <a:buNone/>
            </a:pPr>
            <a:r>
              <a:rPr lang="en-US" sz="1200" b="1" dirty="0">
                <a:solidFill>
                  <a:srgbClr val="2FB6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EPS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66928" y="1463040"/>
            <a:ext cx="2586152" cy="1920240"/>
          </a:xfrm>
          <a:prstGeom prst="roundRect">
            <a:avLst>
              <a:gd name="adj" fmla="val 3810"/>
            </a:avLst>
          </a:prstGeom>
          <a:solidFill>
            <a:srgbClr val="FFFFFF"/>
          </a:solidFill>
          <a:ln w="12700">
            <a:solidFill>
              <a:srgbClr val="D6E2F0"/>
            </a:solidFill>
            <a:prstDash val="solid"/>
          </a:ln>
          <a:effectLst>
            <a:outerShdw sx="100000" sy="100000" kx="0" ky="0" algn="bl" rotWithShape="0" blurRad="76200" dist="25400" dir="5400000">
              <a:srgbClr val="8AA0BC">
                <a:alpha val="25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1475956" y="1664208"/>
            <a:ext cx="768096" cy="768096"/>
          </a:xfrm>
          <a:prstGeom prst="ellipse">
            <a:avLst/>
          </a:prstGeom>
          <a:solidFill>
            <a:srgbClr val="0F6CBD"/>
          </a:solidFill>
          <a:ln/>
        </p:spPr>
      </p:sp>
      <p:sp>
        <p:nvSpPr>
          <p:cNvPr id="9" name="Text 7"/>
          <p:cNvSpPr/>
          <p:nvPr/>
        </p:nvSpPr>
        <p:spPr>
          <a:xfrm>
            <a:off x="1475956" y="1655064"/>
            <a:ext cx="768096" cy="7680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Segoe UI Emoji" pitchFamily="34" charset="0"/>
                <a:ea typeface="Segoe UI Emoji" pitchFamily="34" charset="-122"/>
                <a:cs typeface="Segoe UI Emoji" pitchFamily="34" charset="-120"/>
              </a:rPr>
              <a:t>📖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566928" y="2505456"/>
            <a:ext cx="2586152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Facilitator kit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731520" y="2816352"/>
            <a:ext cx="2256968" cy="5303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E7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deck (morning), demo script, timing guide, FAQ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3390824" y="1463040"/>
            <a:ext cx="2586152" cy="1920240"/>
          </a:xfrm>
          <a:prstGeom prst="roundRect">
            <a:avLst>
              <a:gd name="adj" fmla="val 3810"/>
            </a:avLst>
          </a:prstGeom>
          <a:solidFill>
            <a:srgbClr val="FFFFFF"/>
          </a:solidFill>
          <a:ln w="12700">
            <a:solidFill>
              <a:srgbClr val="D6E2F0"/>
            </a:solidFill>
            <a:prstDash val="solid"/>
          </a:ln>
          <a:effectLst>
            <a:outerShdw sx="100000" sy="100000" kx="0" ky="0" algn="bl" rotWithShape="0" blurRad="76200" dist="25400" dir="5400000">
              <a:srgbClr val="8AA0BC">
                <a:alpha val="25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4299852" y="1664208"/>
            <a:ext cx="768096" cy="768096"/>
          </a:xfrm>
          <a:prstGeom prst="ellipse">
            <a:avLst/>
          </a:prstGeom>
          <a:solidFill>
            <a:srgbClr val="0F6CBD"/>
          </a:solidFill>
          <a:ln/>
        </p:spPr>
      </p:sp>
      <p:sp>
        <p:nvSpPr>
          <p:cNvPr id="14" name="Text 12"/>
          <p:cNvSpPr/>
          <p:nvPr/>
        </p:nvSpPr>
        <p:spPr>
          <a:xfrm>
            <a:off x="4299852" y="1655064"/>
            <a:ext cx="768096" cy="7680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Segoe UI Emoji" pitchFamily="34" charset="0"/>
                <a:ea typeface="Segoe UI Emoji" pitchFamily="34" charset="-122"/>
                <a:cs typeface="Segoe UI Emoji" pitchFamily="34" charset="-120"/>
              </a:rPr>
              <a:t>🤖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3390824" y="2505456"/>
            <a:ext cx="2586152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Copilot CLI access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3555416" y="2816352"/>
            <a:ext cx="2256968" cy="5303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E7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guided way to build the app / workload with the GitHub Copilot CLI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6214720" y="1463040"/>
            <a:ext cx="2586152" cy="1920240"/>
          </a:xfrm>
          <a:prstGeom prst="roundRect">
            <a:avLst>
              <a:gd name="adj" fmla="val 3810"/>
            </a:avLst>
          </a:prstGeom>
          <a:solidFill>
            <a:srgbClr val="FFFFFF"/>
          </a:solidFill>
          <a:ln w="12700">
            <a:solidFill>
              <a:srgbClr val="D6E2F0"/>
            </a:solidFill>
            <a:prstDash val="solid"/>
          </a:ln>
          <a:effectLst>
            <a:outerShdw sx="100000" sy="100000" kx="0" ky="0" algn="bl" rotWithShape="0" blurRad="76200" dist="25400" dir="5400000">
              <a:srgbClr val="8AA0BC">
                <a:alpha val="25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7123748" y="1664208"/>
            <a:ext cx="768096" cy="768096"/>
          </a:xfrm>
          <a:prstGeom prst="ellipse">
            <a:avLst/>
          </a:prstGeom>
          <a:solidFill>
            <a:srgbClr val="0F6CBD"/>
          </a:solidFill>
          <a:ln/>
        </p:spPr>
      </p:sp>
      <p:sp>
        <p:nvSpPr>
          <p:cNvPr id="19" name="Text 17"/>
          <p:cNvSpPr/>
          <p:nvPr/>
        </p:nvSpPr>
        <p:spPr>
          <a:xfrm>
            <a:off x="7123748" y="1655064"/>
            <a:ext cx="768096" cy="7680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Segoe UI Emoji" pitchFamily="34" charset="0"/>
                <a:ea typeface="Segoe UI Emoji" pitchFamily="34" charset="-122"/>
                <a:cs typeface="Segoe UI Emoji" pitchFamily="34" charset="-120"/>
              </a:rPr>
              <a:t>👥</a:t>
            </a:r>
            <a:endParaRPr lang="en-US" sz="2200" dirty="0"/>
          </a:p>
        </p:txBody>
      </p:sp>
      <p:sp>
        <p:nvSpPr>
          <p:cNvPr id="20" name="Text 18"/>
          <p:cNvSpPr/>
          <p:nvPr/>
        </p:nvSpPr>
        <p:spPr>
          <a:xfrm>
            <a:off x="6214720" y="2505456"/>
            <a:ext cx="2586152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Train-the-trainer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6379312" y="2816352"/>
            <a:ext cx="2256968" cy="5303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E7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#1 co-delivered; we certify a partner pursuit team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9038615" y="1463040"/>
            <a:ext cx="2586152" cy="1920240"/>
          </a:xfrm>
          <a:prstGeom prst="roundRect">
            <a:avLst>
              <a:gd name="adj" fmla="val 3810"/>
            </a:avLst>
          </a:prstGeom>
          <a:solidFill>
            <a:srgbClr val="FFFFFF"/>
          </a:solidFill>
          <a:ln w="12700">
            <a:solidFill>
              <a:srgbClr val="D6E2F0"/>
            </a:solidFill>
            <a:prstDash val="solid"/>
          </a:ln>
          <a:effectLst>
            <a:outerShdw sx="100000" sy="100000" kx="0" ky="0" algn="bl" rotWithShape="0" blurRad="76200" dist="25400" dir="5400000">
              <a:srgbClr val="8AA0BC">
                <a:alpha val="25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9947643" y="1664208"/>
            <a:ext cx="768096" cy="768096"/>
          </a:xfrm>
          <a:prstGeom prst="ellipse">
            <a:avLst/>
          </a:prstGeom>
          <a:solidFill>
            <a:srgbClr val="0F6CBD"/>
          </a:solidFill>
          <a:ln/>
        </p:spPr>
      </p:sp>
      <p:sp>
        <p:nvSpPr>
          <p:cNvPr id="24" name="Text 22"/>
          <p:cNvSpPr/>
          <p:nvPr/>
        </p:nvSpPr>
        <p:spPr>
          <a:xfrm>
            <a:off x="9947643" y="1655064"/>
            <a:ext cx="768096" cy="7680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Segoe UI Emoji" pitchFamily="34" charset="0"/>
                <a:ea typeface="Segoe UI Emoji" pitchFamily="34" charset="-122"/>
                <a:cs typeface="Segoe UI Emoji" pitchFamily="34" charset="-120"/>
              </a:rPr>
              <a:t>📈</a:t>
            </a:r>
            <a:endParaRPr lang="en-US" sz="2200" dirty="0"/>
          </a:p>
        </p:txBody>
      </p:sp>
      <p:sp>
        <p:nvSpPr>
          <p:cNvPr id="25" name="Text 23"/>
          <p:cNvSpPr/>
          <p:nvPr/>
        </p:nvSpPr>
        <p:spPr>
          <a:xfrm>
            <a:off x="9038615" y="2505456"/>
            <a:ext cx="2586152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Repeatability KPI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9203207" y="2816352"/>
            <a:ext cx="2256968" cy="5303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E7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# of partner-led sessions and opportunities they generate (MSX)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566928" y="36576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it scales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566928" y="4023360"/>
            <a:ext cx="2421560" cy="1783080"/>
          </a:xfrm>
          <a:prstGeom prst="roundRect">
            <a:avLst>
              <a:gd name="adj" fmla="val 4103"/>
            </a:avLst>
          </a:prstGeom>
          <a:solidFill>
            <a:srgbClr val="1F3A5F"/>
          </a:solidFill>
          <a:ln/>
        </p:spPr>
      </p:sp>
      <p:sp>
        <p:nvSpPr>
          <p:cNvPr id="29" name="Shape 27"/>
          <p:cNvSpPr/>
          <p:nvPr/>
        </p:nvSpPr>
        <p:spPr>
          <a:xfrm>
            <a:off x="1411948" y="4224528"/>
            <a:ext cx="731520" cy="731520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30" name="Text 28"/>
          <p:cNvSpPr/>
          <p:nvPr/>
        </p:nvSpPr>
        <p:spPr>
          <a:xfrm>
            <a:off x="1411948" y="4224528"/>
            <a:ext cx="731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  <a:latin typeface="Segoe UI Emoji" pitchFamily="34" charset="0"/>
                <a:ea typeface="Segoe UI Emoji" pitchFamily="34" charset="-122"/>
                <a:cs typeface="Segoe UI Emoji" pitchFamily="34" charset="-120"/>
              </a:rPr>
              <a:t>⚙️</a:t>
            </a:r>
            <a:endParaRPr lang="en-US" sz="2200" dirty="0"/>
          </a:p>
        </p:txBody>
      </p:sp>
      <p:sp>
        <p:nvSpPr>
          <p:cNvPr id="31" name="Text 29"/>
          <p:cNvSpPr/>
          <p:nvPr/>
        </p:nvSpPr>
        <p:spPr>
          <a:xfrm>
            <a:off x="658368" y="5010912"/>
            <a:ext cx="22386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Microsoft EPS</a:t>
            </a:r>
            <a:endParaRPr lang="en-US" sz="1350" dirty="0"/>
          </a:p>
        </p:txBody>
      </p:sp>
      <p:sp>
        <p:nvSpPr>
          <p:cNvPr id="32" name="Text 30"/>
          <p:cNvSpPr/>
          <p:nvPr/>
        </p:nvSpPr>
        <p:spPr>
          <a:xfrm>
            <a:off x="704088" y="5321808"/>
            <a:ext cx="214724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DCE7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kit + scenarios + facilitator pack</a:t>
            </a:r>
            <a:endParaRPr lang="en-US" sz="1050" dirty="0"/>
          </a:p>
        </p:txBody>
      </p:sp>
      <p:sp>
        <p:nvSpPr>
          <p:cNvPr id="33" name="Shape 31"/>
          <p:cNvSpPr/>
          <p:nvPr/>
        </p:nvSpPr>
        <p:spPr>
          <a:xfrm>
            <a:off x="3043352" y="4914900"/>
            <a:ext cx="347472" cy="0"/>
          </a:xfrm>
          <a:prstGeom prst="line">
            <a:avLst/>
          </a:prstGeom>
          <a:noFill/>
          <a:ln w="22225">
            <a:solidFill>
              <a:srgbClr val="93A6BE"/>
            </a:solidFill>
            <a:prstDash val="solid"/>
            <a:tailEnd type="triangle"/>
          </a:ln>
        </p:spPr>
      </p:sp>
      <p:sp>
        <p:nvSpPr>
          <p:cNvPr id="34" name="Shape 32"/>
          <p:cNvSpPr/>
          <p:nvPr/>
        </p:nvSpPr>
        <p:spPr>
          <a:xfrm>
            <a:off x="3445688" y="4023360"/>
            <a:ext cx="2421560" cy="1783080"/>
          </a:xfrm>
          <a:prstGeom prst="roundRect">
            <a:avLst>
              <a:gd name="adj" fmla="val 4103"/>
            </a:avLst>
          </a:prstGeom>
          <a:solidFill>
            <a:srgbClr val="0F6CBD"/>
          </a:solidFill>
          <a:ln/>
        </p:spPr>
      </p:sp>
      <p:sp>
        <p:nvSpPr>
          <p:cNvPr id="35" name="Shape 33"/>
          <p:cNvSpPr/>
          <p:nvPr/>
        </p:nvSpPr>
        <p:spPr>
          <a:xfrm>
            <a:off x="4290708" y="4224528"/>
            <a:ext cx="731520" cy="731520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36" name="Text 34"/>
          <p:cNvSpPr/>
          <p:nvPr/>
        </p:nvSpPr>
        <p:spPr>
          <a:xfrm>
            <a:off x="4290708" y="4224528"/>
            <a:ext cx="731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  <a:latin typeface="Segoe UI Emoji" pitchFamily="34" charset="0"/>
                <a:ea typeface="Segoe UI Emoji" pitchFamily="34" charset="-122"/>
                <a:cs typeface="Segoe UI Emoji" pitchFamily="34" charset="-120"/>
              </a:rPr>
              <a:t>🤝</a:t>
            </a:r>
            <a:endParaRPr lang="en-US" sz="2200" dirty="0"/>
          </a:p>
        </p:txBody>
      </p:sp>
      <p:sp>
        <p:nvSpPr>
          <p:cNvPr id="37" name="Text 35"/>
          <p:cNvSpPr/>
          <p:nvPr/>
        </p:nvSpPr>
        <p:spPr>
          <a:xfrm>
            <a:off x="3537128" y="5010912"/>
            <a:ext cx="22386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Co-deliver Run #1</a:t>
            </a:r>
            <a:endParaRPr lang="en-US" sz="1350" dirty="0"/>
          </a:p>
        </p:txBody>
      </p:sp>
      <p:sp>
        <p:nvSpPr>
          <p:cNvPr id="38" name="Text 36"/>
          <p:cNvSpPr/>
          <p:nvPr/>
        </p:nvSpPr>
        <p:spPr>
          <a:xfrm>
            <a:off x="3582848" y="5321808"/>
            <a:ext cx="214724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DCE7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Train-the-trainer with the partner team</a:t>
            </a:r>
            <a:endParaRPr lang="en-US" sz="1050" dirty="0"/>
          </a:p>
        </p:txBody>
      </p:sp>
      <p:sp>
        <p:nvSpPr>
          <p:cNvPr id="39" name="Shape 37"/>
          <p:cNvSpPr/>
          <p:nvPr/>
        </p:nvSpPr>
        <p:spPr>
          <a:xfrm>
            <a:off x="5922112" y="4914900"/>
            <a:ext cx="347472" cy="0"/>
          </a:xfrm>
          <a:prstGeom prst="line">
            <a:avLst/>
          </a:prstGeom>
          <a:noFill/>
          <a:ln w="22225">
            <a:solidFill>
              <a:srgbClr val="93A6BE"/>
            </a:solidFill>
            <a:prstDash val="solid"/>
            <a:tailEnd type="triangle"/>
          </a:ln>
        </p:spPr>
      </p:sp>
      <p:sp>
        <p:nvSpPr>
          <p:cNvPr id="40" name="Shape 38"/>
          <p:cNvSpPr/>
          <p:nvPr/>
        </p:nvSpPr>
        <p:spPr>
          <a:xfrm>
            <a:off x="6324448" y="4023360"/>
            <a:ext cx="2421560" cy="1783080"/>
          </a:xfrm>
          <a:prstGeom prst="roundRect">
            <a:avLst>
              <a:gd name="adj" fmla="val 4103"/>
            </a:avLst>
          </a:prstGeom>
          <a:solidFill>
            <a:srgbClr val="2E9CA8"/>
          </a:solidFill>
          <a:ln/>
        </p:spPr>
      </p:sp>
      <p:sp>
        <p:nvSpPr>
          <p:cNvPr id="41" name="Shape 39"/>
          <p:cNvSpPr/>
          <p:nvPr/>
        </p:nvSpPr>
        <p:spPr>
          <a:xfrm>
            <a:off x="7169467" y="4224528"/>
            <a:ext cx="731520" cy="731520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42" name="Text 40"/>
          <p:cNvSpPr/>
          <p:nvPr/>
        </p:nvSpPr>
        <p:spPr>
          <a:xfrm>
            <a:off x="7169467" y="4224528"/>
            <a:ext cx="731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  <a:latin typeface="Segoe UI Emoji" pitchFamily="34" charset="0"/>
                <a:ea typeface="Segoe UI Emoji" pitchFamily="34" charset="-122"/>
                <a:cs typeface="Segoe UI Emoji" pitchFamily="34" charset="-120"/>
              </a:rPr>
              <a:t>🔄</a:t>
            </a:r>
            <a:endParaRPr lang="en-US" sz="2200" dirty="0"/>
          </a:p>
        </p:txBody>
      </p:sp>
      <p:sp>
        <p:nvSpPr>
          <p:cNvPr id="43" name="Text 41"/>
          <p:cNvSpPr/>
          <p:nvPr/>
        </p:nvSpPr>
        <p:spPr>
          <a:xfrm>
            <a:off x="6415888" y="5010912"/>
            <a:ext cx="22386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Runs #2…N</a:t>
            </a:r>
            <a:endParaRPr lang="en-US" sz="1350" dirty="0"/>
          </a:p>
        </p:txBody>
      </p:sp>
      <p:sp>
        <p:nvSpPr>
          <p:cNvPr id="44" name="Text 42"/>
          <p:cNvSpPr/>
          <p:nvPr/>
        </p:nvSpPr>
        <p:spPr>
          <a:xfrm>
            <a:off x="6461608" y="5321808"/>
            <a:ext cx="214724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DCE7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Partner delivers independently to its customers</a:t>
            </a:r>
            <a:endParaRPr lang="en-US" sz="1050" dirty="0"/>
          </a:p>
        </p:txBody>
      </p:sp>
      <p:sp>
        <p:nvSpPr>
          <p:cNvPr id="45" name="Shape 43"/>
          <p:cNvSpPr/>
          <p:nvPr/>
        </p:nvSpPr>
        <p:spPr>
          <a:xfrm>
            <a:off x="8800871" y="4914900"/>
            <a:ext cx="347472" cy="0"/>
          </a:xfrm>
          <a:prstGeom prst="line">
            <a:avLst/>
          </a:prstGeom>
          <a:noFill/>
          <a:ln w="22225">
            <a:solidFill>
              <a:srgbClr val="93A6BE"/>
            </a:solidFill>
            <a:prstDash val="solid"/>
            <a:tailEnd type="triangle"/>
          </a:ln>
        </p:spPr>
      </p:sp>
      <p:sp>
        <p:nvSpPr>
          <p:cNvPr id="46" name="Shape 44"/>
          <p:cNvSpPr/>
          <p:nvPr/>
        </p:nvSpPr>
        <p:spPr>
          <a:xfrm>
            <a:off x="9203207" y="4023360"/>
            <a:ext cx="2421560" cy="1783080"/>
          </a:xfrm>
          <a:prstGeom prst="roundRect">
            <a:avLst>
              <a:gd name="adj" fmla="val 4103"/>
            </a:avLst>
          </a:prstGeom>
          <a:solidFill>
            <a:srgbClr val="2E9E63"/>
          </a:solidFill>
          <a:ln/>
        </p:spPr>
      </p:sp>
      <p:sp>
        <p:nvSpPr>
          <p:cNvPr id="47" name="Shape 45"/>
          <p:cNvSpPr/>
          <p:nvPr/>
        </p:nvSpPr>
        <p:spPr>
          <a:xfrm>
            <a:off x="10048227" y="4224528"/>
            <a:ext cx="731520" cy="731520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48" name="Text 46"/>
          <p:cNvSpPr/>
          <p:nvPr/>
        </p:nvSpPr>
        <p:spPr>
          <a:xfrm>
            <a:off x="10048227" y="4224528"/>
            <a:ext cx="731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  <a:latin typeface="Segoe UI Emoji" pitchFamily="34" charset="0"/>
                <a:ea typeface="Segoe UI Emoji" pitchFamily="34" charset="-122"/>
                <a:cs typeface="Segoe UI Emoji" pitchFamily="34" charset="-120"/>
              </a:rPr>
              <a:t>🎯</a:t>
            </a:r>
            <a:endParaRPr lang="en-US" sz="2200" dirty="0"/>
          </a:p>
        </p:txBody>
      </p:sp>
      <p:sp>
        <p:nvSpPr>
          <p:cNvPr id="49" name="Text 47"/>
          <p:cNvSpPr/>
          <p:nvPr/>
        </p:nvSpPr>
        <p:spPr>
          <a:xfrm>
            <a:off x="9294647" y="5010912"/>
            <a:ext cx="22386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Opportunities</a:t>
            </a:r>
            <a:endParaRPr lang="en-US" sz="1350" dirty="0"/>
          </a:p>
        </p:txBody>
      </p:sp>
      <p:sp>
        <p:nvSpPr>
          <p:cNvPr id="50" name="Text 48"/>
          <p:cNvSpPr/>
          <p:nvPr/>
        </p:nvSpPr>
        <p:spPr>
          <a:xfrm>
            <a:off x="9340367" y="5321808"/>
            <a:ext cx="214724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DCE7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Apps &amp; workloads → created / shared in MSX</a:t>
            </a:r>
            <a:endParaRPr lang="en-US" sz="10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11057839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F3A5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The Micro Hack kit — the one asset we build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66928" y="914400"/>
            <a:ext cx="11057839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i="1" dirty="0">
                <a:solidFill>
                  <a:srgbClr val="5E7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reusable enablement kit, not a product — used live in the day, then repeated by the partner.</a:t>
            </a:r>
            <a:endParaRPr lang="en-US" sz="1450" dirty="0"/>
          </a:p>
        </p:txBody>
      </p:sp>
      <p:sp>
        <p:nvSpPr>
          <p:cNvPr id="4" name="Text 2"/>
          <p:cNvSpPr/>
          <p:nvPr/>
        </p:nvSpPr>
        <p:spPr>
          <a:xfrm>
            <a:off x="566928" y="6519672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E7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FY27 EMEA EPS · Fabric Apps Motion — the “Micro Hack”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638648" y="6519672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E7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9613087" y="6501384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EMEA </a:t>
            </a:r>
            <a:pPr algn="r" indent="0" marL="0">
              <a:buNone/>
            </a:pPr>
            <a:r>
              <a:rPr lang="en-US" sz="1200" dirty="0">
                <a:solidFill>
                  <a:srgbClr val="5E7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| </a:t>
            </a:r>
            <a:pPr algn="r" indent="0" marL="0">
              <a:buNone/>
            </a:pPr>
            <a:r>
              <a:rPr lang="en-US" sz="1200" b="1" dirty="0">
                <a:solidFill>
                  <a:srgbClr val="2FB6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EPS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66928" y="1417320"/>
            <a:ext cx="5394960" cy="1783080"/>
          </a:xfrm>
          <a:prstGeom prst="roundRect">
            <a:avLst>
              <a:gd name="adj" fmla="val 4103"/>
            </a:avLst>
          </a:prstGeom>
          <a:solidFill>
            <a:srgbClr val="E6F5EC"/>
          </a:solidFill>
          <a:ln/>
        </p:spPr>
      </p:sp>
      <p:sp>
        <p:nvSpPr>
          <p:cNvPr id="8" name="Shape 6"/>
          <p:cNvSpPr/>
          <p:nvPr/>
        </p:nvSpPr>
        <p:spPr>
          <a:xfrm>
            <a:off x="566928" y="1417320"/>
            <a:ext cx="5394960" cy="91440"/>
          </a:xfrm>
          <a:prstGeom prst="roundRect">
            <a:avLst>
              <a:gd name="adj" fmla="val 50000"/>
            </a:avLst>
          </a:prstGeom>
          <a:solidFill>
            <a:srgbClr val="2E9E63"/>
          </a:solidFill>
          <a:ln/>
        </p:spPr>
      </p:sp>
      <p:sp>
        <p:nvSpPr>
          <p:cNvPr id="9" name="Text 7"/>
          <p:cNvSpPr/>
          <p:nvPr/>
        </p:nvSpPr>
        <p:spPr>
          <a:xfrm>
            <a:off x="841248" y="1554480"/>
            <a:ext cx="45720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9E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IS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859536" y="1993392"/>
            <a:ext cx="237744" cy="237744"/>
          </a:xfrm>
          <a:prstGeom prst="ellipse">
            <a:avLst/>
          </a:prstGeom>
          <a:solidFill>
            <a:srgbClr val="2E9E63"/>
          </a:solidFill>
          <a:ln/>
        </p:spPr>
      </p:sp>
      <p:sp>
        <p:nvSpPr>
          <p:cNvPr id="11" name="Text 9"/>
          <p:cNvSpPr/>
          <p:nvPr/>
        </p:nvSpPr>
        <p:spPr>
          <a:xfrm>
            <a:off x="859536" y="1975104"/>
            <a:ext cx="23774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1225296" y="1938528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ready-to-run kit: prompts, scripts, reference code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859536" y="2377440"/>
            <a:ext cx="237744" cy="237744"/>
          </a:xfrm>
          <a:prstGeom prst="ellipse">
            <a:avLst/>
          </a:prstGeom>
          <a:solidFill>
            <a:srgbClr val="2E9E63"/>
          </a:solidFill>
          <a:ln/>
        </p:spPr>
      </p:sp>
      <p:sp>
        <p:nvSpPr>
          <p:cNvPr id="14" name="Text 12"/>
          <p:cNvSpPr/>
          <p:nvPr/>
        </p:nvSpPr>
        <p:spPr>
          <a:xfrm>
            <a:off x="859536" y="2359152"/>
            <a:ext cx="23774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1225296" y="2322576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scenarios — a Rayfin app and a Fabric workload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859536" y="2761488"/>
            <a:ext cx="237744" cy="237744"/>
          </a:xfrm>
          <a:prstGeom prst="ellipse">
            <a:avLst/>
          </a:prstGeom>
          <a:solidFill>
            <a:srgbClr val="2E9E63"/>
          </a:solidFill>
          <a:ln/>
        </p:spPr>
      </p:sp>
      <p:sp>
        <p:nvSpPr>
          <p:cNvPr id="17" name="Text 15"/>
          <p:cNvSpPr/>
          <p:nvPr/>
        </p:nvSpPr>
        <p:spPr>
          <a:xfrm>
            <a:off x="859536" y="2743200"/>
            <a:ext cx="23774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1225296" y="2706624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Facilitator materials to repeat the day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6144768" y="1417320"/>
            <a:ext cx="5394960" cy="1783080"/>
          </a:xfrm>
          <a:prstGeom prst="roundRect">
            <a:avLst>
              <a:gd name="adj" fmla="val 4103"/>
            </a:avLst>
          </a:prstGeom>
          <a:solidFill>
            <a:srgbClr val="FBEAED"/>
          </a:solidFill>
          <a:ln/>
        </p:spPr>
      </p:sp>
      <p:sp>
        <p:nvSpPr>
          <p:cNvPr id="20" name="Shape 18"/>
          <p:cNvSpPr/>
          <p:nvPr/>
        </p:nvSpPr>
        <p:spPr>
          <a:xfrm>
            <a:off x="6144768" y="1417320"/>
            <a:ext cx="5394960" cy="91440"/>
          </a:xfrm>
          <a:prstGeom prst="roundRect">
            <a:avLst>
              <a:gd name="adj" fmla="val 50000"/>
            </a:avLst>
          </a:prstGeom>
          <a:solidFill>
            <a:srgbClr val="E0455E"/>
          </a:solidFill>
          <a:ln/>
        </p:spPr>
      </p:sp>
      <p:sp>
        <p:nvSpPr>
          <p:cNvPr id="21" name="Text 19"/>
          <p:cNvSpPr/>
          <p:nvPr/>
        </p:nvSpPr>
        <p:spPr>
          <a:xfrm>
            <a:off x="6419088" y="1554480"/>
            <a:ext cx="45720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045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is NOT</a:t>
            </a:r>
            <a:endParaRPr lang="en-US" sz="1500" dirty="0"/>
          </a:p>
        </p:txBody>
      </p:sp>
      <p:sp>
        <p:nvSpPr>
          <p:cNvPr id="22" name="Shape 20"/>
          <p:cNvSpPr/>
          <p:nvPr/>
        </p:nvSpPr>
        <p:spPr>
          <a:xfrm>
            <a:off x="6437376" y="1993392"/>
            <a:ext cx="237744" cy="237744"/>
          </a:xfrm>
          <a:prstGeom prst="ellipse">
            <a:avLst/>
          </a:prstGeom>
          <a:solidFill>
            <a:srgbClr val="E0455E"/>
          </a:solidFill>
          <a:ln/>
        </p:spPr>
      </p:sp>
      <p:sp>
        <p:nvSpPr>
          <p:cNvPr id="23" name="Text 21"/>
          <p:cNvSpPr/>
          <p:nvPr/>
        </p:nvSpPr>
        <p:spPr>
          <a:xfrm>
            <a:off x="6437376" y="1975104"/>
            <a:ext cx="23774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6803136" y="1938528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new product or platform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6437376" y="2377440"/>
            <a:ext cx="237744" cy="237744"/>
          </a:xfrm>
          <a:prstGeom prst="ellipse">
            <a:avLst/>
          </a:prstGeom>
          <a:solidFill>
            <a:srgbClr val="E0455E"/>
          </a:solidFill>
          <a:ln/>
        </p:spPr>
      </p:sp>
      <p:sp>
        <p:nvSpPr>
          <p:cNvPr id="26" name="Text 24"/>
          <p:cNvSpPr/>
          <p:nvPr/>
        </p:nvSpPr>
        <p:spPr>
          <a:xfrm>
            <a:off x="6437376" y="2359152"/>
            <a:ext cx="23774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6803136" y="2322576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replacement for Rayfin / the Extensibility Toolkit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6437376" y="2761488"/>
            <a:ext cx="237744" cy="237744"/>
          </a:xfrm>
          <a:prstGeom prst="ellipse">
            <a:avLst/>
          </a:prstGeom>
          <a:solidFill>
            <a:srgbClr val="E0455E"/>
          </a:solidFill>
          <a:ln/>
        </p:spPr>
      </p:sp>
      <p:sp>
        <p:nvSpPr>
          <p:cNvPr id="29" name="Text 27"/>
          <p:cNvSpPr/>
          <p:nvPr/>
        </p:nvSpPr>
        <p:spPr>
          <a:xfrm>
            <a:off x="6437376" y="2743200"/>
            <a:ext cx="23774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6803136" y="2706624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one-off custom build for a single customer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566928" y="3456432"/>
            <a:ext cx="3320186" cy="2514600"/>
          </a:xfrm>
          <a:prstGeom prst="roundRect">
            <a:avLst>
              <a:gd name="adj" fmla="val 2909"/>
            </a:avLst>
          </a:prstGeom>
          <a:solidFill>
            <a:srgbClr val="FFFFFF"/>
          </a:solidFill>
          <a:ln w="12700">
            <a:solidFill>
              <a:srgbClr val="D6E2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66928" y="3456432"/>
            <a:ext cx="3320186" cy="512064"/>
          </a:xfrm>
          <a:prstGeom prst="roundRect">
            <a:avLst>
              <a:gd name="adj" fmla="val 10714"/>
            </a:avLst>
          </a:prstGeom>
          <a:solidFill>
            <a:srgbClr val="0F6CBD"/>
          </a:solidFill>
          <a:ln/>
        </p:spPr>
      </p:sp>
      <p:sp>
        <p:nvSpPr>
          <p:cNvPr id="33" name="Text 31"/>
          <p:cNvSpPr/>
          <p:nvPr/>
        </p:nvSpPr>
        <p:spPr>
          <a:xfrm>
            <a:off x="713232" y="3456432"/>
            <a:ext cx="3027578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 — Fixed scenario</a:t>
            </a:r>
            <a:endParaRPr lang="en-US" sz="1250" dirty="0"/>
          </a:p>
        </p:txBody>
      </p:sp>
      <p:sp>
        <p:nvSpPr>
          <p:cNvPr id="34" name="Text 32"/>
          <p:cNvSpPr/>
          <p:nvPr/>
        </p:nvSpPr>
        <p:spPr>
          <a:xfrm>
            <a:off x="822960" y="4114800"/>
            <a:ext cx="2862986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F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Brief + sample data + target users</a:t>
            </a:r>
            <a:endParaRPr lang="en-US" sz="11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F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Apps: Helios · Workloads: GreenGrid</a:t>
            </a:r>
            <a:endParaRPr lang="en-US" sz="11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F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start for every run</a:t>
            </a:r>
            <a:endParaRPr lang="en-US" sz="1150" dirty="0"/>
          </a:p>
        </p:txBody>
      </p:sp>
      <p:sp>
        <p:nvSpPr>
          <p:cNvPr id="35" name="Shape 33"/>
          <p:cNvSpPr/>
          <p:nvPr/>
        </p:nvSpPr>
        <p:spPr>
          <a:xfrm>
            <a:off x="3960266" y="4713732"/>
            <a:ext cx="384048" cy="0"/>
          </a:xfrm>
          <a:prstGeom prst="line">
            <a:avLst/>
          </a:prstGeom>
          <a:noFill/>
          <a:ln w="22225">
            <a:solidFill>
              <a:srgbClr val="93A6BE"/>
            </a:solidFill>
            <a:prstDash val="solid"/>
            <a:tailEnd type="triangle"/>
          </a:ln>
        </p:spPr>
      </p:sp>
      <p:sp>
        <p:nvSpPr>
          <p:cNvPr id="36" name="Shape 34"/>
          <p:cNvSpPr/>
          <p:nvPr/>
        </p:nvSpPr>
        <p:spPr>
          <a:xfrm>
            <a:off x="4435754" y="3456432"/>
            <a:ext cx="3320186" cy="2514600"/>
          </a:xfrm>
          <a:prstGeom prst="roundRect">
            <a:avLst>
              <a:gd name="adj" fmla="val 2909"/>
            </a:avLst>
          </a:prstGeom>
          <a:solidFill>
            <a:srgbClr val="FFFFFF"/>
          </a:solidFill>
          <a:ln w="12700">
            <a:solidFill>
              <a:srgbClr val="D6E2F0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4435754" y="3456432"/>
            <a:ext cx="3320186" cy="512064"/>
          </a:xfrm>
          <a:prstGeom prst="roundRect">
            <a:avLst>
              <a:gd name="adj" fmla="val 10714"/>
            </a:avLst>
          </a:prstGeom>
          <a:solidFill>
            <a:srgbClr val="B14FD8"/>
          </a:solidFill>
          <a:ln/>
        </p:spPr>
      </p:sp>
      <p:sp>
        <p:nvSpPr>
          <p:cNvPr id="38" name="Text 36"/>
          <p:cNvSpPr/>
          <p:nvPr/>
        </p:nvSpPr>
        <p:spPr>
          <a:xfrm>
            <a:off x="4582058" y="3456432"/>
            <a:ext cx="3027578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— Copilot CLI + Rayfin / Toolkit</a:t>
            </a:r>
            <a:endParaRPr lang="en-US" sz="1250" dirty="0"/>
          </a:p>
        </p:txBody>
      </p:sp>
      <p:sp>
        <p:nvSpPr>
          <p:cNvPr id="39" name="Text 37"/>
          <p:cNvSpPr/>
          <p:nvPr/>
        </p:nvSpPr>
        <p:spPr>
          <a:xfrm>
            <a:off x="4691786" y="4114800"/>
            <a:ext cx="2862986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F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Scaffold, declare data model / workload</a:t>
            </a:r>
            <a:endParaRPr lang="en-US" sz="11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F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Screens, roles, OneLake read (OBO)</a:t>
            </a:r>
            <a:endParaRPr lang="en-US" sz="11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F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Validate: build + tests green</a:t>
            </a:r>
            <a:endParaRPr lang="en-US" sz="1150" dirty="0"/>
          </a:p>
        </p:txBody>
      </p:sp>
      <p:sp>
        <p:nvSpPr>
          <p:cNvPr id="40" name="Shape 38"/>
          <p:cNvSpPr/>
          <p:nvPr/>
        </p:nvSpPr>
        <p:spPr>
          <a:xfrm>
            <a:off x="7829093" y="4713732"/>
            <a:ext cx="384048" cy="0"/>
          </a:xfrm>
          <a:prstGeom prst="line">
            <a:avLst/>
          </a:prstGeom>
          <a:noFill/>
          <a:ln w="22225">
            <a:solidFill>
              <a:srgbClr val="93A6BE"/>
            </a:solidFill>
            <a:prstDash val="solid"/>
            <a:tailEnd type="triangle"/>
          </a:ln>
        </p:spPr>
      </p:sp>
      <p:sp>
        <p:nvSpPr>
          <p:cNvPr id="41" name="Shape 39"/>
          <p:cNvSpPr/>
          <p:nvPr/>
        </p:nvSpPr>
        <p:spPr>
          <a:xfrm>
            <a:off x="8304581" y="3456432"/>
            <a:ext cx="3320186" cy="2514600"/>
          </a:xfrm>
          <a:prstGeom prst="roundRect">
            <a:avLst>
              <a:gd name="adj" fmla="val 2909"/>
            </a:avLst>
          </a:prstGeom>
          <a:solidFill>
            <a:srgbClr val="FFFFFF"/>
          </a:solidFill>
          <a:ln w="12700">
            <a:solidFill>
              <a:srgbClr val="D6E2F0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8304581" y="3456432"/>
            <a:ext cx="3320186" cy="512064"/>
          </a:xfrm>
          <a:prstGeom prst="roundRect">
            <a:avLst>
              <a:gd name="adj" fmla="val 10714"/>
            </a:avLst>
          </a:prstGeom>
          <a:solidFill>
            <a:srgbClr val="2E9CA8"/>
          </a:solidFill>
          <a:ln/>
        </p:spPr>
      </p:sp>
      <p:sp>
        <p:nvSpPr>
          <p:cNvPr id="43" name="Text 41"/>
          <p:cNvSpPr/>
          <p:nvPr/>
        </p:nvSpPr>
        <p:spPr>
          <a:xfrm>
            <a:off x="8450885" y="3456432"/>
            <a:ext cx="3027578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 — Working app / workload</a:t>
            </a:r>
            <a:endParaRPr lang="en-US" sz="1250" dirty="0"/>
          </a:p>
        </p:txBody>
      </p:sp>
      <p:sp>
        <p:nvSpPr>
          <p:cNvPr id="44" name="Text 42"/>
          <p:cNvSpPr/>
          <p:nvPr/>
        </p:nvSpPr>
        <p:spPr>
          <a:xfrm>
            <a:off x="8560613" y="4114800"/>
            <a:ext cx="2862986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F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Deployed to Fabric, governed</a:t>
            </a:r>
            <a:endParaRPr lang="en-US" sz="11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F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Demo-ready, partner-owned</a:t>
            </a:r>
            <a:endParaRPr lang="en-US" sz="11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F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Artifact → opportunity / adoption</a:t>
            </a:r>
            <a:endParaRPr lang="en-US" sz="11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11057839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F3A5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Path B — SDC / ISV (Workloads)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66928" y="914400"/>
            <a:ext cx="11057839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i="1" dirty="0">
                <a:solidFill>
                  <a:srgbClr val="5E7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Grow the Fabric footprint through ISV offers: embed once, consume mechanically across the ISV’s customer base.</a:t>
            </a:r>
            <a:endParaRPr lang="en-US" sz="1450" dirty="0"/>
          </a:p>
        </p:txBody>
      </p:sp>
      <p:sp>
        <p:nvSpPr>
          <p:cNvPr id="4" name="Text 2"/>
          <p:cNvSpPr/>
          <p:nvPr/>
        </p:nvSpPr>
        <p:spPr>
          <a:xfrm>
            <a:off x="566928" y="6519672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E7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FY27 EMEA EPS · Fabric Apps Motion — the “Micro Hack”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638648" y="6519672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E7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9613087" y="6501384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EMEA </a:t>
            </a:r>
            <a:pPr algn="r" indent="0" marL="0">
              <a:buNone/>
            </a:pPr>
            <a:r>
              <a:rPr lang="en-US" sz="1200" dirty="0">
                <a:solidFill>
                  <a:srgbClr val="5E7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| </a:t>
            </a:r>
            <a:pPr algn="r" indent="0" marL="0">
              <a:buNone/>
            </a:pPr>
            <a:r>
              <a:rPr lang="en-US" sz="1200" b="1" dirty="0">
                <a:solidFill>
                  <a:srgbClr val="2FB6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EPS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66928" y="1463040"/>
            <a:ext cx="5212080" cy="4434840"/>
          </a:xfrm>
          <a:prstGeom prst="roundRect">
            <a:avLst>
              <a:gd name="adj" fmla="val 1649"/>
            </a:avLst>
          </a:prstGeom>
          <a:solidFill>
            <a:srgbClr val="FFFFFF"/>
          </a:solidFill>
          <a:ln w="12700">
            <a:solidFill>
              <a:srgbClr val="D6E2F0"/>
            </a:solidFill>
            <a:prstDash val="solid"/>
          </a:ln>
          <a:effectLst>
            <a:outerShdw sx="100000" sy="100000" kx="0" ky="0" algn="bl" rotWithShape="0" blurRad="88900" dist="25400" dir="5400000">
              <a:srgbClr val="8AA0BC">
                <a:alpha val="25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566928" y="1463040"/>
            <a:ext cx="5212080" cy="109728"/>
          </a:xfrm>
          <a:prstGeom prst="roundRect">
            <a:avLst>
              <a:gd name="adj" fmla="val 50000"/>
            </a:avLst>
          </a:prstGeom>
          <a:solidFill>
            <a:srgbClr val="B14FD8"/>
          </a:solidFill>
          <a:ln/>
        </p:spPr>
      </p:sp>
      <p:sp>
        <p:nvSpPr>
          <p:cNvPr id="9" name="Text 7"/>
          <p:cNvSpPr/>
          <p:nvPr/>
        </p:nvSpPr>
        <p:spPr>
          <a:xfrm>
            <a:off x="877824" y="1737360"/>
            <a:ext cx="4663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Objective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877824" y="2176272"/>
            <a:ext cx="4608576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F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 every Microsoft-managed SDC to embed a Fabric workload (Extensibility Toolkit) inside its commercial offer — so every time a customer uses the product, a Fabric data workload is consumed by design.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877824" y="3200400"/>
            <a:ext cx="4590288" cy="868680"/>
          </a:xfrm>
          <a:prstGeom prst="roundRect">
            <a:avLst>
              <a:gd name="adj" fmla="val 6316"/>
            </a:avLst>
          </a:prstGeom>
          <a:solidFill>
            <a:srgbClr val="F6EAFB"/>
          </a:solidFill>
          <a:ln/>
        </p:spPr>
      </p:sp>
      <p:sp>
        <p:nvSpPr>
          <p:cNvPr id="12" name="Text 10"/>
          <p:cNvSpPr/>
          <p:nvPr/>
        </p:nvSpPr>
        <p:spPr>
          <a:xfrm>
            <a:off x="1042416" y="3200400"/>
            <a:ext cx="42976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14F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Embed once, adopt many.   </a:t>
            </a:r>
            <a:pPr indent="0" marL="0">
              <a:buNone/>
            </a:pPr>
            <a:r>
              <a:rPr lang="en-US" sz="1200" dirty="0">
                <a:solidFill>
                  <a:srgbClr val="1F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an SDC standardizes on a Fabric workload, its entire customer base becomes ongoing Fabric adoption.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877824" y="4187952"/>
            <a:ext cx="4590288" cy="640080"/>
          </a:xfrm>
          <a:prstGeom prst="roundRect">
            <a:avLst>
              <a:gd name="adj" fmla="val 8571"/>
            </a:avLst>
          </a:prstGeom>
          <a:solidFill>
            <a:srgbClr val="1F3A5F"/>
          </a:solidFill>
          <a:ln/>
        </p:spPr>
      </p:sp>
      <p:sp>
        <p:nvSpPr>
          <p:cNvPr id="14" name="Text 12"/>
          <p:cNvSpPr/>
          <p:nvPr/>
        </p:nvSpPr>
        <p:spPr>
          <a:xfrm>
            <a:off x="1042416" y="4187952"/>
            <a:ext cx="4297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FB6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PRIMARY KPI  </a:t>
            </a:r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% of managed SDCs that built a Fabric workload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877824" y="4956048"/>
            <a:ext cx="4608576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i="1" dirty="0">
                <a:solidFill>
                  <a:srgbClr val="5E7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Measured on adoption &amp; mechanical consumption — not repeated workshops. The win is the embed and the footprint it generates.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6144768" y="1444752"/>
            <a:ext cx="5479999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E7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Embed once </a:t>
            </a:r>
            <a:pPr indent="0" marL="0">
              <a:buNone/>
            </a:pPr>
            <a:r>
              <a:rPr lang="en-US" sz="1350" b="1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adopt mechanically</a:t>
            </a:r>
            <a:endParaRPr lang="en-US" sz="1350" dirty="0"/>
          </a:p>
        </p:txBody>
      </p:sp>
      <p:sp>
        <p:nvSpPr>
          <p:cNvPr id="17" name="Shape 15"/>
          <p:cNvSpPr/>
          <p:nvPr/>
        </p:nvSpPr>
        <p:spPr>
          <a:xfrm>
            <a:off x="6144768" y="1828800"/>
            <a:ext cx="5479999" cy="548640"/>
          </a:xfrm>
          <a:prstGeom prst="roundRect">
            <a:avLst>
              <a:gd name="adj" fmla="val 11667"/>
            </a:avLst>
          </a:prstGeom>
          <a:solidFill>
            <a:srgbClr val="B14FD8"/>
          </a:solidFill>
          <a:ln/>
        </p:spPr>
      </p:sp>
      <p:sp>
        <p:nvSpPr>
          <p:cNvPr id="18" name="Text 16"/>
          <p:cNvSpPr/>
          <p:nvPr/>
        </p:nvSpPr>
        <p:spPr>
          <a:xfrm>
            <a:off x="6327648" y="1828800"/>
            <a:ext cx="5114239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Microsoft-managed SDC</a:t>
            </a:r>
            <a:endParaRPr lang="en-US" sz="1350" dirty="0"/>
          </a:p>
        </p:txBody>
      </p:sp>
      <p:sp>
        <p:nvSpPr>
          <p:cNvPr id="19" name="Shape 17"/>
          <p:cNvSpPr/>
          <p:nvPr/>
        </p:nvSpPr>
        <p:spPr>
          <a:xfrm>
            <a:off x="8884768" y="2377440"/>
            <a:ext cx="0" cy="164592"/>
          </a:xfrm>
          <a:prstGeom prst="line">
            <a:avLst/>
          </a:prstGeom>
          <a:noFill/>
          <a:ln w="22225">
            <a:solidFill>
              <a:srgbClr val="B14FD8"/>
            </a:solidFill>
            <a:prstDash val="solid"/>
            <a:tailEnd type="triangle"/>
          </a:ln>
        </p:spPr>
      </p:sp>
      <p:sp>
        <p:nvSpPr>
          <p:cNvPr id="20" name="Shape 18"/>
          <p:cNvSpPr/>
          <p:nvPr/>
        </p:nvSpPr>
        <p:spPr>
          <a:xfrm>
            <a:off x="6144768" y="2578608"/>
            <a:ext cx="5479999" cy="502920"/>
          </a:xfrm>
          <a:prstGeom prst="roundRect">
            <a:avLst>
              <a:gd name="adj" fmla="val 12727"/>
            </a:avLst>
          </a:prstGeom>
          <a:solidFill>
            <a:srgbClr val="E7F1FB"/>
          </a:solidFill>
          <a:ln/>
        </p:spPr>
      </p:sp>
      <p:sp>
        <p:nvSpPr>
          <p:cNvPr id="21" name="Text 19"/>
          <p:cNvSpPr/>
          <p:nvPr/>
        </p:nvSpPr>
        <p:spPr>
          <a:xfrm>
            <a:off x="6327648" y="2578608"/>
            <a:ext cx="5114239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Embed a managed Fabric workload (Toolkit)</a:t>
            </a:r>
            <a:endParaRPr lang="en-US" sz="1350" dirty="0"/>
          </a:p>
        </p:txBody>
      </p:sp>
      <p:sp>
        <p:nvSpPr>
          <p:cNvPr id="22" name="Shape 20"/>
          <p:cNvSpPr/>
          <p:nvPr/>
        </p:nvSpPr>
        <p:spPr>
          <a:xfrm>
            <a:off x="8884768" y="3081528"/>
            <a:ext cx="0" cy="146304"/>
          </a:xfrm>
          <a:prstGeom prst="line">
            <a:avLst/>
          </a:prstGeom>
          <a:noFill/>
          <a:ln w="22225">
            <a:solidFill>
              <a:srgbClr val="0F6CBD"/>
            </a:solidFill>
            <a:prstDash val="solid"/>
            <a:tailEnd type="triangle"/>
          </a:ln>
        </p:spPr>
      </p:sp>
      <p:sp>
        <p:nvSpPr>
          <p:cNvPr id="23" name="Shape 21"/>
          <p:cNvSpPr/>
          <p:nvPr/>
        </p:nvSpPr>
        <p:spPr>
          <a:xfrm>
            <a:off x="6144768" y="3255264"/>
            <a:ext cx="5479999" cy="502920"/>
          </a:xfrm>
          <a:prstGeom prst="roundRect">
            <a:avLst>
              <a:gd name="adj" fmla="val 12727"/>
            </a:avLst>
          </a:prstGeom>
          <a:solidFill>
            <a:srgbClr val="E7F1FB"/>
          </a:solidFill>
          <a:ln/>
        </p:spPr>
      </p:sp>
      <p:sp>
        <p:nvSpPr>
          <p:cNvPr id="24" name="Text 22"/>
          <p:cNvSpPr/>
          <p:nvPr/>
        </p:nvSpPr>
        <p:spPr>
          <a:xfrm>
            <a:off x="6327648" y="3255264"/>
            <a:ext cx="5114239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SDC product / offer</a:t>
            </a:r>
            <a:endParaRPr lang="en-US" sz="1350" dirty="0"/>
          </a:p>
        </p:txBody>
      </p:sp>
      <p:sp>
        <p:nvSpPr>
          <p:cNvPr id="25" name="Shape 23"/>
          <p:cNvSpPr/>
          <p:nvPr/>
        </p:nvSpPr>
        <p:spPr>
          <a:xfrm>
            <a:off x="7003237" y="3749040"/>
            <a:ext cx="0" cy="146304"/>
          </a:xfrm>
          <a:prstGeom prst="line">
            <a:avLst/>
          </a:prstGeom>
          <a:noFill/>
          <a:ln w="22225">
            <a:solidFill>
              <a:srgbClr val="2E9CA8"/>
            </a:solidFill>
            <a:prstDash val="solid"/>
            <a:tailEnd type="triangle"/>
          </a:ln>
        </p:spPr>
      </p:sp>
      <p:sp>
        <p:nvSpPr>
          <p:cNvPr id="26" name="Shape 24"/>
          <p:cNvSpPr/>
          <p:nvPr/>
        </p:nvSpPr>
        <p:spPr>
          <a:xfrm>
            <a:off x="6144768" y="3895344"/>
            <a:ext cx="1716938" cy="548640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12700">
            <a:solidFill>
              <a:srgbClr val="D6E2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217920" y="3895344"/>
            <a:ext cx="1570634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 1
</a:t>
            </a:r>
            <a:pPr algn="ctr" indent="0" marL="0">
              <a:buNone/>
            </a:pPr>
            <a:r>
              <a:rPr lang="en-US" sz="900" i="1" dirty="0">
                <a:solidFill>
                  <a:srgbClr val="2E9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workload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7003237" y="4443984"/>
            <a:ext cx="0" cy="146304"/>
          </a:xfrm>
          <a:prstGeom prst="line">
            <a:avLst/>
          </a:prstGeom>
          <a:noFill/>
          <a:ln w="22225">
            <a:solidFill>
              <a:srgbClr val="2E9CA8"/>
            </a:solidFill>
            <a:prstDash val="solid"/>
            <a:tailEnd type="triangle"/>
          </a:ln>
        </p:spPr>
      </p:sp>
      <p:sp>
        <p:nvSpPr>
          <p:cNvPr id="29" name="Shape 27"/>
          <p:cNvSpPr/>
          <p:nvPr/>
        </p:nvSpPr>
        <p:spPr>
          <a:xfrm>
            <a:off x="8884768" y="3749040"/>
            <a:ext cx="0" cy="146304"/>
          </a:xfrm>
          <a:prstGeom prst="line">
            <a:avLst/>
          </a:prstGeom>
          <a:noFill/>
          <a:ln w="22225">
            <a:solidFill>
              <a:srgbClr val="2E9CA8"/>
            </a:solidFill>
            <a:prstDash val="solid"/>
            <a:tailEnd type="triangle"/>
          </a:ln>
        </p:spPr>
      </p:sp>
      <p:sp>
        <p:nvSpPr>
          <p:cNvPr id="30" name="Shape 28"/>
          <p:cNvSpPr/>
          <p:nvPr/>
        </p:nvSpPr>
        <p:spPr>
          <a:xfrm>
            <a:off x="8026298" y="3895344"/>
            <a:ext cx="1716938" cy="548640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12700">
            <a:solidFill>
              <a:srgbClr val="D6E2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8099450" y="3895344"/>
            <a:ext cx="1570634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 2
</a:t>
            </a:r>
            <a:pPr algn="ctr" indent="0" marL="0">
              <a:buNone/>
            </a:pPr>
            <a:r>
              <a:rPr lang="en-US" sz="900" i="1" dirty="0">
                <a:solidFill>
                  <a:srgbClr val="2E9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workload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8884768" y="4443984"/>
            <a:ext cx="0" cy="146304"/>
          </a:xfrm>
          <a:prstGeom prst="line">
            <a:avLst/>
          </a:prstGeom>
          <a:noFill/>
          <a:ln w="22225">
            <a:solidFill>
              <a:srgbClr val="2E9CA8"/>
            </a:solidFill>
            <a:prstDash val="solid"/>
            <a:tailEnd type="triangle"/>
          </a:ln>
        </p:spPr>
      </p:sp>
      <p:sp>
        <p:nvSpPr>
          <p:cNvPr id="33" name="Shape 31"/>
          <p:cNvSpPr/>
          <p:nvPr/>
        </p:nvSpPr>
        <p:spPr>
          <a:xfrm>
            <a:off x="10766298" y="3749040"/>
            <a:ext cx="0" cy="146304"/>
          </a:xfrm>
          <a:prstGeom prst="line">
            <a:avLst/>
          </a:prstGeom>
          <a:noFill/>
          <a:ln w="22225">
            <a:solidFill>
              <a:srgbClr val="2E9CA8"/>
            </a:solidFill>
            <a:prstDash val="solid"/>
            <a:tailEnd type="triangle"/>
          </a:ln>
        </p:spPr>
      </p:sp>
      <p:sp>
        <p:nvSpPr>
          <p:cNvPr id="34" name="Shape 32"/>
          <p:cNvSpPr/>
          <p:nvPr/>
        </p:nvSpPr>
        <p:spPr>
          <a:xfrm>
            <a:off x="9907829" y="3895344"/>
            <a:ext cx="1716938" cy="548640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12700">
            <a:solidFill>
              <a:srgbClr val="D6E2F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9980981" y="3895344"/>
            <a:ext cx="1570634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 N
</a:t>
            </a:r>
            <a:pPr algn="ctr" indent="0" marL="0">
              <a:buNone/>
            </a:pPr>
            <a:r>
              <a:rPr lang="en-US" sz="900" i="1" dirty="0">
                <a:solidFill>
                  <a:srgbClr val="2E9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workload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10766298" y="4443984"/>
            <a:ext cx="0" cy="146304"/>
          </a:xfrm>
          <a:prstGeom prst="line">
            <a:avLst/>
          </a:prstGeom>
          <a:noFill/>
          <a:ln w="22225">
            <a:solidFill>
              <a:srgbClr val="2E9CA8"/>
            </a:solidFill>
            <a:prstDash val="solid"/>
            <a:tailEnd type="triangle"/>
          </a:ln>
        </p:spPr>
      </p:sp>
      <p:sp>
        <p:nvSpPr>
          <p:cNvPr id="37" name="Shape 35"/>
          <p:cNvSpPr/>
          <p:nvPr/>
        </p:nvSpPr>
        <p:spPr>
          <a:xfrm>
            <a:off x="6144768" y="4608576"/>
            <a:ext cx="5479999" cy="640080"/>
          </a:xfrm>
          <a:prstGeom prst="roundRect">
            <a:avLst>
              <a:gd name="adj" fmla="val 10000"/>
            </a:avLst>
          </a:prstGeom>
          <a:solidFill>
            <a:srgbClr val="2E9CA8"/>
          </a:solidFill>
          <a:ln/>
        </p:spPr>
      </p:sp>
      <p:sp>
        <p:nvSpPr>
          <p:cNvPr id="38" name="Text 36"/>
          <p:cNvSpPr/>
          <p:nvPr/>
        </p:nvSpPr>
        <p:spPr>
          <a:xfrm>
            <a:off x="6327648" y="4608576"/>
            <a:ext cx="5114239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Growing Fabric footprint — adoption &amp; ACR</a:t>
            </a:r>
            <a:endParaRPr lang="en-US" sz="13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11057839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F3A5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The Vehicle — Micro Hack 2 (Workloads) agenda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66928" y="914400"/>
            <a:ext cx="11057839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i="1" dirty="0">
                <a:solidFill>
                  <a:srgbClr val="5E7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fixed, repeatable shape as Micro Hack 1 — but the artifact is a Fabric workload the SDC embeds in its offer.</a:t>
            </a:r>
            <a:endParaRPr lang="en-US" sz="1450" dirty="0"/>
          </a:p>
        </p:txBody>
      </p:sp>
      <p:sp>
        <p:nvSpPr>
          <p:cNvPr id="4" name="Text 2"/>
          <p:cNvSpPr/>
          <p:nvPr/>
        </p:nvSpPr>
        <p:spPr>
          <a:xfrm>
            <a:off x="566928" y="6519672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E7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FY27 EMEA EPS · Fabric Apps Motion — the “Micro Hack”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638648" y="6519672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E7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9613087" y="6501384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EMEA </a:t>
            </a:r>
            <a:pPr algn="r" indent="0" marL="0">
              <a:buNone/>
            </a:pPr>
            <a:r>
              <a:rPr lang="en-US" sz="1200" dirty="0">
                <a:solidFill>
                  <a:srgbClr val="5E7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| </a:t>
            </a:r>
            <a:pPr algn="r" indent="0" marL="0">
              <a:buNone/>
            </a:pPr>
            <a:r>
              <a:rPr lang="en-US" sz="1200" b="1" dirty="0">
                <a:solidFill>
                  <a:srgbClr val="2FB6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EPS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66928" y="1444752"/>
            <a:ext cx="5394960" cy="512064"/>
          </a:xfrm>
          <a:prstGeom prst="roundRect">
            <a:avLst>
              <a:gd name="adj" fmla="val 10714"/>
            </a:avLst>
          </a:prstGeom>
          <a:solidFill>
            <a:srgbClr val="0F6CBD"/>
          </a:solidFill>
          <a:ln/>
        </p:spPr>
      </p:sp>
      <p:sp>
        <p:nvSpPr>
          <p:cNvPr id="8" name="Text 6"/>
          <p:cNvSpPr/>
          <p:nvPr/>
        </p:nvSpPr>
        <p:spPr>
          <a:xfrm>
            <a:off x="694944" y="1444752"/>
            <a:ext cx="45720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Segoe UI Emoji" pitchFamily="34" charset="0"/>
                <a:ea typeface="Segoe UI Emoji" pitchFamily="34" charset="-122"/>
                <a:cs typeface="Segoe UI Emoji" pitchFamily="34" charset="-120"/>
              </a:rPr>
              <a:t>☀️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1170432" y="1444752"/>
            <a:ext cx="466344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MORNING — Content  (MS → Partner)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6144768" y="1444752"/>
            <a:ext cx="5394960" cy="512064"/>
          </a:xfrm>
          <a:prstGeom prst="roundRect">
            <a:avLst>
              <a:gd name="adj" fmla="val 10714"/>
            </a:avLst>
          </a:prstGeom>
          <a:solidFill>
            <a:srgbClr val="B14FD8"/>
          </a:solidFill>
          <a:ln/>
        </p:spPr>
      </p:sp>
      <p:sp>
        <p:nvSpPr>
          <p:cNvPr id="11" name="Text 9"/>
          <p:cNvSpPr/>
          <p:nvPr/>
        </p:nvSpPr>
        <p:spPr>
          <a:xfrm>
            <a:off x="6272784" y="1444752"/>
            <a:ext cx="45720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Segoe UI Emoji" pitchFamily="34" charset="0"/>
                <a:ea typeface="Segoe UI Emoji" pitchFamily="34" charset="-122"/>
                <a:cs typeface="Segoe UI Emoji" pitchFamily="34" charset="-120"/>
              </a:rPr>
              <a:t>🤖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6748272" y="1444752"/>
            <a:ext cx="466344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AFTERNOON — Build + Demo  (MS → Partner)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566928" y="2084832"/>
            <a:ext cx="5394960" cy="621792"/>
          </a:xfrm>
          <a:prstGeom prst="roundRect">
            <a:avLst>
              <a:gd name="adj" fmla="val 8824"/>
            </a:avLst>
          </a:prstGeom>
          <a:solidFill>
            <a:srgbClr val="FFFFFF"/>
          </a:solidFill>
          <a:ln w="12700">
            <a:solidFill>
              <a:srgbClr val="D6E2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13232" y="2203704"/>
            <a:ext cx="384048" cy="384048"/>
          </a:xfrm>
          <a:prstGeom prst="ellipse">
            <a:avLst/>
          </a:prstGeom>
          <a:solidFill>
            <a:srgbClr val="0F6CBD"/>
          </a:solidFill>
          <a:ln/>
        </p:spPr>
      </p:sp>
      <p:sp>
        <p:nvSpPr>
          <p:cNvPr id="15" name="Text 13"/>
          <p:cNvSpPr/>
          <p:nvPr/>
        </p:nvSpPr>
        <p:spPr>
          <a:xfrm>
            <a:off x="713232" y="219456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1225296" y="2084832"/>
            <a:ext cx="461772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build a workload   </a:t>
            </a:r>
            <a:pPr indent="0" marL="0">
              <a:buNone/>
            </a:pPr>
            <a:r>
              <a:rPr lang="en-US" sz="1150" dirty="0">
                <a:solidFill>
                  <a:srgbClr val="5E7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reach every Fabric customer via the Workload Hub · run on OneLake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566928" y="2798064"/>
            <a:ext cx="5394960" cy="621792"/>
          </a:xfrm>
          <a:prstGeom prst="roundRect">
            <a:avLst>
              <a:gd name="adj" fmla="val 8824"/>
            </a:avLst>
          </a:prstGeom>
          <a:solidFill>
            <a:srgbClr val="FFFFFF"/>
          </a:solidFill>
          <a:ln w="12700">
            <a:solidFill>
              <a:srgbClr val="D6E2F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916936"/>
            <a:ext cx="384048" cy="384048"/>
          </a:xfrm>
          <a:prstGeom prst="ellipse">
            <a:avLst/>
          </a:prstGeom>
          <a:solidFill>
            <a:srgbClr val="0F6CBD"/>
          </a:solidFill>
          <a:ln/>
        </p:spPr>
      </p:sp>
      <p:sp>
        <p:nvSpPr>
          <p:cNvPr id="19" name="Text 17"/>
          <p:cNvSpPr/>
          <p:nvPr/>
        </p:nvSpPr>
        <p:spPr>
          <a:xfrm>
            <a:off x="713232" y="2907792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1225296" y="2798064"/>
            <a:ext cx="461772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Extensibility Toolkit   </a:t>
            </a:r>
            <a:pPr indent="0" marL="0">
              <a:buNone/>
            </a:pPr>
            <a:r>
              <a:rPr lang="en-US" sz="1150" dirty="0">
                <a:solidFill>
                  <a:srgbClr val="5E7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workload structure · Entra app · Dev Gateway · manifest · OBO token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566928" y="3511296"/>
            <a:ext cx="5394960" cy="621792"/>
          </a:xfrm>
          <a:prstGeom prst="roundRect">
            <a:avLst>
              <a:gd name="adj" fmla="val 8824"/>
            </a:avLst>
          </a:prstGeom>
          <a:solidFill>
            <a:srgbClr val="FFFFFF"/>
          </a:solidFill>
          <a:ln w="12700">
            <a:solidFill>
              <a:srgbClr val="D6E2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713232" y="3630168"/>
            <a:ext cx="384048" cy="384048"/>
          </a:xfrm>
          <a:prstGeom prst="ellipse">
            <a:avLst/>
          </a:prstGeom>
          <a:solidFill>
            <a:srgbClr val="0F6CBD"/>
          </a:solidFill>
          <a:ln/>
        </p:spPr>
      </p:sp>
      <p:sp>
        <p:nvSpPr>
          <p:cNvPr id="23" name="Text 21"/>
          <p:cNvSpPr/>
          <p:nvPr/>
        </p:nvSpPr>
        <p:spPr>
          <a:xfrm>
            <a:off x="713232" y="3621024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1225296" y="3511296"/>
            <a:ext cx="461772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   </a:t>
            </a:r>
            <a:pPr indent="0" marL="0">
              <a:buNone/>
            </a:pPr>
            <a:r>
              <a:rPr lang="en-US" sz="1150" dirty="0">
                <a:solidFill>
                  <a:srgbClr val="5E7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GreenGrid Scorecard running live inside Fabric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566928" y="4224528"/>
            <a:ext cx="5394960" cy="621792"/>
          </a:xfrm>
          <a:prstGeom prst="roundRect">
            <a:avLst>
              <a:gd name="adj" fmla="val 8824"/>
            </a:avLst>
          </a:prstGeom>
          <a:solidFill>
            <a:srgbClr val="FFFFFF"/>
          </a:solidFill>
          <a:ln w="12700">
            <a:solidFill>
              <a:srgbClr val="D6E2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713232" y="4343400"/>
            <a:ext cx="384048" cy="384048"/>
          </a:xfrm>
          <a:prstGeom prst="ellipse">
            <a:avLst/>
          </a:prstGeom>
          <a:solidFill>
            <a:srgbClr val="0F6CBD"/>
          </a:solidFill>
          <a:ln/>
        </p:spPr>
      </p:sp>
      <p:sp>
        <p:nvSpPr>
          <p:cNvPr id="27" name="Text 25"/>
          <p:cNvSpPr/>
          <p:nvPr/>
        </p:nvSpPr>
        <p:spPr>
          <a:xfrm>
            <a:off x="713232" y="4334256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1225296" y="4224528"/>
            <a:ext cx="461772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 the build   </a:t>
            </a:r>
            <a:pPr indent="0" marL="0">
              <a:buNone/>
            </a:pPr>
            <a:r>
              <a:rPr lang="en-US" sz="1150" dirty="0">
                <a:solidFill>
                  <a:srgbClr val="5E7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pick the workload · OneLake data · backend call · UI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6144768" y="2084832"/>
            <a:ext cx="5394960" cy="621792"/>
          </a:xfrm>
          <a:prstGeom prst="roundRect">
            <a:avLst>
              <a:gd name="adj" fmla="val 8824"/>
            </a:avLst>
          </a:prstGeom>
          <a:solidFill>
            <a:srgbClr val="FFFFFF"/>
          </a:solidFill>
          <a:ln w="12700">
            <a:solidFill>
              <a:srgbClr val="D6E2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291072" y="2203704"/>
            <a:ext cx="384048" cy="384048"/>
          </a:xfrm>
          <a:prstGeom prst="ellipse">
            <a:avLst/>
          </a:prstGeom>
          <a:solidFill>
            <a:srgbClr val="B14FD8"/>
          </a:solidFill>
          <a:ln/>
        </p:spPr>
      </p:sp>
      <p:sp>
        <p:nvSpPr>
          <p:cNvPr id="31" name="Text 29"/>
          <p:cNvSpPr/>
          <p:nvPr/>
        </p:nvSpPr>
        <p:spPr>
          <a:xfrm>
            <a:off x="6291072" y="219456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6803136" y="2084832"/>
            <a:ext cx="461772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sprint 1   </a:t>
            </a:r>
            <a:pPr indent="0" marL="0">
              <a:buNone/>
            </a:pPr>
            <a:r>
              <a:rPr lang="en-US" sz="1150" dirty="0">
                <a:solidFill>
                  <a:srgbClr val="5E7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clone toolkit, Setup.ps1 (Entra app), dev server + gateway, Hello World, CreateNewItem</a:t>
            </a:r>
            <a:endParaRPr lang="en-US" sz="1150" dirty="0"/>
          </a:p>
        </p:txBody>
      </p:sp>
      <p:sp>
        <p:nvSpPr>
          <p:cNvPr id="33" name="Shape 31"/>
          <p:cNvSpPr/>
          <p:nvPr/>
        </p:nvSpPr>
        <p:spPr>
          <a:xfrm>
            <a:off x="6144768" y="2798064"/>
            <a:ext cx="5394960" cy="621792"/>
          </a:xfrm>
          <a:prstGeom prst="roundRect">
            <a:avLst>
              <a:gd name="adj" fmla="val 8824"/>
            </a:avLst>
          </a:prstGeom>
          <a:solidFill>
            <a:srgbClr val="FFF6E6"/>
          </a:solidFill>
          <a:ln w="12700">
            <a:solidFill>
              <a:srgbClr val="E8B65A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6291072" y="2916936"/>
            <a:ext cx="384048" cy="384048"/>
          </a:xfrm>
          <a:prstGeom prst="ellipse">
            <a:avLst/>
          </a:prstGeom>
          <a:solidFill>
            <a:srgbClr val="D98A2B"/>
          </a:solidFill>
          <a:ln/>
        </p:spPr>
      </p:sp>
      <p:sp>
        <p:nvSpPr>
          <p:cNvPr id="35" name="Text 33"/>
          <p:cNvSpPr/>
          <p:nvPr/>
        </p:nvSpPr>
        <p:spPr>
          <a:xfrm>
            <a:off x="6291072" y="2907792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300" dirty="0"/>
          </a:p>
        </p:txBody>
      </p:sp>
      <p:sp>
        <p:nvSpPr>
          <p:cNvPr id="36" name="Text 34"/>
          <p:cNvSpPr/>
          <p:nvPr/>
        </p:nvSpPr>
        <p:spPr>
          <a:xfrm>
            <a:off x="6803136" y="2798064"/>
            <a:ext cx="461772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★ Build sprint 2   </a:t>
            </a:r>
            <a:pPr indent="0" marL="0">
              <a:buNone/>
            </a:pPr>
            <a:r>
              <a:rPr lang="en-US" sz="1150" dirty="0">
                <a:solidFill>
                  <a:srgbClr val="5E7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Files/sites.csv from OneLake, call the backend, render the scorecard</a:t>
            </a:r>
            <a:endParaRPr lang="en-US" sz="1150" dirty="0"/>
          </a:p>
        </p:txBody>
      </p:sp>
      <p:sp>
        <p:nvSpPr>
          <p:cNvPr id="37" name="Shape 35"/>
          <p:cNvSpPr/>
          <p:nvPr/>
        </p:nvSpPr>
        <p:spPr>
          <a:xfrm>
            <a:off x="6144768" y="3511296"/>
            <a:ext cx="5394960" cy="621792"/>
          </a:xfrm>
          <a:prstGeom prst="roundRect">
            <a:avLst>
              <a:gd name="adj" fmla="val 8824"/>
            </a:avLst>
          </a:prstGeom>
          <a:solidFill>
            <a:srgbClr val="FFFFFF"/>
          </a:solidFill>
          <a:ln w="12700">
            <a:solidFill>
              <a:srgbClr val="D6E2F0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6291072" y="3630168"/>
            <a:ext cx="384048" cy="384048"/>
          </a:xfrm>
          <a:prstGeom prst="ellipse">
            <a:avLst/>
          </a:prstGeom>
          <a:solidFill>
            <a:srgbClr val="B14FD8"/>
          </a:solidFill>
          <a:ln/>
        </p:spPr>
      </p:sp>
      <p:sp>
        <p:nvSpPr>
          <p:cNvPr id="39" name="Text 37"/>
          <p:cNvSpPr/>
          <p:nvPr/>
        </p:nvSpPr>
        <p:spPr>
          <a:xfrm>
            <a:off x="6291072" y="3621024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300" dirty="0"/>
          </a:p>
        </p:txBody>
      </p:sp>
      <p:sp>
        <p:nvSpPr>
          <p:cNvPr id="40" name="Text 38"/>
          <p:cNvSpPr/>
          <p:nvPr/>
        </p:nvSpPr>
        <p:spPr>
          <a:xfrm>
            <a:off x="6803136" y="3511296"/>
            <a:ext cx="461772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 &amp; next steps   </a:t>
            </a:r>
            <a:pPr indent="0" marL="0">
              <a:buNone/>
            </a:pPr>
            <a:r>
              <a:rPr lang="en-US" sz="1150" dirty="0">
                <a:solidFill>
                  <a:srgbClr val="5E7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embed in the SDC offer + path to publish on the Workload Hub</a:t>
            </a:r>
            <a:endParaRPr lang="en-US" sz="1150" dirty="0"/>
          </a:p>
        </p:txBody>
      </p:sp>
      <p:sp>
        <p:nvSpPr>
          <p:cNvPr id="41" name="Shape 39"/>
          <p:cNvSpPr/>
          <p:nvPr/>
        </p:nvSpPr>
        <p:spPr>
          <a:xfrm>
            <a:off x="566928" y="5486400"/>
            <a:ext cx="11057839" cy="713232"/>
          </a:xfrm>
          <a:prstGeom prst="roundRect">
            <a:avLst>
              <a:gd name="adj" fmla="val 10256"/>
            </a:avLst>
          </a:prstGeom>
          <a:solidFill>
            <a:srgbClr val="1F3A5F"/>
          </a:solidFill>
          <a:ln/>
        </p:spPr>
      </p:sp>
      <p:sp>
        <p:nvSpPr>
          <p:cNvPr id="42" name="Text 40"/>
          <p:cNvSpPr/>
          <p:nvPr/>
        </p:nvSpPr>
        <p:spPr>
          <a:xfrm>
            <a:off x="822960" y="5486400"/>
            <a:ext cx="36576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D98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★</a:t>
            </a:r>
            <a:endParaRPr lang="en-US" sz="1600" dirty="0"/>
          </a:p>
        </p:txBody>
      </p:sp>
      <p:sp>
        <p:nvSpPr>
          <p:cNvPr id="43" name="Text 41"/>
          <p:cNvSpPr/>
          <p:nvPr/>
        </p:nvSpPr>
        <p:spPr>
          <a:xfrm>
            <a:off x="1252728" y="5486400"/>
            <a:ext cx="10143439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98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shape, different artifact.   </a:t>
            </a:r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output is a Fabric workload the SDC embeds in its offer — so every customer adopts Fabric by design.</a:t>
            </a:r>
            <a:endParaRPr lang="en-U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11057839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F3A5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What we reuse — we don’t rebuild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66928" y="914400"/>
            <a:ext cx="11057839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i="1" dirty="0">
                <a:solidFill>
                  <a:srgbClr val="5E7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below already exists. The motion packages it; the Micro Hack runs it.</a:t>
            </a:r>
            <a:endParaRPr lang="en-US" sz="1450" dirty="0"/>
          </a:p>
        </p:txBody>
      </p:sp>
      <p:sp>
        <p:nvSpPr>
          <p:cNvPr id="4" name="Text 2"/>
          <p:cNvSpPr/>
          <p:nvPr/>
        </p:nvSpPr>
        <p:spPr>
          <a:xfrm>
            <a:off x="566928" y="6519672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E7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FY27 EMEA EPS · Fabric Apps Motion — the “Micro Hack”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638648" y="6519672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E7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9613087" y="6501384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EMEA </a:t>
            </a:r>
            <a:pPr algn="r" indent="0" marL="0">
              <a:buNone/>
            </a:pPr>
            <a:r>
              <a:rPr lang="en-US" sz="1200" dirty="0">
                <a:solidFill>
                  <a:srgbClr val="5E7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| </a:t>
            </a:r>
            <a:pPr algn="r" indent="0" marL="0">
              <a:buNone/>
            </a:pPr>
            <a:r>
              <a:rPr lang="en-US" sz="1200" b="1" dirty="0">
                <a:solidFill>
                  <a:srgbClr val="2FB6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EPS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566928" y="1417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Building blocks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566928" y="1783080"/>
            <a:ext cx="6766560" cy="676656"/>
          </a:xfrm>
          <a:prstGeom prst="roundRect">
            <a:avLst>
              <a:gd name="adj" fmla="val 8108"/>
            </a:avLst>
          </a:prstGeom>
          <a:solidFill>
            <a:srgbClr val="FFFFFF"/>
          </a:solidFill>
          <a:ln w="12700">
            <a:solidFill>
              <a:srgbClr val="D6E2F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31520" y="1938528"/>
            <a:ext cx="365760" cy="365760"/>
          </a:xfrm>
          <a:prstGeom prst="ellipse">
            <a:avLst/>
          </a:prstGeom>
          <a:solidFill>
            <a:srgbClr val="0F6CBD"/>
          </a:solidFill>
          <a:ln/>
        </p:spPr>
      </p:sp>
      <p:sp>
        <p:nvSpPr>
          <p:cNvPr id="10" name="Text 8"/>
          <p:cNvSpPr/>
          <p:nvPr/>
        </p:nvSpPr>
        <p:spPr>
          <a:xfrm>
            <a:off x="731520" y="1929384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243584" y="1783080"/>
            <a:ext cx="5943600" cy="6766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Microsoft Fabric   </a:t>
            </a:r>
            <a:pPr indent="0" marL="0">
              <a:buNone/>
            </a:pPr>
            <a:r>
              <a:rPr lang="en-US" sz="1250" dirty="0">
                <a:solidFill>
                  <a:srgbClr val="5E7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OneLake · governance · single copy of data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566928" y="2569464"/>
            <a:ext cx="6766560" cy="676656"/>
          </a:xfrm>
          <a:prstGeom prst="roundRect">
            <a:avLst>
              <a:gd name="adj" fmla="val 8108"/>
            </a:avLst>
          </a:prstGeom>
          <a:solidFill>
            <a:srgbClr val="FFFFFF"/>
          </a:solidFill>
          <a:ln w="12700">
            <a:solidFill>
              <a:srgbClr val="D6E2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31520" y="2724912"/>
            <a:ext cx="365760" cy="365760"/>
          </a:xfrm>
          <a:prstGeom prst="ellipse">
            <a:avLst/>
          </a:prstGeom>
          <a:solidFill>
            <a:srgbClr val="0F6CBD"/>
          </a:solidFill>
          <a:ln/>
        </p:spPr>
      </p:sp>
      <p:sp>
        <p:nvSpPr>
          <p:cNvPr id="14" name="Text 12"/>
          <p:cNvSpPr/>
          <p:nvPr/>
        </p:nvSpPr>
        <p:spPr>
          <a:xfrm>
            <a:off x="731520" y="2715768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1243584" y="2569464"/>
            <a:ext cx="5943600" cy="6766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Rayfin   </a:t>
            </a:r>
            <a:pPr indent="0" marL="0">
              <a:buNone/>
            </a:pPr>
            <a:r>
              <a:rPr lang="en-US" sz="1250" dirty="0">
                <a:solidFill>
                  <a:srgbClr val="5E7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managed backend for business apps (data model = DB)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566928" y="3355848"/>
            <a:ext cx="6766560" cy="676656"/>
          </a:xfrm>
          <a:prstGeom prst="roundRect">
            <a:avLst>
              <a:gd name="adj" fmla="val 8108"/>
            </a:avLst>
          </a:prstGeom>
          <a:solidFill>
            <a:srgbClr val="FFFFFF"/>
          </a:solidFill>
          <a:ln w="12700">
            <a:solidFill>
              <a:srgbClr val="D6E2F0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731520" y="3511296"/>
            <a:ext cx="365760" cy="365760"/>
          </a:xfrm>
          <a:prstGeom prst="ellipse">
            <a:avLst/>
          </a:prstGeom>
          <a:solidFill>
            <a:srgbClr val="0F6CBD"/>
          </a:solidFill>
          <a:ln/>
        </p:spPr>
      </p:sp>
      <p:sp>
        <p:nvSpPr>
          <p:cNvPr id="18" name="Text 16"/>
          <p:cNvSpPr/>
          <p:nvPr/>
        </p:nvSpPr>
        <p:spPr>
          <a:xfrm>
            <a:off x="731520" y="3502152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1243584" y="3355848"/>
            <a:ext cx="5943600" cy="6766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Fabric Extensibility Toolkit   </a:t>
            </a:r>
            <a:pPr indent="0" marL="0">
              <a:buNone/>
            </a:pPr>
            <a:r>
              <a:rPr lang="en-US" sz="1250" dirty="0">
                <a:solidFill>
                  <a:srgbClr val="5E7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native workloads, distributed in Fabric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566928" y="4142232"/>
            <a:ext cx="6766560" cy="676656"/>
          </a:xfrm>
          <a:prstGeom prst="roundRect">
            <a:avLst>
              <a:gd name="adj" fmla="val 8108"/>
            </a:avLst>
          </a:prstGeom>
          <a:solidFill>
            <a:srgbClr val="FFFFFF"/>
          </a:solidFill>
          <a:ln w="12700">
            <a:solidFill>
              <a:srgbClr val="D6E2F0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731520" y="4297680"/>
            <a:ext cx="365760" cy="365760"/>
          </a:xfrm>
          <a:prstGeom prst="ellipse">
            <a:avLst/>
          </a:prstGeom>
          <a:solidFill>
            <a:srgbClr val="0F6CBD"/>
          </a:solidFill>
          <a:ln/>
        </p:spPr>
      </p:sp>
      <p:sp>
        <p:nvSpPr>
          <p:cNvPr id="22" name="Text 20"/>
          <p:cNvSpPr/>
          <p:nvPr/>
        </p:nvSpPr>
        <p:spPr>
          <a:xfrm>
            <a:off x="731520" y="4288536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1243584" y="4142232"/>
            <a:ext cx="5943600" cy="6766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Copilot CLI   </a:t>
            </a:r>
            <a:pPr indent="0" marL="0">
              <a:buNone/>
            </a:pPr>
            <a:r>
              <a:rPr lang="en-US" sz="1250" dirty="0">
                <a:solidFill>
                  <a:srgbClr val="5E7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apps &amp; workloads fast, with validation</a:t>
            </a:r>
            <a:endParaRPr lang="en-US" sz="1250" dirty="0"/>
          </a:p>
        </p:txBody>
      </p:sp>
      <p:sp>
        <p:nvSpPr>
          <p:cNvPr id="24" name="Shape 22"/>
          <p:cNvSpPr/>
          <p:nvPr/>
        </p:nvSpPr>
        <p:spPr>
          <a:xfrm>
            <a:off x="566928" y="4928616"/>
            <a:ext cx="6766560" cy="676656"/>
          </a:xfrm>
          <a:prstGeom prst="roundRect">
            <a:avLst>
              <a:gd name="adj" fmla="val 8108"/>
            </a:avLst>
          </a:prstGeom>
          <a:solidFill>
            <a:srgbClr val="FFFFFF"/>
          </a:solidFill>
          <a:ln w="12700">
            <a:solidFill>
              <a:srgbClr val="D6E2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31520" y="5084064"/>
            <a:ext cx="365760" cy="365760"/>
          </a:xfrm>
          <a:prstGeom prst="ellipse">
            <a:avLst/>
          </a:prstGeom>
          <a:solidFill>
            <a:srgbClr val="0F6CBD"/>
          </a:solidFill>
          <a:ln/>
        </p:spPr>
      </p:sp>
      <p:sp>
        <p:nvSpPr>
          <p:cNvPr id="26" name="Text 24"/>
          <p:cNvSpPr/>
          <p:nvPr/>
        </p:nvSpPr>
        <p:spPr>
          <a:xfrm>
            <a:off x="731520" y="507492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1243584" y="4928616"/>
            <a:ext cx="5943600" cy="6766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Workload Hub   </a:t>
            </a:r>
            <a:pPr indent="0" marL="0">
              <a:buNone/>
            </a:pPr>
            <a:r>
              <a:rPr lang="en-US" sz="1250" dirty="0">
                <a:solidFill>
                  <a:srgbClr val="5E7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distribute a workload to every Fabric customer</a:t>
            </a:r>
            <a:endParaRPr lang="en-US" sz="1250" dirty="0"/>
          </a:p>
        </p:txBody>
      </p:sp>
      <p:sp>
        <p:nvSpPr>
          <p:cNvPr id="28" name="Shape 26"/>
          <p:cNvSpPr/>
          <p:nvPr/>
        </p:nvSpPr>
        <p:spPr>
          <a:xfrm>
            <a:off x="7653528" y="1417320"/>
            <a:ext cx="3971239" cy="4572000"/>
          </a:xfrm>
          <a:prstGeom prst="roundRect">
            <a:avLst>
              <a:gd name="adj" fmla="val 2303"/>
            </a:avLst>
          </a:prstGeom>
          <a:solidFill>
            <a:srgbClr val="1F3A5F"/>
          </a:solidFill>
          <a:ln/>
        </p:spPr>
      </p:sp>
      <p:sp>
        <p:nvSpPr>
          <p:cNvPr id="29" name="Text 27"/>
          <p:cNvSpPr/>
          <p:nvPr/>
        </p:nvSpPr>
        <p:spPr>
          <a:xfrm>
            <a:off x="7927848" y="162763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000000"/>
                </a:solidFill>
                <a:latin typeface="Segoe UI Emoji" pitchFamily="34" charset="0"/>
                <a:ea typeface="Segoe UI Emoji" pitchFamily="34" charset="-122"/>
                <a:cs typeface="Segoe UI Emoji" pitchFamily="34" charset="-120"/>
              </a:rPr>
              <a:t>⚙️</a:t>
            </a:r>
            <a:endParaRPr lang="en-US" sz="2200" dirty="0"/>
          </a:p>
        </p:txBody>
      </p:sp>
      <p:sp>
        <p:nvSpPr>
          <p:cNvPr id="30" name="Text 28"/>
          <p:cNvSpPr/>
          <p:nvPr/>
        </p:nvSpPr>
        <p:spPr>
          <a:xfrm>
            <a:off x="8522208" y="1627632"/>
            <a:ext cx="2965399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map</a:t>
            </a:r>
            <a:endParaRPr lang="en-US" sz="1700" dirty="0"/>
          </a:p>
        </p:txBody>
      </p:sp>
      <p:sp>
        <p:nvSpPr>
          <p:cNvPr id="31" name="Text 29"/>
          <p:cNvSpPr/>
          <p:nvPr/>
        </p:nvSpPr>
        <p:spPr>
          <a:xfrm>
            <a:off x="7946136" y="2212848"/>
            <a:ext cx="3422599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2FB6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Reuse — don’t rebuild</a:t>
            </a:r>
            <a:endParaRPr lang="en-US" sz="1150" dirty="0"/>
          </a:p>
        </p:txBody>
      </p:sp>
      <p:sp>
        <p:nvSpPr>
          <p:cNvPr id="32" name="Text 30"/>
          <p:cNvSpPr/>
          <p:nvPr/>
        </p:nvSpPr>
        <p:spPr>
          <a:xfrm>
            <a:off x="7946136" y="2670048"/>
            <a:ext cx="3422599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EC4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Scaffold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7946136" y="2889504"/>
            <a:ext cx="3422599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create-rayfin / Setup.ps1</a:t>
            </a:r>
            <a:endParaRPr lang="en-US" sz="1250" dirty="0"/>
          </a:p>
        </p:txBody>
      </p:sp>
      <p:sp>
        <p:nvSpPr>
          <p:cNvPr id="34" name="Text 32"/>
          <p:cNvSpPr/>
          <p:nvPr/>
        </p:nvSpPr>
        <p:spPr>
          <a:xfrm>
            <a:off x="7946136" y="3328416"/>
            <a:ext cx="3422599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EC4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7946136" y="3547872"/>
            <a:ext cx="3422599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rayfin data (model = DB) / sites.csv</a:t>
            </a:r>
            <a:endParaRPr lang="en-US" sz="1250" dirty="0"/>
          </a:p>
        </p:txBody>
      </p:sp>
      <p:sp>
        <p:nvSpPr>
          <p:cNvPr id="36" name="Text 34"/>
          <p:cNvSpPr/>
          <p:nvPr/>
        </p:nvSpPr>
        <p:spPr>
          <a:xfrm>
            <a:off x="7946136" y="3986784"/>
            <a:ext cx="3422599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EC4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7946136" y="4206240"/>
            <a:ext cx="3422599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npm run dev · Dev Gateway</a:t>
            </a:r>
            <a:endParaRPr lang="en-US" sz="1250" dirty="0"/>
          </a:p>
        </p:txBody>
      </p:sp>
      <p:sp>
        <p:nvSpPr>
          <p:cNvPr id="38" name="Text 36"/>
          <p:cNvSpPr/>
          <p:nvPr/>
        </p:nvSpPr>
        <p:spPr>
          <a:xfrm>
            <a:off x="7946136" y="4645152"/>
            <a:ext cx="3422599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EC4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7946136" y="4864608"/>
            <a:ext cx="3422599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rayfin up · Hello World item</a:t>
            </a:r>
            <a:endParaRPr lang="en-US" sz="1250" dirty="0"/>
          </a:p>
        </p:txBody>
      </p:sp>
      <p:sp>
        <p:nvSpPr>
          <p:cNvPr id="40" name="Text 38"/>
          <p:cNvSpPr/>
          <p:nvPr/>
        </p:nvSpPr>
        <p:spPr>
          <a:xfrm>
            <a:off x="7946136" y="5303520"/>
            <a:ext cx="3422599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EC4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Publish</a:t>
            </a:r>
            <a:endParaRPr lang="en-US" sz="1100" dirty="0"/>
          </a:p>
        </p:txBody>
      </p:sp>
      <p:sp>
        <p:nvSpPr>
          <p:cNvPr id="41" name="Text 39"/>
          <p:cNvSpPr/>
          <p:nvPr/>
        </p:nvSpPr>
        <p:spPr>
          <a:xfrm>
            <a:off x="7946136" y="5522976"/>
            <a:ext cx="3422599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Workload Hub</a:t>
            </a:r>
            <a:endParaRPr lang="en-US" sz="12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11057839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F3A5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KPIs — how we measure the motion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66928" y="914400"/>
            <a:ext cx="11057839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i="1" dirty="0">
                <a:solidFill>
                  <a:srgbClr val="5E7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scoreboards, one north-star: the share of apps and workloads that are partner-led, not Microsoft-led.</a:t>
            </a:r>
            <a:endParaRPr lang="en-US" sz="1450" dirty="0"/>
          </a:p>
        </p:txBody>
      </p:sp>
      <p:sp>
        <p:nvSpPr>
          <p:cNvPr id="4" name="Text 2"/>
          <p:cNvSpPr/>
          <p:nvPr/>
        </p:nvSpPr>
        <p:spPr>
          <a:xfrm>
            <a:off x="566928" y="6519672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E7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FY27 EMEA EPS · Fabric Apps Motion — the “Micro Hack”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638648" y="6519672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E7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9613087" y="6501384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EMEA </a:t>
            </a:r>
            <a:pPr algn="r" indent="0" marL="0">
              <a:buNone/>
            </a:pPr>
            <a:r>
              <a:rPr lang="en-US" sz="1200" dirty="0">
                <a:solidFill>
                  <a:srgbClr val="5E7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| </a:t>
            </a:r>
            <a:pPr algn="r" indent="0" marL="0">
              <a:buNone/>
            </a:pPr>
            <a:r>
              <a:rPr lang="en-US" sz="1200" b="1" dirty="0">
                <a:solidFill>
                  <a:srgbClr val="2FB6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EPS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66928" y="1481328"/>
            <a:ext cx="5394960" cy="2971800"/>
          </a:xfrm>
          <a:prstGeom prst="roundRect">
            <a:avLst>
              <a:gd name="adj" fmla="val 2462"/>
            </a:avLst>
          </a:prstGeom>
          <a:solidFill>
            <a:srgbClr val="FFFFFF"/>
          </a:solidFill>
          <a:ln w="12700">
            <a:solidFill>
              <a:srgbClr val="D6E2F0"/>
            </a:solidFill>
            <a:prstDash val="solid"/>
          </a:ln>
          <a:effectLst>
            <a:outerShdw sx="100000" sy="100000" kx="0" ky="0" algn="bl" rotWithShape="0" blurRad="88900" dist="25400" dir="5400000">
              <a:srgbClr val="8AA0BC">
                <a:alpha val="28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566928" y="1481328"/>
            <a:ext cx="5394960" cy="109728"/>
          </a:xfrm>
          <a:prstGeom prst="roundRect">
            <a:avLst>
              <a:gd name="adj" fmla="val 50000"/>
            </a:avLst>
          </a:prstGeom>
          <a:solidFill>
            <a:srgbClr val="0F6CBD"/>
          </a:solidFill>
          <a:ln/>
        </p:spPr>
      </p:sp>
      <p:sp>
        <p:nvSpPr>
          <p:cNvPr id="9" name="Shape 7"/>
          <p:cNvSpPr/>
          <p:nvPr/>
        </p:nvSpPr>
        <p:spPr>
          <a:xfrm>
            <a:off x="841248" y="1755648"/>
            <a:ext cx="822960" cy="822960"/>
          </a:xfrm>
          <a:prstGeom prst="ellipse">
            <a:avLst/>
          </a:prstGeom>
          <a:solidFill>
            <a:srgbClr val="0F6CBD"/>
          </a:solidFill>
          <a:ln/>
        </p:spPr>
      </p:sp>
      <p:sp>
        <p:nvSpPr>
          <p:cNvPr id="10" name="Text 8"/>
          <p:cNvSpPr/>
          <p:nvPr/>
        </p:nvSpPr>
        <p:spPr>
          <a:xfrm>
            <a:off x="841248" y="1746504"/>
            <a:ext cx="822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300" dirty="0">
                <a:solidFill>
                  <a:srgbClr val="FFFFFF"/>
                </a:solidFill>
                <a:latin typeface="Segoe UI Emoji" pitchFamily="34" charset="0"/>
                <a:ea typeface="Segoe UI Emoji" pitchFamily="34" charset="-122"/>
                <a:cs typeface="Segoe UI Emoji" pitchFamily="34" charset="-120"/>
              </a:rPr>
              <a:t>🗄️</a:t>
            </a:r>
            <a:endParaRPr lang="en-US" sz="2300" dirty="0"/>
          </a:p>
        </p:txBody>
      </p:sp>
      <p:sp>
        <p:nvSpPr>
          <p:cNvPr id="11" name="Text 9"/>
          <p:cNvSpPr/>
          <p:nvPr/>
        </p:nvSpPr>
        <p:spPr>
          <a:xfrm>
            <a:off x="1847088" y="1865376"/>
            <a:ext cx="3931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Path A — Apps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877824" y="274320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E7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Primary KPI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877824" y="3017520"/>
            <a:ext cx="4773168" cy="502920"/>
          </a:xfrm>
          <a:prstGeom prst="roundRect">
            <a:avLst>
              <a:gd name="adj" fmla="val 9091"/>
            </a:avLst>
          </a:prstGeom>
          <a:solidFill>
            <a:srgbClr val="E7F1FB"/>
          </a:solidFill>
          <a:ln/>
        </p:spPr>
      </p:sp>
      <p:sp>
        <p:nvSpPr>
          <p:cNvPr id="14" name="Text 12"/>
          <p:cNvSpPr/>
          <p:nvPr/>
        </p:nvSpPr>
        <p:spPr>
          <a:xfrm>
            <a:off x="1024128" y="3017520"/>
            <a:ext cx="449884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F6C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</a:t>
            </a:r>
            <a:pPr indent="0" marL="0">
              <a:buNone/>
            </a:pPr>
            <a:r>
              <a:rPr lang="en-US" sz="1250" b="1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# of opportunities created (MSX), Stage 1 &amp; 2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877824" y="3639312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E7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Secondary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877824" y="3895344"/>
            <a:ext cx="4791456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F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# Micro Hacks repeated by the partner · # apps deployed · Fabric / Azure ACR pipeline.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144768" y="1481328"/>
            <a:ext cx="5394960" cy="2971800"/>
          </a:xfrm>
          <a:prstGeom prst="roundRect">
            <a:avLst>
              <a:gd name="adj" fmla="val 2462"/>
            </a:avLst>
          </a:prstGeom>
          <a:solidFill>
            <a:srgbClr val="FFFFFF"/>
          </a:solidFill>
          <a:ln w="12700">
            <a:solidFill>
              <a:srgbClr val="D6E2F0"/>
            </a:solidFill>
            <a:prstDash val="solid"/>
          </a:ln>
          <a:effectLst>
            <a:outerShdw sx="100000" sy="100000" kx="0" ky="0" algn="bl" rotWithShape="0" blurRad="88900" dist="25400" dir="5400000">
              <a:srgbClr val="8AA0BC">
                <a:alpha val="28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144768" y="1481328"/>
            <a:ext cx="5394960" cy="109728"/>
          </a:xfrm>
          <a:prstGeom prst="roundRect">
            <a:avLst>
              <a:gd name="adj" fmla="val 50000"/>
            </a:avLst>
          </a:prstGeom>
          <a:solidFill>
            <a:srgbClr val="B14FD8"/>
          </a:solidFill>
          <a:ln/>
        </p:spPr>
      </p:sp>
      <p:sp>
        <p:nvSpPr>
          <p:cNvPr id="19" name="Shape 17"/>
          <p:cNvSpPr/>
          <p:nvPr/>
        </p:nvSpPr>
        <p:spPr>
          <a:xfrm>
            <a:off x="6419088" y="1755648"/>
            <a:ext cx="822960" cy="822960"/>
          </a:xfrm>
          <a:prstGeom prst="ellipse">
            <a:avLst/>
          </a:prstGeom>
          <a:solidFill>
            <a:srgbClr val="B14FD8"/>
          </a:solidFill>
          <a:ln/>
        </p:spPr>
      </p:sp>
      <p:sp>
        <p:nvSpPr>
          <p:cNvPr id="20" name="Text 18"/>
          <p:cNvSpPr/>
          <p:nvPr/>
        </p:nvSpPr>
        <p:spPr>
          <a:xfrm>
            <a:off x="6419088" y="1746504"/>
            <a:ext cx="822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300" dirty="0">
                <a:solidFill>
                  <a:srgbClr val="FFFFFF"/>
                </a:solidFill>
                <a:latin typeface="Segoe UI Emoji" pitchFamily="34" charset="0"/>
                <a:ea typeface="Segoe UI Emoji" pitchFamily="34" charset="-122"/>
                <a:cs typeface="Segoe UI Emoji" pitchFamily="34" charset="-120"/>
              </a:rPr>
              <a:t>🧩</a:t>
            </a:r>
            <a:endParaRPr lang="en-US" sz="2300" dirty="0"/>
          </a:p>
        </p:txBody>
      </p:sp>
      <p:sp>
        <p:nvSpPr>
          <p:cNvPr id="21" name="Text 19"/>
          <p:cNvSpPr/>
          <p:nvPr/>
        </p:nvSpPr>
        <p:spPr>
          <a:xfrm>
            <a:off x="7424928" y="1865376"/>
            <a:ext cx="3931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Path B — Workloads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6455664" y="274320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E7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Primary KPI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6455664" y="3017520"/>
            <a:ext cx="4773168" cy="502920"/>
          </a:xfrm>
          <a:prstGeom prst="roundRect">
            <a:avLst>
              <a:gd name="adj" fmla="val 9091"/>
            </a:avLst>
          </a:prstGeom>
          <a:solidFill>
            <a:srgbClr val="F6EAFB"/>
          </a:solidFill>
          <a:ln/>
        </p:spPr>
      </p:sp>
      <p:sp>
        <p:nvSpPr>
          <p:cNvPr id="24" name="Text 22"/>
          <p:cNvSpPr/>
          <p:nvPr/>
        </p:nvSpPr>
        <p:spPr>
          <a:xfrm>
            <a:off x="6601968" y="3017520"/>
            <a:ext cx="449884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B14F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</a:t>
            </a:r>
            <a:pPr indent="0" marL="0">
              <a:buNone/>
            </a:pPr>
            <a:r>
              <a:rPr lang="en-US" sz="1250" b="1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% of managed SDCs that built a Fabric workload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6455664" y="3639312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E7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Secondary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6455664" y="3895344"/>
            <a:ext cx="4791456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F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# workloads per SDC · Fabric usage / ACR from SDC end-customers.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566928" y="4617720"/>
            <a:ext cx="11057839" cy="1280160"/>
          </a:xfrm>
          <a:prstGeom prst="roundRect">
            <a:avLst>
              <a:gd name="adj" fmla="val 5714"/>
            </a:avLst>
          </a:prstGeom>
          <a:solidFill>
            <a:srgbClr val="1F3A5F"/>
          </a:solidFill>
          <a:ln/>
        </p:spPr>
      </p:sp>
      <p:sp>
        <p:nvSpPr>
          <p:cNvPr id="28" name="Text 26"/>
          <p:cNvSpPr/>
          <p:nvPr/>
        </p:nvSpPr>
        <p:spPr>
          <a:xfrm>
            <a:off x="841248" y="4709160"/>
            <a:ext cx="10509199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FB6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North-star   </a:t>
            </a:r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share of Micro Hacks, apps and workloads that are </a:t>
            </a:r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partner-led, not Microsoft-led</a:t>
            </a:r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the motion is healthy when partners repeat it without us.</a:t>
            </a:r>
            <a:endParaRPr lang="en-US" sz="14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11057839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F3A5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Execution Roadmap — FY27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66928" y="914400"/>
            <a:ext cx="11057839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i="1" dirty="0">
                <a:solidFill>
                  <a:srgbClr val="5E7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Microsoft FY starts in July. End of Q1: kit in the partner’s hands — the motion shifts from MS-build to partner-led repeat.</a:t>
            </a:r>
            <a:endParaRPr lang="en-US" sz="1450" dirty="0"/>
          </a:p>
        </p:txBody>
      </p:sp>
      <p:sp>
        <p:nvSpPr>
          <p:cNvPr id="4" name="Text 2"/>
          <p:cNvSpPr/>
          <p:nvPr/>
        </p:nvSpPr>
        <p:spPr>
          <a:xfrm>
            <a:off x="566928" y="6519672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E7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FY27 EMEA EPS · Fabric Apps Motion — the “Micro Hack”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638648" y="6519672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E7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9613087" y="6501384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EMEA </a:t>
            </a:r>
            <a:pPr algn="r" indent="0" marL="0">
              <a:buNone/>
            </a:pPr>
            <a:r>
              <a:rPr lang="en-US" sz="1200" dirty="0">
                <a:solidFill>
                  <a:srgbClr val="5E7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| </a:t>
            </a:r>
            <a:pPr algn="r" indent="0" marL="0">
              <a:buNone/>
            </a:pPr>
            <a:r>
              <a:rPr lang="en-US" sz="1200" b="1" dirty="0">
                <a:solidFill>
                  <a:srgbClr val="2FB6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EPS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535424" y="1481328"/>
            <a:ext cx="1708328" cy="457200"/>
          </a:xfrm>
          <a:prstGeom prst="roundRect">
            <a:avLst>
              <a:gd name="adj" fmla="val 8000"/>
            </a:avLst>
          </a:prstGeom>
          <a:solidFill>
            <a:srgbClr val="E7F1FB"/>
          </a:solidFill>
          <a:ln/>
        </p:spPr>
      </p:sp>
      <p:sp>
        <p:nvSpPr>
          <p:cNvPr id="8" name="Text 6"/>
          <p:cNvSpPr/>
          <p:nvPr/>
        </p:nvSpPr>
        <p:spPr>
          <a:xfrm>
            <a:off x="4498848" y="1481328"/>
            <a:ext cx="1781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Q1 · Jul–Sep ’26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316904" y="1481328"/>
            <a:ext cx="1708328" cy="457200"/>
          </a:xfrm>
          <a:prstGeom prst="roundRect">
            <a:avLst>
              <a:gd name="adj" fmla="val 8000"/>
            </a:avLst>
          </a:prstGeom>
          <a:solidFill>
            <a:srgbClr val="E7F1FB"/>
          </a:solidFill>
          <a:ln/>
        </p:spPr>
      </p:sp>
      <p:sp>
        <p:nvSpPr>
          <p:cNvPr id="10" name="Text 8"/>
          <p:cNvSpPr/>
          <p:nvPr/>
        </p:nvSpPr>
        <p:spPr>
          <a:xfrm>
            <a:off x="6280328" y="1481328"/>
            <a:ext cx="1781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Q2 · Oct–Dec ’26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8098384" y="1481328"/>
            <a:ext cx="1708328" cy="457200"/>
          </a:xfrm>
          <a:prstGeom prst="roundRect">
            <a:avLst>
              <a:gd name="adj" fmla="val 8000"/>
            </a:avLst>
          </a:prstGeom>
          <a:solidFill>
            <a:srgbClr val="E7F1FB"/>
          </a:solidFill>
          <a:ln/>
        </p:spPr>
      </p:sp>
      <p:sp>
        <p:nvSpPr>
          <p:cNvPr id="12" name="Text 10"/>
          <p:cNvSpPr/>
          <p:nvPr/>
        </p:nvSpPr>
        <p:spPr>
          <a:xfrm>
            <a:off x="8061808" y="1481328"/>
            <a:ext cx="1781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Q3 · Jan–Mar ’27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9879863" y="1481328"/>
            <a:ext cx="1708328" cy="457200"/>
          </a:xfrm>
          <a:prstGeom prst="roundRect">
            <a:avLst>
              <a:gd name="adj" fmla="val 8000"/>
            </a:avLst>
          </a:prstGeom>
          <a:solidFill>
            <a:srgbClr val="E7F1FB"/>
          </a:solidFill>
          <a:ln/>
        </p:spPr>
      </p:sp>
      <p:sp>
        <p:nvSpPr>
          <p:cNvPr id="14" name="Text 12"/>
          <p:cNvSpPr/>
          <p:nvPr/>
        </p:nvSpPr>
        <p:spPr>
          <a:xfrm>
            <a:off x="9843287" y="1481328"/>
            <a:ext cx="1781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Q4 · Apr–Jun ’27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566928" y="1938528"/>
            <a:ext cx="11057839" cy="457200"/>
          </a:xfrm>
          <a:prstGeom prst="rect">
            <a:avLst/>
          </a:prstGeom>
          <a:solidFill>
            <a:srgbClr val="F1F6FC"/>
          </a:solidFill>
          <a:ln/>
        </p:spPr>
      </p:sp>
      <p:sp>
        <p:nvSpPr>
          <p:cNvPr id="16" name="Text 14"/>
          <p:cNvSpPr/>
          <p:nvPr/>
        </p:nvSpPr>
        <p:spPr>
          <a:xfrm>
            <a:off x="612648" y="1938528"/>
            <a:ext cx="3840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F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— kit + facilitator pack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4572000" y="2029968"/>
            <a:ext cx="1635176" cy="274320"/>
          </a:xfrm>
          <a:prstGeom prst="roundRect">
            <a:avLst>
              <a:gd name="adj" fmla="val 16667"/>
            </a:avLst>
          </a:prstGeom>
          <a:solidFill>
            <a:srgbClr val="0F6CBD"/>
          </a:solidFill>
          <a:ln/>
        </p:spPr>
      </p:sp>
      <p:sp>
        <p:nvSpPr>
          <p:cNvPr id="18" name="Text 16"/>
          <p:cNvSpPr/>
          <p:nvPr/>
        </p:nvSpPr>
        <p:spPr>
          <a:xfrm>
            <a:off x="612648" y="2395728"/>
            <a:ext cx="3840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F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— reference scenarios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4572000" y="2487168"/>
            <a:ext cx="1635176" cy="274320"/>
          </a:xfrm>
          <a:prstGeom prst="roundRect">
            <a:avLst>
              <a:gd name="adj" fmla="val 16667"/>
            </a:avLst>
          </a:prstGeom>
          <a:solidFill>
            <a:srgbClr val="0F6CBD"/>
          </a:solidFill>
          <a:ln/>
        </p:spPr>
      </p:sp>
      <p:sp>
        <p:nvSpPr>
          <p:cNvPr id="20" name="Shape 18"/>
          <p:cNvSpPr/>
          <p:nvPr/>
        </p:nvSpPr>
        <p:spPr>
          <a:xfrm>
            <a:off x="566928" y="2852928"/>
            <a:ext cx="11057839" cy="457200"/>
          </a:xfrm>
          <a:prstGeom prst="rect">
            <a:avLst/>
          </a:prstGeom>
          <a:solidFill>
            <a:srgbClr val="F1F6FC"/>
          </a:solidFill>
          <a:ln/>
        </p:spPr>
      </p:sp>
      <p:sp>
        <p:nvSpPr>
          <p:cNvPr id="21" name="Text 19"/>
          <p:cNvSpPr/>
          <p:nvPr/>
        </p:nvSpPr>
        <p:spPr>
          <a:xfrm>
            <a:off x="612648" y="2852928"/>
            <a:ext cx="3840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F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Path A — Sponsor + pursuit team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4572000" y="2944368"/>
            <a:ext cx="1635176" cy="274320"/>
          </a:xfrm>
          <a:prstGeom prst="roundRect">
            <a:avLst>
              <a:gd name="adj" fmla="val 16667"/>
            </a:avLst>
          </a:prstGeom>
          <a:solidFill>
            <a:srgbClr val="2E9CA8"/>
          </a:solidFill>
          <a:ln/>
        </p:spPr>
      </p:sp>
      <p:sp>
        <p:nvSpPr>
          <p:cNvPr id="23" name="Text 21"/>
          <p:cNvSpPr/>
          <p:nvPr/>
        </p:nvSpPr>
        <p:spPr>
          <a:xfrm>
            <a:off x="612648" y="3310128"/>
            <a:ext cx="3840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F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Path A — Co-deliver Run #1 ◆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4572000" y="3401568"/>
            <a:ext cx="1635176" cy="274320"/>
          </a:xfrm>
          <a:prstGeom prst="roundRect">
            <a:avLst>
              <a:gd name="adj" fmla="val 16667"/>
            </a:avLst>
          </a:prstGeom>
          <a:solidFill>
            <a:srgbClr val="B14FD8"/>
          </a:solidFill>
          <a:ln/>
        </p:spPr>
      </p:sp>
      <p:sp>
        <p:nvSpPr>
          <p:cNvPr id="25" name="Shape 23"/>
          <p:cNvSpPr/>
          <p:nvPr/>
        </p:nvSpPr>
        <p:spPr>
          <a:xfrm>
            <a:off x="566928" y="3767328"/>
            <a:ext cx="11057839" cy="457200"/>
          </a:xfrm>
          <a:prstGeom prst="rect">
            <a:avLst/>
          </a:prstGeom>
          <a:solidFill>
            <a:srgbClr val="F1F6FC"/>
          </a:solidFill>
          <a:ln/>
        </p:spPr>
      </p:sp>
      <p:sp>
        <p:nvSpPr>
          <p:cNvPr id="26" name="Text 24"/>
          <p:cNvSpPr/>
          <p:nvPr/>
        </p:nvSpPr>
        <p:spPr>
          <a:xfrm>
            <a:off x="612648" y="3767328"/>
            <a:ext cx="3840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F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Path A — SIs repeat (own customers)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6353480" y="3858768"/>
            <a:ext cx="3416656" cy="274320"/>
          </a:xfrm>
          <a:prstGeom prst="roundRect">
            <a:avLst>
              <a:gd name="adj" fmla="val 16667"/>
            </a:avLst>
          </a:prstGeom>
          <a:solidFill>
            <a:srgbClr val="2E9CA8"/>
          </a:solidFill>
          <a:ln/>
        </p:spPr>
      </p:sp>
      <p:sp>
        <p:nvSpPr>
          <p:cNvPr id="28" name="Text 26"/>
          <p:cNvSpPr/>
          <p:nvPr/>
        </p:nvSpPr>
        <p:spPr>
          <a:xfrm>
            <a:off x="612648" y="4224528"/>
            <a:ext cx="3840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F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Path A — Scale to other GSIs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6353480" y="4315968"/>
            <a:ext cx="5198135" cy="274320"/>
          </a:xfrm>
          <a:prstGeom prst="roundRect">
            <a:avLst>
              <a:gd name="adj" fmla="val 16667"/>
            </a:avLst>
          </a:prstGeom>
          <a:solidFill>
            <a:srgbClr val="2E9CA8"/>
          </a:solidFill>
          <a:ln/>
        </p:spPr>
      </p:sp>
      <p:sp>
        <p:nvSpPr>
          <p:cNvPr id="30" name="Shape 28"/>
          <p:cNvSpPr/>
          <p:nvPr/>
        </p:nvSpPr>
        <p:spPr>
          <a:xfrm>
            <a:off x="566928" y="4681728"/>
            <a:ext cx="11057839" cy="457200"/>
          </a:xfrm>
          <a:prstGeom prst="rect">
            <a:avLst/>
          </a:prstGeom>
          <a:solidFill>
            <a:srgbClr val="F1F6FC"/>
          </a:solidFill>
          <a:ln/>
        </p:spPr>
      </p:sp>
      <p:sp>
        <p:nvSpPr>
          <p:cNvPr id="31" name="Text 29"/>
          <p:cNvSpPr/>
          <p:nvPr/>
        </p:nvSpPr>
        <p:spPr>
          <a:xfrm>
            <a:off x="612648" y="4681728"/>
            <a:ext cx="3840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F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Path B — SDC first workloads</a:t>
            </a:r>
            <a:endParaRPr lang="en-US" sz="1150" dirty="0"/>
          </a:p>
        </p:txBody>
      </p:sp>
      <p:sp>
        <p:nvSpPr>
          <p:cNvPr id="32" name="Shape 30"/>
          <p:cNvSpPr/>
          <p:nvPr/>
        </p:nvSpPr>
        <p:spPr>
          <a:xfrm>
            <a:off x="4572000" y="4773168"/>
            <a:ext cx="3416656" cy="274320"/>
          </a:xfrm>
          <a:prstGeom prst="roundRect">
            <a:avLst>
              <a:gd name="adj" fmla="val 16667"/>
            </a:avLst>
          </a:prstGeom>
          <a:solidFill>
            <a:srgbClr val="2E9E63"/>
          </a:solidFill>
          <a:ln/>
        </p:spPr>
      </p:sp>
      <p:sp>
        <p:nvSpPr>
          <p:cNvPr id="33" name="Text 31"/>
          <p:cNvSpPr/>
          <p:nvPr/>
        </p:nvSpPr>
        <p:spPr>
          <a:xfrm>
            <a:off x="612648" y="5138928"/>
            <a:ext cx="3840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F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Path B — Repeat across portfolio</a:t>
            </a:r>
            <a:endParaRPr lang="en-US" sz="1150" dirty="0"/>
          </a:p>
        </p:txBody>
      </p:sp>
      <p:sp>
        <p:nvSpPr>
          <p:cNvPr id="34" name="Shape 32"/>
          <p:cNvSpPr/>
          <p:nvPr/>
        </p:nvSpPr>
        <p:spPr>
          <a:xfrm>
            <a:off x="6353480" y="5230368"/>
            <a:ext cx="5198135" cy="274320"/>
          </a:xfrm>
          <a:prstGeom prst="roundRect">
            <a:avLst>
              <a:gd name="adj" fmla="val 16667"/>
            </a:avLst>
          </a:prstGeom>
          <a:solidFill>
            <a:srgbClr val="2E9E63"/>
          </a:solidFill>
          <a:ln/>
        </p:spPr>
      </p:sp>
      <p:sp>
        <p:nvSpPr>
          <p:cNvPr id="35" name="Shape 33"/>
          <p:cNvSpPr/>
          <p:nvPr/>
        </p:nvSpPr>
        <p:spPr>
          <a:xfrm>
            <a:off x="6280328" y="1481328"/>
            <a:ext cx="0" cy="4114800"/>
          </a:xfrm>
          <a:prstGeom prst="line">
            <a:avLst/>
          </a:prstGeom>
          <a:noFill/>
          <a:ln w="12700">
            <a:solidFill>
              <a:srgbClr val="E3EDF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8061808" y="1481328"/>
            <a:ext cx="0" cy="4114800"/>
          </a:xfrm>
          <a:prstGeom prst="line">
            <a:avLst/>
          </a:prstGeom>
          <a:noFill/>
          <a:ln w="12700">
            <a:solidFill>
              <a:srgbClr val="E3EDF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9843287" y="1481328"/>
            <a:ext cx="0" cy="4114800"/>
          </a:xfrm>
          <a:prstGeom prst="line">
            <a:avLst/>
          </a:prstGeom>
          <a:noFill/>
          <a:ln w="12700">
            <a:solidFill>
              <a:srgbClr val="E3EDF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566928" y="5760720"/>
            <a:ext cx="11057839" cy="749808"/>
          </a:xfrm>
          <a:prstGeom prst="roundRect">
            <a:avLst>
              <a:gd name="adj" fmla="val 9756"/>
            </a:avLst>
          </a:prstGeom>
          <a:solidFill>
            <a:srgbClr val="FFF6E6"/>
          </a:solidFill>
          <a:ln w="12700">
            <a:solidFill>
              <a:srgbClr val="E8B65A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841248" y="5760720"/>
            <a:ext cx="10509199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9A5B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◆ Key milestone — Run #1 co-delivered, end of Q1 (Sep ’26):  </a:t>
            </a:r>
            <a:pPr indent="0" marL="0">
              <a:buNone/>
            </a:pPr>
            <a:r>
              <a:rPr lang="en-US" sz="1200" dirty="0">
                <a:solidFill>
                  <a:srgbClr val="1F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Micro Hack delivered live; partner pursuit team certified. Q2–Q3: partners repeat independently while we scale to other GSIs and SDCs.</a:t>
            </a:r>
            <a:endParaRPr lang="en-US" sz="12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11057839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F3A5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The Ask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66928" y="914400"/>
            <a:ext cx="11057839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i="1" dirty="0">
                <a:solidFill>
                  <a:srgbClr val="5E7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Align this motion as the execution layer for building apps &amp; workloads on Fabric — not a parallel track.</a:t>
            </a:r>
            <a:endParaRPr lang="en-US" sz="1450" dirty="0"/>
          </a:p>
        </p:txBody>
      </p:sp>
      <p:sp>
        <p:nvSpPr>
          <p:cNvPr id="4" name="Text 2"/>
          <p:cNvSpPr/>
          <p:nvPr/>
        </p:nvSpPr>
        <p:spPr>
          <a:xfrm>
            <a:off x="566928" y="6519672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E7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FY27 EMEA EPS · Fabric Apps Motion — the “Micro Hack”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638648" y="6519672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E7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9613087" y="6501384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EMEA </a:t>
            </a:r>
            <a:pPr algn="r" indent="0" marL="0">
              <a:buNone/>
            </a:pPr>
            <a:r>
              <a:rPr lang="en-US" sz="1200" dirty="0">
                <a:solidFill>
                  <a:srgbClr val="5E7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| </a:t>
            </a:r>
            <a:pPr algn="r" indent="0" marL="0">
              <a:buNone/>
            </a:pPr>
            <a:r>
              <a:rPr lang="en-US" sz="1200" b="1" dirty="0">
                <a:solidFill>
                  <a:srgbClr val="2FB6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EPS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66928" y="1481328"/>
            <a:ext cx="2572436" cy="2926080"/>
          </a:xfrm>
          <a:prstGeom prst="roundRect">
            <a:avLst>
              <a:gd name="adj" fmla="val 2844"/>
            </a:avLst>
          </a:prstGeom>
          <a:solidFill>
            <a:srgbClr val="FFFFFF"/>
          </a:solidFill>
          <a:ln w="12700">
            <a:solidFill>
              <a:srgbClr val="D6E2F0"/>
            </a:solidFill>
            <a:prstDash val="solid"/>
          </a:ln>
          <a:effectLst>
            <a:outerShdw sx="100000" sy="100000" kx="0" ky="0" algn="bl" rotWithShape="0" blurRad="88900" dist="25400" dir="5400000">
              <a:srgbClr val="8AA0BC">
                <a:alpha val="28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566928" y="1481328"/>
            <a:ext cx="2572436" cy="109728"/>
          </a:xfrm>
          <a:prstGeom prst="roundRect">
            <a:avLst>
              <a:gd name="adj" fmla="val 50000"/>
            </a:avLst>
          </a:prstGeom>
          <a:solidFill>
            <a:srgbClr val="0F6CBD"/>
          </a:solidFill>
          <a:ln/>
        </p:spPr>
      </p:sp>
      <p:sp>
        <p:nvSpPr>
          <p:cNvPr id="9" name="Shape 7"/>
          <p:cNvSpPr/>
          <p:nvPr/>
        </p:nvSpPr>
        <p:spPr>
          <a:xfrm>
            <a:off x="1395946" y="1828800"/>
            <a:ext cx="914400" cy="914400"/>
          </a:xfrm>
          <a:prstGeom prst="ellipse">
            <a:avLst/>
          </a:prstGeom>
          <a:solidFill>
            <a:srgbClr val="0F6CBD"/>
          </a:solidFill>
          <a:ln/>
        </p:spPr>
      </p:sp>
      <p:sp>
        <p:nvSpPr>
          <p:cNvPr id="10" name="Text 8"/>
          <p:cNvSpPr/>
          <p:nvPr/>
        </p:nvSpPr>
        <p:spPr>
          <a:xfrm>
            <a:off x="1395946" y="1819656"/>
            <a:ext cx="914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FFFFFF"/>
                </a:solidFill>
                <a:latin typeface="Segoe UI Emoji" pitchFamily="34" charset="0"/>
                <a:ea typeface="Segoe UI Emoji" pitchFamily="34" charset="-122"/>
                <a:cs typeface="Segoe UI Emoji" pitchFamily="34" charset="-120"/>
              </a:rPr>
              <a:t>👤</a:t>
            </a:r>
            <a:endParaRPr lang="en-US" sz="2600" dirty="0"/>
          </a:p>
        </p:txBody>
      </p:sp>
      <p:sp>
        <p:nvSpPr>
          <p:cNvPr id="11" name="Text 9"/>
          <p:cNvSpPr/>
          <p:nvPr/>
        </p:nvSpPr>
        <p:spPr>
          <a:xfrm>
            <a:off x="566928" y="2926080"/>
            <a:ext cx="257243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Sponsorship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749808" y="3346704"/>
            <a:ext cx="2206676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Ahmed + EPS leadership behind one ONE-Microsoft motion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395396" y="1481328"/>
            <a:ext cx="2572436" cy="2926080"/>
          </a:xfrm>
          <a:prstGeom prst="roundRect">
            <a:avLst>
              <a:gd name="adj" fmla="val 2844"/>
            </a:avLst>
          </a:prstGeom>
          <a:solidFill>
            <a:srgbClr val="FFFFFF"/>
          </a:solidFill>
          <a:ln w="12700">
            <a:solidFill>
              <a:srgbClr val="D6E2F0"/>
            </a:solidFill>
            <a:prstDash val="solid"/>
          </a:ln>
          <a:effectLst>
            <a:outerShdw sx="100000" sy="100000" kx="0" ky="0" algn="bl" rotWithShape="0" blurRad="88900" dist="25400" dir="5400000">
              <a:srgbClr val="8AA0BC">
                <a:alpha val="28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3395396" y="1481328"/>
            <a:ext cx="2572436" cy="109728"/>
          </a:xfrm>
          <a:prstGeom prst="roundRect">
            <a:avLst>
              <a:gd name="adj" fmla="val 50000"/>
            </a:avLst>
          </a:prstGeom>
          <a:solidFill>
            <a:srgbClr val="2E9CA8"/>
          </a:solidFill>
          <a:ln/>
        </p:spPr>
      </p:sp>
      <p:sp>
        <p:nvSpPr>
          <p:cNvPr id="15" name="Shape 13"/>
          <p:cNvSpPr/>
          <p:nvPr/>
        </p:nvSpPr>
        <p:spPr>
          <a:xfrm>
            <a:off x="4224414" y="1828800"/>
            <a:ext cx="914400" cy="914400"/>
          </a:xfrm>
          <a:prstGeom prst="ellipse">
            <a:avLst/>
          </a:prstGeom>
          <a:solidFill>
            <a:srgbClr val="2E9CA8"/>
          </a:solidFill>
          <a:ln/>
        </p:spPr>
      </p:sp>
      <p:sp>
        <p:nvSpPr>
          <p:cNvPr id="16" name="Text 14"/>
          <p:cNvSpPr/>
          <p:nvPr/>
        </p:nvSpPr>
        <p:spPr>
          <a:xfrm>
            <a:off x="4224414" y="1819656"/>
            <a:ext cx="914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FFFFFF"/>
                </a:solidFill>
                <a:latin typeface="Segoe UI Emoji" pitchFamily="34" charset="0"/>
                <a:ea typeface="Segoe UI Emoji" pitchFamily="34" charset="-122"/>
                <a:cs typeface="Segoe UI Emoji" pitchFamily="34" charset="-120"/>
              </a:rPr>
              <a:t>💵</a:t>
            </a:r>
            <a:endParaRPr lang="en-US" sz="2600" dirty="0"/>
          </a:p>
        </p:txBody>
      </p:sp>
      <p:sp>
        <p:nvSpPr>
          <p:cNvPr id="17" name="Text 15"/>
          <p:cNvSpPr/>
          <p:nvPr/>
        </p:nvSpPr>
        <p:spPr>
          <a:xfrm>
            <a:off x="3395396" y="2926080"/>
            <a:ext cx="257243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Funding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3578276" y="3346704"/>
            <a:ext cx="2206676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the kit + scenarios and run the first co-delivered sessions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6223864" y="1481328"/>
            <a:ext cx="2572436" cy="2926080"/>
          </a:xfrm>
          <a:prstGeom prst="roundRect">
            <a:avLst>
              <a:gd name="adj" fmla="val 2844"/>
            </a:avLst>
          </a:prstGeom>
          <a:solidFill>
            <a:srgbClr val="FFFFFF"/>
          </a:solidFill>
          <a:ln w="12700">
            <a:solidFill>
              <a:srgbClr val="D6E2F0"/>
            </a:solidFill>
            <a:prstDash val="solid"/>
          </a:ln>
          <a:effectLst>
            <a:outerShdw sx="100000" sy="100000" kx="0" ky="0" algn="bl" rotWithShape="0" blurRad="88900" dist="25400" dir="5400000">
              <a:srgbClr val="8AA0BC">
                <a:alpha val="28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223864" y="1481328"/>
            <a:ext cx="2572436" cy="109728"/>
          </a:xfrm>
          <a:prstGeom prst="roundRect">
            <a:avLst>
              <a:gd name="adj" fmla="val 50000"/>
            </a:avLst>
          </a:prstGeom>
          <a:solidFill>
            <a:srgbClr val="B14FD8"/>
          </a:solidFill>
          <a:ln/>
        </p:spPr>
      </p:sp>
      <p:sp>
        <p:nvSpPr>
          <p:cNvPr id="21" name="Shape 19"/>
          <p:cNvSpPr/>
          <p:nvPr/>
        </p:nvSpPr>
        <p:spPr>
          <a:xfrm>
            <a:off x="7052882" y="1828800"/>
            <a:ext cx="914400" cy="914400"/>
          </a:xfrm>
          <a:prstGeom prst="ellipse">
            <a:avLst/>
          </a:prstGeom>
          <a:solidFill>
            <a:srgbClr val="B14FD8"/>
          </a:solidFill>
          <a:ln/>
        </p:spPr>
      </p:sp>
      <p:sp>
        <p:nvSpPr>
          <p:cNvPr id="22" name="Text 20"/>
          <p:cNvSpPr/>
          <p:nvPr/>
        </p:nvSpPr>
        <p:spPr>
          <a:xfrm>
            <a:off x="7052882" y="1819656"/>
            <a:ext cx="914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FFFFFF"/>
                </a:solidFill>
                <a:latin typeface="Segoe UI Emoji" pitchFamily="34" charset="0"/>
                <a:ea typeface="Segoe UI Emoji" pitchFamily="34" charset="-122"/>
                <a:cs typeface="Segoe UI Emoji" pitchFamily="34" charset="-120"/>
              </a:rPr>
              <a:t>🤖</a:t>
            </a:r>
            <a:endParaRPr lang="en-US" sz="2600" dirty="0"/>
          </a:p>
        </p:txBody>
      </p:sp>
      <p:sp>
        <p:nvSpPr>
          <p:cNvPr id="23" name="Text 21"/>
          <p:cNvSpPr/>
          <p:nvPr/>
        </p:nvSpPr>
        <p:spPr>
          <a:xfrm>
            <a:off x="6223864" y="2926080"/>
            <a:ext cx="257243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Workloads PM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6406744" y="3346704"/>
            <a:ext cx="2206676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Align with the Extensibility Toolkit roadmap and the Workload Hub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9052331" y="1481328"/>
            <a:ext cx="2572436" cy="2926080"/>
          </a:xfrm>
          <a:prstGeom prst="roundRect">
            <a:avLst>
              <a:gd name="adj" fmla="val 2844"/>
            </a:avLst>
          </a:prstGeom>
          <a:solidFill>
            <a:srgbClr val="FFFFFF"/>
          </a:solidFill>
          <a:ln w="12700">
            <a:solidFill>
              <a:srgbClr val="D6E2F0"/>
            </a:solidFill>
            <a:prstDash val="solid"/>
          </a:ln>
          <a:effectLst>
            <a:outerShdw sx="100000" sy="100000" kx="0" ky="0" algn="bl" rotWithShape="0" blurRad="88900" dist="25400" dir="5400000">
              <a:srgbClr val="8AA0BC">
                <a:alpha val="28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9052331" y="1481328"/>
            <a:ext cx="2572436" cy="109728"/>
          </a:xfrm>
          <a:prstGeom prst="roundRect">
            <a:avLst>
              <a:gd name="adj" fmla="val 50000"/>
            </a:avLst>
          </a:prstGeom>
          <a:solidFill>
            <a:srgbClr val="2E9E63"/>
          </a:solidFill>
          <a:ln/>
        </p:spPr>
      </p:sp>
      <p:sp>
        <p:nvSpPr>
          <p:cNvPr id="27" name="Shape 25"/>
          <p:cNvSpPr/>
          <p:nvPr/>
        </p:nvSpPr>
        <p:spPr>
          <a:xfrm>
            <a:off x="9881349" y="1828800"/>
            <a:ext cx="914400" cy="914400"/>
          </a:xfrm>
          <a:prstGeom prst="ellipse">
            <a:avLst/>
          </a:prstGeom>
          <a:solidFill>
            <a:srgbClr val="2E9E63"/>
          </a:solidFill>
          <a:ln/>
        </p:spPr>
      </p:sp>
      <p:sp>
        <p:nvSpPr>
          <p:cNvPr id="28" name="Text 26"/>
          <p:cNvSpPr/>
          <p:nvPr/>
        </p:nvSpPr>
        <p:spPr>
          <a:xfrm>
            <a:off x="9881349" y="1819656"/>
            <a:ext cx="914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FFFFFF"/>
                </a:solidFill>
                <a:latin typeface="Segoe UI Emoji" pitchFamily="34" charset="0"/>
                <a:ea typeface="Segoe UI Emoji" pitchFamily="34" charset="-122"/>
                <a:cs typeface="Segoe UI Emoji" pitchFamily="34" charset="-120"/>
              </a:rPr>
              <a:t>🔗</a:t>
            </a:r>
            <a:endParaRPr lang="en-US" sz="2600" dirty="0"/>
          </a:p>
        </p:txBody>
      </p:sp>
      <p:sp>
        <p:nvSpPr>
          <p:cNvPr id="29" name="Text 27"/>
          <p:cNvSpPr/>
          <p:nvPr/>
        </p:nvSpPr>
        <p:spPr>
          <a:xfrm>
            <a:off x="9052331" y="2926080"/>
            <a:ext cx="257243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Microsoft</a:t>
            </a:r>
            <a:endParaRPr lang="en-US" sz="1600" dirty="0"/>
          </a:p>
        </p:txBody>
      </p:sp>
      <p:sp>
        <p:nvSpPr>
          <p:cNvPr id="30" name="Text 28"/>
          <p:cNvSpPr/>
          <p:nvPr/>
        </p:nvSpPr>
        <p:spPr>
          <a:xfrm>
            <a:off x="9235211" y="3346704"/>
            <a:ext cx="2206676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SDC + Advisory → one execution layer, not parallel tracks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566928" y="4663440"/>
            <a:ext cx="11057839" cy="1234440"/>
          </a:xfrm>
          <a:prstGeom prst="roundRect">
            <a:avLst>
              <a:gd name="adj" fmla="val 5926"/>
            </a:avLst>
          </a:prstGeom>
          <a:solidFill>
            <a:srgbClr val="1F3A5F"/>
          </a:solidFill>
          <a:ln/>
        </p:spPr>
      </p:sp>
      <p:sp>
        <p:nvSpPr>
          <p:cNvPr id="32" name="Text 30"/>
          <p:cNvSpPr/>
          <p:nvPr/>
        </p:nvSpPr>
        <p:spPr>
          <a:xfrm>
            <a:off x="841248" y="4754880"/>
            <a:ext cx="10509199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FB6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“good” looks like   </a:t>
            </a:r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Fabric / app conversation becomes a real opportunity or a built workload — </a:t>
            </a:r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generated in the Micro Hack, owned and repeated by the partner.</a:t>
            </a:r>
            <a:endParaRPr lang="en-US" sz="14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11480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EMEA </a:t>
            </a:r>
            <a:pPr algn="l" indent="0" marL="0">
              <a:buNone/>
            </a:pPr>
            <a:r>
              <a:rPr lang="en-US" sz="1200" dirty="0">
                <a:solidFill>
                  <a:srgbClr val="BCD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| </a:t>
            </a:r>
            <a:pPr algn="l" indent="0" marL="0">
              <a:buNone/>
            </a:pPr>
            <a:r>
              <a:rPr lang="en-US" sz="1200" b="1" dirty="0">
                <a:solidFill>
                  <a:srgbClr val="2FB6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EPS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2468880"/>
            <a:ext cx="10972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We build it. The partner repeats it.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566928" y="352044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motion · two paths · one repeatable vehicle — </a:t>
            </a:r>
            <a:pPr indent="0" marL="0">
              <a:buNone/>
            </a:pPr>
            <a:r>
              <a:rPr lang="en-US" sz="2200" b="1" i="1" dirty="0">
                <a:solidFill>
                  <a:srgbClr val="2FB6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“Micro Hack”.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566928" y="5943600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BFD6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Draft for v-team review · FY27 EMEA EPS — Fabric Apps Motion · June 2026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9613087" y="6355080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EMEA </a:t>
            </a:r>
            <a:pPr algn="r" indent="0" marL="0">
              <a:buNone/>
            </a:pPr>
            <a:r>
              <a:rPr lang="en-US" sz="1200" dirty="0">
                <a:solidFill>
                  <a:srgbClr val="BCD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| </a:t>
            </a:r>
            <a:pPr algn="r" indent="0" marL="0">
              <a:buNone/>
            </a:pPr>
            <a:r>
              <a:rPr lang="en-US" sz="1200" b="1" dirty="0">
                <a:solidFill>
                  <a:srgbClr val="2FB6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EPS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2026-06-17T09:29:39Z</dcterms:created>
  <dcterms:modified xsi:type="dcterms:W3CDTF">2026-06-17T09:29:39Z</dcterms:modified>
</cp:coreProperties>
</file>