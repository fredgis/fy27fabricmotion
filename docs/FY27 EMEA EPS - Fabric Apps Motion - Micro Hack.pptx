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7384" autoAdjust="0"/>
  </p:normalViewPr>
  <p:slideViewPr>
    <p:cSldViewPr snapToGrid="0" snapToObjects="1">
      <p:cViewPr varScale="1">
        <p:scale>
          <a:sx n="128" d="100"/>
          <a:sy n="128" d="100"/>
        </p:scale>
        <p:origin x="9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6125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1488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FY27 EMEA EPS — Fabric Apps Motion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3200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to Microsoft Fabric, enabled through </a:t>
            </a:r>
            <a:r>
              <a:rPr lang="en-US" sz="23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“Micro Hack”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09039" y="36804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· Owner: EPS Tech / GTM · Two micro-hacks: Apps (Rayfin) + Workloads (Extensibility Toolkit)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pic>
        <p:nvPicPr>
          <p:cNvPr id="13" name="Picture 12" descr="Profile photo of Florent Thibault ☁">
            <a:extLst>
              <a:ext uri="{FF2B5EF4-FFF2-40B4-BE49-F238E27FC236}">
                <a16:creationId xmlns:a16="http://schemas.microsoft.com/office/drawing/2014/main" id="{F88AB34B-614E-8129-F745-C8323CA68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1940" y="4656215"/>
            <a:ext cx="1046896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pic>
        <p:nvPicPr>
          <p:cNvPr id="14" name="Picture 13" descr="The image shows a person wearing a light blue dress shirt with a white collar and a patterned undershirt.&#10;&#10;AI-generated content may be incorrect.">
            <a:extLst>
              <a:ext uri="{FF2B5EF4-FFF2-40B4-BE49-F238E27FC236}">
                <a16:creationId xmlns:a16="http://schemas.microsoft.com/office/drawing/2014/main" id="{4739E960-05A1-11E5-796E-2B7ED57D99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427" y="4656215"/>
            <a:ext cx="1080000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pic>
        <p:nvPicPr>
          <p:cNvPr id="17" name="Picture 16" descr="The image shows a person wearing a dark blue shirt with a pattern, against a plain background.&#10;&#10;AI-generated content may be incorrect.">
            <a:extLst>
              <a:ext uri="{FF2B5EF4-FFF2-40B4-BE49-F238E27FC236}">
                <a16:creationId xmlns:a16="http://schemas.microsoft.com/office/drawing/2014/main" id="{69ECC126-62A5-1661-0822-EABDAC4012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0018" y="4656215"/>
            <a:ext cx="1091887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pic>
        <p:nvPicPr>
          <p:cNvPr id="18" name="Picture 17" descr="Profile image">
            <a:extLst>
              <a:ext uri="{FF2B5EF4-FFF2-40B4-BE49-F238E27FC236}">
                <a16:creationId xmlns:a16="http://schemas.microsoft.com/office/drawing/2014/main" id="{01E2DF28-C642-B1C9-2BA5-14682A4E3D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7496" y="4656215"/>
            <a:ext cx="1080000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pic>
        <p:nvPicPr>
          <p:cNvPr id="19" name="Picture 18" descr="Profile image">
            <a:extLst>
              <a:ext uri="{FF2B5EF4-FFF2-40B4-BE49-F238E27FC236}">
                <a16:creationId xmlns:a16="http://schemas.microsoft.com/office/drawing/2014/main" id="{09007BAB-599A-0998-A8CC-76E2ECE065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087" y="4656215"/>
            <a:ext cx="1080000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sp>
        <p:nvSpPr>
          <p:cNvPr id="21" name="Text 5">
            <a:extLst>
              <a:ext uri="{FF2B5EF4-FFF2-40B4-BE49-F238E27FC236}">
                <a16:creationId xmlns:a16="http://schemas.microsoft.com/office/drawing/2014/main" id="{37E230EF-A89B-1996-1D37-40FE2769822E}"/>
              </a:ext>
            </a:extLst>
          </p:cNvPr>
          <p:cNvSpPr/>
          <p:nvPr/>
        </p:nvSpPr>
        <p:spPr>
          <a:xfrm>
            <a:off x="4401556" y="5760720"/>
            <a:ext cx="38688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PSA Data Team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motion, two execution paths — both powered by a single, repeatable vehicle: the “Micro Hack”.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41248" y="1792224"/>
            <a:ext cx="868680" cy="86868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4124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89280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9280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Integrators / Advisory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782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782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ship business apps on Microsoft Fabric with Rayfin — partner-led, on governed OneLake data.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7782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2412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419088" y="1792224"/>
            <a:ext cx="868680" cy="86868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41908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747064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Adoption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566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managed ISV embeds a Fabric workload in its offer — so every customer consumes a data workload.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5566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60196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ISVs that built a workload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645152"/>
            <a:ext cx="11057839" cy="1298448"/>
          </a:xfrm>
          <a:prstGeom prst="roundRect">
            <a:avLst>
              <a:gd name="adj" fmla="val 5634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41248" y="4736592"/>
            <a:ext cx="10509199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does not build new tooling — Fabric, Rayfin, the Extensibility Toolkit and the GitHub Copilot CLI already exist. We package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turnkey, repeatable vehicle — the “Micro Hack” — that an SI or ISV can run themselves.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Motion at a Glance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build it, the partner repeats it.” — one operational vehicle, two partner paths.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468880" cy="1874520"/>
          </a:xfrm>
          <a:prstGeom prst="roundRect">
            <a:avLst>
              <a:gd name="adj" fmla="val 4878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35608" y="2377440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35608" y="23682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66928" y="3200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3474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kit + reference scenarios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3081528"/>
            <a:ext cx="548640" cy="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246120" y="1783080"/>
            <a:ext cx="37490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0F6CB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754880" y="1938528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754880" y="192938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24612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Micro Hack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46120" y="3063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 · repeatable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74720" y="3419856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611880" y="341985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</a:t>
            </a: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Fabric · Rayfin · MFE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3986784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611880" y="398678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 </a:t>
            </a: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in → app / workload out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6995160" y="2423160"/>
            <a:ext cx="502920" cy="4572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995160" y="3886200"/>
            <a:ext cx="502920" cy="45720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498080" y="1874520"/>
            <a:ext cx="4126687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498080" y="1874520"/>
            <a:ext cx="91440" cy="123444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726680" y="19751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 / advisories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26680" y="2249424"/>
            <a:ext cx="37152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Micro Hack with their own customers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26680" y="261518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872984" y="261518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opportunities (MSX)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0" y="3246120"/>
            <a:ext cx="4126687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498080" y="3246120"/>
            <a:ext cx="91440" cy="1325880"/>
          </a:xfrm>
          <a:prstGeom prst="rect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7726680" y="33467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ISV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26680" y="3621024"/>
            <a:ext cx="371520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Fabric workload → every customer adopts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26680" y="407822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872984" y="407822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ISV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F1F6FC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41248" y="4983480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   </a:t>
            </a: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FY27 EPS motion we ship a highly operational vehicle (here: the Micro Hack). Microsoft builds and co-delivers the first run; the partner then owns and repeats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Context — the simplified “why now”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to open a customer conversation, no more — the one-slide version of the narrative.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66928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045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04088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projects without AI-ready data will be abandoned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5396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95396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95396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F6CB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532556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leaders say stronger data infrastructure would speed AI adoption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5396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23864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223864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23864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E9C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+95.6%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361024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win rate when an opportunity is shared with a partner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3864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331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052331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052331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E9E6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+46%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189491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deal size when a partner is attached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52331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3456432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2960" y="3639312"/>
            <a:ext cx="475488" cy="475488"/>
          </a:xfrm>
          <a:prstGeom prst="ellipse">
            <a:avLst/>
          </a:prstGeom>
          <a:solidFill>
            <a:srgbClr val="D98A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22960" y="36301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81328" y="3456432"/>
            <a:ext cx="9960559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are the new compelling event.   </a:t>
            </a: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AI-era apps demand governed data. Fabric + Rayfin remove months of backend plumbing, so partners ship on OneLake — governed by default — instead of rebuilding infrastructure.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customer frictions to anchor on: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795528" y="5029200"/>
            <a:ext cx="548640" cy="54864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795528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81328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Stay ahead of AI-era security &amp; governance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344314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572914" y="5029200"/>
            <a:ext cx="548640" cy="548640"/>
          </a:xfrm>
          <a:prstGeom prst="ellipse">
            <a:avLst/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572914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258714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Cut the cost &amp; time of backend plumbing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121701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350301" y="5029200"/>
            <a:ext cx="548640" cy="54864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350301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036101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Unblock AI innovation on governed data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A — SI / Advisory (Apps)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Enable partners to build &amp; ship customer business apps on Fabric, partner-led.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4124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184708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SIs to build and ship business apps on Microsoft Fabric with Rayfin, led by the partner — on governed OneLake data.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419088" y="1737360"/>
            <a:ext cx="822960" cy="822960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41908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42492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5566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opportunities created in MSX (partner-sourced or partner-shared) — ACR vision.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41248" y="3767328"/>
            <a:ext cx="822960" cy="822960"/>
          </a:xfrm>
          <a:prstGeom prst="ellipse">
            <a:avLst/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4124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184708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KPIs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7782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“Micro Hack” days repeated by the partner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apps deployed to Fabric · Azure/Fabric pipeline.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419088" y="376732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41908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742492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role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5566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(PDM / PTS / PSA), with one executive sponsor per SI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1 (Apps)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fixed, repeatable one-day format. Microsoft co-delivers run #1; the SI repeats runs #2…N independently.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Prez + Demo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on Fabric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· governance on OneLake · time-to-app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foundations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= database · auth, APIs, hosting · deploy in one command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 Bicycle Studio built live with the GitHub Copilot CLI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· data model · screens · roles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the data model (Rayfin provisions the DB), core screens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extend, polish, deploy to Fabric (rayfin up), demo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app into an MSX opportunity + a 90-day plan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afternoon is the differentiator.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ship a real working app on Fabric — the artifact the SI uses to open and qualify a real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Repeatability — the partner runs its own Micro Hack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only scales if the partner repeats it without us. We ship a “Micro Hack in a Box”.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75956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75956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(morning), demo script, timing guide, FAQ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90824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299852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99852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90824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access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55416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way to build the app / workload with the GitHub Copilot CLI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4720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23748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23748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4720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9312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#1 co-delivered; we certify a partner pursuit team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38615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947643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947643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038615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 KPI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03207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partner-led sessions and opportunities they generate (MSX)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3657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scales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41194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41194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836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0408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kit + scenarios + facilitator pack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04335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344568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29070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29070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🤝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3712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Co-deliver Run #1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358284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with the partner team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2211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32444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716946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16946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1588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#2…N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46160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delivers independently to its customers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800871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9203207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04822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1004822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294647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9340367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workloads → created / shared in MSX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Micro Hack kit — the one asset we 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enablement kit, not a product — used live in the day, then repeated by the partner.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E6F5E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4124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" y="1993392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85953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2529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ready-to-run kit: prompts, scripts, reference code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" y="2377440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5953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2529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scenarios — a Rayfin app and a Fabric workload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9536" y="2761488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953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2529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materials to repeat the day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BEAE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14476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41908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4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37376" y="1993392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43737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0313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product or platform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37376" y="2377440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43737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0313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replacement for Rayfin / the Extensibility Toolkit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37376" y="2761488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43737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313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custom build for a single customer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66928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713232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— Fixed scenario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22960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+ sample data + target users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Apps: Helios · Workloads: GreenGrid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start for every run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960266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435754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435754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582058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Copilot CLI + Rayfin / Toolkit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691786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data model / workload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Screens, roles, OneLake read (OBO)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build + tests green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29093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304581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304581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450885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Working app / workload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560613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Fabric, governed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Demo-ready, partner-owned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→ opportunity / adoption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B —ISV (Workloads)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Fabric footprint through ISV offers: embed once, consume mechanically across the ISV’s customer base.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521208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17373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7824" y="2176272"/>
            <a:ext cx="46085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every Microsoft-managed ISV to embed a Fabric workload (Extensibility Toolkit) inside its commercial offer — so every time a customer uses the product, a Fabric data workload is consumed by design.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3200400"/>
            <a:ext cx="4590288" cy="868680"/>
          </a:xfrm>
          <a:prstGeom prst="roundRect">
            <a:avLst>
              <a:gd name="adj" fmla="val 6316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042416" y="32004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once, adopt many.   </a:t>
            </a: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ISV standardizes on a Fabric workload, its entire customer base becomes ongoing Fabric adoption.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4187952"/>
            <a:ext cx="4590288" cy="640080"/>
          </a:xfrm>
          <a:prstGeom prst="roundRect">
            <a:avLst>
              <a:gd name="adj" fmla="val 8571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42416" y="4187952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ISVs that built a Fabric workload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7824" y="4956048"/>
            <a:ext cx="46085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adoption &amp; mechanical consumption — not repeated workshops. The win is the embed and the footprint it generates.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44768" y="1444752"/>
            <a:ext cx="547999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 </a:t>
            </a: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adopt mechanically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44768" y="1828800"/>
            <a:ext cx="5479999" cy="548640"/>
          </a:xfrm>
          <a:prstGeom prst="roundRect">
            <a:avLst>
              <a:gd name="adj" fmla="val 11667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327648" y="1828800"/>
            <a:ext cx="51142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ISV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884768" y="2377440"/>
            <a:ext cx="0" cy="164592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144768" y="2578608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327648" y="2578608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managed Fabric workload (Toolkit)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884768" y="3081528"/>
            <a:ext cx="0" cy="146304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144768" y="3255264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327648" y="3255264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product / offer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003237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14476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21792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1</a:t>
            </a:r>
            <a:endParaRPr lang="en-US" sz="11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03237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88476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02629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09945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2</a:t>
            </a:r>
            <a:endParaRPr lang="en-US" sz="11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8476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076629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907829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9980981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</a:t>
            </a:r>
            <a:endParaRPr lang="en-US" sz="11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76629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144768" y="4608576"/>
            <a:ext cx="5479999" cy="640080"/>
          </a:xfrm>
          <a:prstGeom prst="roundRect">
            <a:avLst>
              <a:gd name="adj" fmla="val 10000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6327648" y="4608576"/>
            <a:ext cx="51142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Fabric footprint — adoption &amp; ACR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2 (Workloads)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fixed, repeatable shape as Micro Hack 1 — but the artifact is a Fabric workload the ISV embeds in its offer.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Prez + Demo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a workload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every Fabric customer via the Workload Hub · run on OneLake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Extensibility Toolkit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structure · Entra app · Dev Gateway · manifest · OBO token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GreenGrid Scorecard running live inside Fabric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workload · OneLake data · backend call · UI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toolkit, Setup.ps1 (Entra app), dev server + gateway, Hello World, CreateNewItem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Files/sites.csv from OneLake, call the backend, render the scorecard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in the ISV offer + path to publish on the Workload Hub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artifact.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a Fabric workload the ISV embeds in its offer — so every customer adopts Fabric by design.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 reuse — we don’t rebuild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already exists. The motion packages it; the Micro Hack runs it.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31520" y="1938528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43584" y="1783080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· governance · single copy of data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569464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31520" y="2724912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31520" y="27157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43584" y="2569464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for business apps (data model = DB)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355848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1520" y="3511296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31520" y="3502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355848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Extensibility Toolkit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native workloads, distributed in Fabric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142232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31520" y="4288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43584" y="4142232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apps &amp; workloads fast, with validation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28616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1520" y="5084064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31520" y="5074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928616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a workload to every Fabric customer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53528" y="1417320"/>
            <a:ext cx="3971239" cy="4572000"/>
          </a:xfrm>
          <a:prstGeom prst="roundRect">
            <a:avLst>
              <a:gd name="adj" fmla="val 23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927848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522208" y="1627632"/>
            <a:ext cx="296539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map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946136" y="221284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— don’t rebuild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46136" y="2670048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46136" y="2889504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create-rayfin / Setup.ps1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46136" y="3328416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46136" y="3547872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data (model = DB) / sites.csv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946136" y="3986784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946136" y="4206240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dev · Dev Gateway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46136" y="4645152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946136" y="486460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up · Hello World item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946136" y="5303520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946136" y="5522976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KPIs — how we measure the motion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scoreboards, one north-star: the share of apps and workloads that are partner-led, not Microsoft-led.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41248" y="1755648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4124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84708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782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(MSX), Stage 1 &amp;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7782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Micro Hacks repeated by the partner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apps deployed · Fabric / Azure ACR pipeline.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419088" y="175564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41908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42492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Workloads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5566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5566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60196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ISVs that built a Fabric workload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5566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5566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ISV · Fabric usage / ACR from ISV end-customers.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17720"/>
            <a:ext cx="11057839" cy="128016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41248" y="4709160"/>
            <a:ext cx="1050919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North-star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of Micro Hacks, apps and workloads that are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partner-led, not Microsoft-led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motion is healthy when partners repeat it without us.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Execution Roadmap — FY27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FY starts in July. End of Q1: kit in the partner’s hands — the motion shifts from MS-build to partner-led repeat.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3542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49884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Jul–Sep ’26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1690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28032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Oct–Dec ’26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838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06180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Jan–Mar ’27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9863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843287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Apr–Jun ’27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19385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12648" y="1938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kit + facilitator pack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0" y="20299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12648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reference scenarios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24871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66928" y="28529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12648" y="2852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Sponsor + pursuit team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0" y="29443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12648" y="33101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Co-deliver Run #1 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0" y="3401568"/>
            <a:ext cx="3489806" cy="274320"/>
          </a:xfrm>
          <a:prstGeom prst="roundRect">
            <a:avLst>
              <a:gd name="adj" fmla="val 16667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66928" y="37673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12648" y="3767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Frontier SIs repeat (own customers)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3480" y="38587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12648" y="4224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Scale to other SIs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3480" y="43159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66928" y="46817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12648" y="4681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ISV first workloads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53480" y="4764024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12648" y="5138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Repeat across portfolio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3480" y="52303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28032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806180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843287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66928" y="57607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41248" y="5760720"/>
            <a:ext cx="10509199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Key milestone — Run #1 co-delivered, end of Q1 (Sep ’26):  </a:t>
            </a: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Micro Hack delivered live; partner pursuit team certified. Q2–Q3: partners repeat independently while we scale to other SIs and ISVs.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this motion as the execution layer for building apps &amp; workloads on Fabric — not a parallel track.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8654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218654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395946" y="253402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95946" y="252487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363130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05192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+ EPS leadership behind ONE-Microsoft motion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95396" y="218654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395396" y="218654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224414" y="2534020"/>
            <a:ext cx="914400" cy="914400"/>
          </a:xfrm>
          <a:prstGeom prst="ellipse">
            <a:avLst/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24414" y="252487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95396" y="363130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405192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kit + scenarios and run the first co-delivered sessions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(Lunch $$$ </a:t>
            </a: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23864" y="218654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23864" y="218654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052882" y="2534020"/>
            <a:ext cx="914400" cy="91440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052882" y="252487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23864" y="363130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6744" y="405192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the Extensibility Toolkit roadmap and the Workload Hub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52331" y="218654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052331" y="218654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881349" y="2534020"/>
            <a:ext cx="914400" cy="914400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881349" y="252487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052331" y="363130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Microsoft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35211" y="405192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+ Advisory → one execution layer, not parallel tracks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build it. The partner repeats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 · two paths · one repeatable vehicle — </a:t>
            </a:r>
            <a:r>
              <a:rPr lang="en-US" sz="22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“Micro Hack”.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2168</Words>
  <Application>Microsoft Office PowerPoint</Application>
  <PresentationFormat>Widescreen</PresentationFormat>
  <Paragraphs>324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Frederic Gisbert</cp:lastModifiedBy>
  <cp:revision>9</cp:revision>
  <dcterms:created xsi:type="dcterms:W3CDTF">2026-06-29T08:10:23Z</dcterms:created>
  <dcterms:modified xsi:type="dcterms:W3CDTF">2026-06-29T09:27:20Z</dcterms:modified>
</cp:coreProperties>
</file>