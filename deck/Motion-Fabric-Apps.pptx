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78992"/>
          </a:xfrm>
          <a:prstGeom prst="rect">
            <a:avLst/>
          </a:prstGeom>
          <a:solidFill>
            <a:srgbClr val="0B244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78992"/>
            <a:ext cx="12161520" cy="54864"/>
          </a:xfrm>
          <a:prstGeom prst="rect">
            <a:avLst/>
          </a:prstGeom>
          <a:solidFill>
            <a:srgbClr val="00B4A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46304"/>
            <a:ext cx="9509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B4A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FABRIC MOTION  </a:t>
            </a:r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Envision Your Business with Microsoft Fabric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75488" y="676656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9D7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Building the next-generation application approach on Microsoft Fabric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10332720" y="310896"/>
            <a:ext cx="1371600" cy="457200"/>
          </a:xfrm>
          <a:prstGeom prst="roundRect">
            <a:avLst>
              <a:gd name="adj" fmla="val 50000"/>
            </a:avLst>
          </a:prstGeom>
          <a:solidFill>
            <a:srgbClr val="00B4A6"/>
          </a:solidFill>
          <a:ln/>
        </p:spPr>
      </p:sp>
      <p:sp>
        <p:nvSpPr>
          <p:cNvPr id="7" name="Text 5"/>
          <p:cNvSpPr/>
          <p:nvPr/>
        </p:nvSpPr>
        <p:spPr>
          <a:xfrm>
            <a:off x="10332720" y="3108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0B244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EMEA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5349240" cy="2697480"/>
          </a:xfrm>
          <a:prstGeom prst="rect">
            <a:avLst/>
          </a:prstGeom>
          <a:solidFill>
            <a:srgbClr val="EAF3FB"/>
          </a:solidFill>
          <a:ln w="12700">
            <a:solidFill>
              <a:srgbClr val="0078D4"/>
            </a:solidFill>
            <a:prstDash val="solid"/>
          </a:ln>
          <a:effectLst>
            <a:outerShdw sx="100000" sy="100000" kx="0" ky="0" algn="bl" rotWithShape="0" blurRad="101600" dist="38100" dir="5400000">
              <a:srgbClr val="0B2447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371600"/>
            <a:ext cx="91440" cy="269748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" y="1572768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57276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ADVISORY / SI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697480" y="1572768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Integrators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2048256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</a:t>
            </a:r>
            <a:pPr indent="0" marL="0">
              <a:buNone/>
            </a:pPr>
            <a:r>
              <a:rPr lang="en-US" sz="15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Fabric </a:t>
            </a:r>
            <a:pPr indent="0" marL="0">
              <a:buNone/>
            </a:pPr>
            <a:r>
              <a:rPr lang="en-US" sz="1500" i="1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(Preview) </a:t>
            </a:r>
            <a:pPr indent="0" marL="0">
              <a:buNone/>
            </a:pPr>
            <a:r>
              <a:rPr lang="en-US" sz="150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SIs build </a:t>
            </a:r>
            <a:pPr indent="0" marL="0">
              <a:buNone/>
            </a:pPr>
            <a:r>
              <a:rPr lang="en-US" sz="15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Business Apps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31520" y="2505456"/>
            <a:ext cx="480060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2505456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APPROACH   </a:t>
            </a:r>
            <a:pPr indent="0" marL="0">
              <a:buNone/>
            </a:pPr>
            <a:r>
              <a:rPr lang="en-US" sz="12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Spec-driven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1520" y="2944368"/>
            <a:ext cx="480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KPI  </a:t>
            </a:r>
            <a:pPr indent="0" marL="0">
              <a:buNone/>
            </a:pPr>
            <a:r>
              <a:rPr lang="en-US" sz="125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Number of opportunities (MSX / CRM)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68680" y="3236976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3348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1 &amp; 2 pipeline tracked in MSX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3348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Vision: ACR – Azure Consumed Revenue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355080" y="1371600"/>
            <a:ext cx="5349240" cy="2697480"/>
          </a:xfrm>
          <a:prstGeom prst="rect">
            <a:avLst/>
          </a:prstGeom>
          <a:solidFill>
            <a:srgbClr val="E6F7F4"/>
          </a:solidFill>
          <a:ln w="12700">
            <a:solidFill>
              <a:srgbClr val="00B4A6"/>
            </a:solidFill>
            <a:prstDash val="solid"/>
          </a:ln>
          <a:effectLst>
            <a:outerShdw sx="100000" sy="100000" kx="0" ky="0" algn="bl" rotWithShape="0" blurRad="101600" dist="38100" dir="5400000">
              <a:srgbClr val="0B2447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355080" y="1371600"/>
            <a:ext cx="91440" cy="2697480"/>
          </a:xfrm>
          <a:prstGeom prst="rect">
            <a:avLst/>
          </a:prstGeom>
          <a:solidFill>
            <a:srgbClr val="00B4A6"/>
          </a:solidFill>
          <a:ln/>
        </p:spPr>
      </p:sp>
      <p:sp>
        <p:nvSpPr>
          <p:cNvPr id="20" name="Shape 18"/>
          <p:cNvSpPr/>
          <p:nvPr/>
        </p:nvSpPr>
        <p:spPr>
          <a:xfrm>
            <a:off x="6629400" y="1572768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00B4A6"/>
          </a:solidFill>
          <a:ln/>
        </p:spPr>
      </p:sp>
      <p:sp>
        <p:nvSpPr>
          <p:cNvPr id="21" name="Text 19"/>
          <p:cNvSpPr/>
          <p:nvPr/>
        </p:nvSpPr>
        <p:spPr>
          <a:xfrm>
            <a:off x="6629400" y="157276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ISV / SDC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595360" y="1572768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Software Vendors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629400" y="2048256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Become </a:t>
            </a:r>
            <a:pPr indent="0" marL="0">
              <a:buNone/>
            </a:pPr>
            <a:r>
              <a:rPr lang="en-US" sz="1500" b="1" dirty="0">
                <a:solidFill>
                  <a:srgbClr val="00B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Fabric </a:t>
            </a:r>
            <a:pPr indent="0" marL="0">
              <a:buNone/>
            </a:pPr>
            <a:r>
              <a:rPr lang="en-US" sz="1500" i="1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(GA) </a:t>
            </a:r>
            <a:pPr indent="0" marL="0">
              <a:buNone/>
            </a:pPr>
            <a:r>
              <a:rPr lang="en-US" sz="150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ISV </a:t>
            </a:r>
            <a:pPr indent="0" marL="0">
              <a:buNone/>
            </a:pPr>
            <a:r>
              <a:rPr lang="en-US" sz="15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 extension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629400" y="2505456"/>
            <a:ext cx="480060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00B4A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0" y="2505456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4A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APPROACH   </a:t>
            </a:r>
            <a:pPr indent="0" marL="0">
              <a:buNone/>
            </a:pPr>
            <a:r>
              <a:rPr lang="en-US" sz="12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Workload / Code-driven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629400" y="2944368"/>
            <a:ext cx="480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B4A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KPI  </a:t>
            </a:r>
            <a:pPr indent="0" marL="0">
              <a:buNone/>
            </a:pPr>
            <a:r>
              <a:rPr lang="en-US" sz="125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Number of workloads per ISV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766560" y="3236976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3348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 opty on Fabric consumption capacity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3348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Vision: Adoption – one workload per ISV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4279392"/>
            <a:ext cx="5074920" cy="1691640"/>
          </a:xfrm>
          <a:prstGeom prst="rect">
            <a:avLst/>
          </a:prstGeom>
          <a:solidFill>
            <a:srgbClr val="F3F7FB"/>
          </a:solidFill>
          <a:ln w="12700">
            <a:solidFill>
              <a:srgbClr val="D7E3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" y="4279392"/>
            <a:ext cx="91440" cy="1691640"/>
          </a:xfrm>
          <a:prstGeom prst="rect">
            <a:avLst/>
          </a:prstGeom>
          <a:solidFill>
            <a:srgbClr val="0B2447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38912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B244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ACTIVATION – EMEA ECOSYSTEM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04672" y="4700016"/>
            <a:ext cx="4617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348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Partners: PwC, KPMG, EY, HVMC, Bain, BCG, McKinsey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348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“Shape your business' future applications with Microsoft Fabric”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“Build the next page of your business with Microsoft Fabric”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715000" y="4279392"/>
            <a:ext cx="2148840" cy="1691640"/>
          </a:xfrm>
          <a:prstGeom prst="roundRect">
            <a:avLst>
              <a:gd name="adj" fmla="val 5405"/>
            </a:avLst>
          </a:prstGeom>
          <a:solidFill>
            <a:srgbClr val="0B2447"/>
          </a:solidFill>
          <a:ln/>
          <a:effectLst>
            <a:outerShdw sx="100000" sy="100000" kx="0" ky="0" algn="bl" rotWithShape="0" blurRad="101600" dist="38100" dir="5400000">
              <a:srgbClr val="0B2447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5715000" y="4279392"/>
            <a:ext cx="2148840" cy="54864"/>
          </a:xfrm>
          <a:prstGeom prst="rect">
            <a:avLst/>
          </a:prstGeom>
          <a:solidFill>
            <a:srgbClr val="00B4A6"/>
          </a:solidFill>
          <a:ln/>
        </p:spPr>
      </p:sp>
      <p:sp>
        <p:nvSpPr>
          <p:cNvPr id="34" name="Text 32"/>
          <p:cNvSpPr/>
          <p:nvPr/>
        </p:nvSpPr>
        <p:spPr>
          <a:xfrm>
            <a:off x="5715000" y="44805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B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⚡</a:t>
            </a:r>
            <a:endParaRPr lang="en-US" sz="2600" dirty="0"/>
          </a:p>
        </p:txBody>
      </p:sp>
      <p:sp>
        <p:nvSpPr>
          <p:cNvPr id="35" name="Text 33"/>
          <p:cNvSpPr/>
          <p:nvPr/>
        </p:nvSpPr>
        <p:spPr>
          <a:xfrm>
            <a:off x="5715000" y="4882896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 Hack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5715000" y="5230368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00B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Day – enablement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852160" y="550468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9D7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Hands-on activation format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046720" y="4279392"/>
            <a:ext cx="3657600" cy="1691640"/>
          </a:xfrm>
          <a:prstGeom prst="rect">
            <a:avLst/>
          </a:prstGeom>
          <a:solidFill>
            <a:srgbClr val="0B2447"/>
          </a:solidFill>
          <a:ln/>
        </p:spPr>
      </p:sp>
      <p:sp>
        <p:nvSpPr>
          <p:cNvPr id="39" name="Shape 37"/>
          <p:cNvSpPr/>
          <p:nvPr/>
        </p:nvSpPr>
        <p:spPr>
          <a:xfrm>
            <a:off x="8046720" y="4279392"/>
            <a:ext cx="91440" cy="1691640"/>
          </a:xfrm>
          <a:prstGeom prst="rect">
            <a:avLst/>
          </a:prstGeom>
          <a:solidFill>
            <a:srgbClr val="00B4A6"/>
          </a:solidFill>
          <a:ln/>
        </p:spPr>
      </p:sp>
      <p:sp>
        <p:nvSpPr>
          <p:cNvPr id="40" name="Text 38"/>
          <p:cNvSpPr/>
          <p:nvPr/>
        </p:nvSpPr>
        <p:spPr>
          <a:xfrm>
            <a:off x="8302752" y="43891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B4A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ASK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8430768" y="4736592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→"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Sponsorship — Ahmed + EPS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→"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Funding secured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→"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 PM lead on workloads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→"/>
            </a:pPr>
            <a:r>
              <a:rPr lang="en-US" sz="1200" b="1" dirty="0">
                <a:solidFill>
                  <a:srgbClr val="00B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ISV + Advisory → ONE Microsoft program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57200" y="6089904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Fabric  |  Rayfin (Business Apps)  •  Fabric Extensibility Kit (Workloads)  |  EMEA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Fabric Motion - Envision Your Business with Microsoft Fabric</dc:title>
  <dc:subject>PptxGenJS Presentation</dc:subject>
  <dc:creator>pptxmotions</dc:creator>
  <cp:lastModifiedBy>pptxmotions</cp:lastModifiedBy>
  <cp:revision>1</cp:revision>
  <dcterms:created xsi:type="dcterms:W3CDTF">2026-06-16T12:38:14Z</dcterms:created>
  <dcterms:modified xsi:type="dcterms:W3CDTF">2026-06-16T12:38:14Z</dcterms:modified>
</cp:coreProperties>
</file>